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7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sldSz cx="18288000" cy="10287000"/>
  <p:notesSz cx="6858000" cy="9144000"/>
  <p:embeddedFontLst>
    <p:embeddedFont>
      <p:font typeface="Bernoru" panose="020B0604020202020204" charset="0"/>
      <p:regular r:id="rId45"/>
    </p:embeddedFont>
    <p:embeddedFont>
      <p:font typeface="Canva Sans" panose="020B0604020202020204" charset="0"/>
      <p:regular r:id="rId46"/>
    </p:embeddedFont>
    <p:embeddedFont>
      <p:font typeface="Canva Sans Bold" panose="020B0604020202020204" charset="0"/>
      <p:regular r:id="rId47"/>
    </p:embeddedFont>
    <p:embeddedFont>
      <p:font typeface="Cooper BT Bold" panose="020B0604020202020204" charset="0"/>
      <p:regular r:id="rId48"/>
    </p:embeddedFont>
    <p:embeddedFont>
      <p:font typeface="Cooper BT Light" panose="020B0604020202020204" charset="0"/>
      <p:regular r:id="rId49"/>
    </p:embeddedFont>
    <p:embeddedFont>
      <p:font typeface="Flatory Sans" panose="020B0604020202020204" charset="-34"/>
      <p:regular r:id="rId50"/>
    </p:embeddedFont>
    <p:embeddedFont>
      <p:font typeface="Kollektif" panose="020B0604020202020204" charset="0"/>
      <p:regular r:id="rId51"/>
    </p:embeddedFont>
    <p:embeddedFont>
      <p:font typeface="Kollektif Bold" panose="020B0604020202020204" charset="0"/>
      <p:regular r:id="rId52"/>
    </p:embeddedFont>
    <p:embeddedFont>
      <p:font typeface="League Spartan" panose="020B0604020202020204" charset="0"/>
      <p:regular r:id="rId5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1" d="100"/>
          <a:sy n="51" d="100"/>
        </p:scale>
        <p:origin x="571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font" Target="fonts/font3.fntdata"/><Relationship Id="rId50" Type="http://schemas.openxmlformats.org/officeDocument/2006/relationships/font" Target="fonts/font6.fntdata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1.fntdata"/><Relationship Id="rId53" Type="http://schemas.openxmlformats.org/officeDocument/2006/relationships/font" Target="fonts/font9.fntdata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font" Target="fonts/font4.fntdata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font" Target="fonts/font7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2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5.fntdata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8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10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4.svg"/><Relationship Id="rId7" Type="http://schemas.openxmlformats.org/officeDocument/2006/relationships/image" Target="../media/image13.png"/><Relationship Id="rId12" Type="http://schemas.openxmlformats.org/officeDocument/2006/relationships/image" Target="../media/image1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7.png"/><Relationship Id="rId5" Type="http://schemas.openxmlformats.org/officeDocument/2006/relationships/image" Target="../media/image2.svg"/><Relationship Id="rId10" Type="http://schemas.openxmlformats.org/officeDocument/2006/relationships/image" Target="../media/image16.png"/><Relationship Id="rId4" Type="http://schemas.openxmlformats.org/officeDocument/2006/relationships/image" Target="../media/image1.png"/><Relationship Id="rId9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4.svg"/><Relationship Id="rId7" Type="http://schemas.openxmlformats.org/officeDocument/2006/relationships/image" Target="../media/image1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4.svg"/><Relationship Id="rId7" Type="http://schemas.openxmlformats.org/officeDocument/2006/relationships/image" Target="../media/image1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2.svg"/><Relationship Id="rId4" Type="http://schemas.openxmlformats.org/officeDocument/2006/relationships/image" Target="../media/image1.png"/><Relationship Id="rId9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4.svg"/><Relationship Id="rId7" Type="http://schemas.openxmlformats.org/officeDocument/2006/relationships/image" Target="../media/image1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2.svg"/><Relationship Id="rId4" Type="http://schemas.openxmlformats.org/officeDocument/2006/relationships/image" Target="../media/image1.png"/><Relationship Id="rId9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2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4.svg"/><Relationship Id="rId7" Type="http://schemas.openxmlformats.org/officeDocument/2006/relationships/image" Target="../media/image15.png"/><Relationship Id="rId12" Type="http://schemas.openxmlformats.org/officeDocument/2006/relationships/image" Target="../media/image2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28.png"/><Relationship Id="rId5" Type="http://schemas.openxmlformats.org/officeDocument/2006/relationships/image" Target="../media/image2.svg"/><Relationship Id="rId10" Type="http://schemas.openxmlformats.org/officeDocument/2006/relationships/image" Target="../media/image27.png"/><Relationship Id="rId4" Type="http://schemas.openxmlformats.org/officeDocument/2006/relationships/image" Target="../media/image1.png"/><Relationship Id="rId9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4.svg"/><Relationship Id="rId7" Type="http://schemas.openxmlformats.org/officeDocument/2006/relationships/image" Target="../media/image1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2.svg"/><Relationship Id="rId4" Type="http://schemas.openxmlformats.org/officeDocument/2006/relationships/image" Target="../media/image1.png"/><Relationship Id="rId9" Type="http://schemas.openxmlformats.org/officeDocument/2006/relationships/image" Target="../media/image3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8.svg"/><Relationship Id="rId7" Type="http://schemas.openxmlformats.org/officeDocument/2006/relationships/image" Target="../media/image3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33.svg"/><Relationship Id="rId4" Type="http://schemas.openxmlformats.org/officeDocument/2006/relationships/image" Target="../media/image3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13" Type="http://schemas.openxmlformats.org/officeDocument/2006/relationships/image" Target="../media/image42.png"/><Relationship Id="rId3" Type="http://schemas.openxmlformats.org/officeDocument/2006/relationships/image" Target="../media/image8.svg"/><Relationship Id="rId7" Type="http://schemas.openxmlformats.org/officeDocument/2006/relationships/image" Target="../media/image36.png"/><Relationship Id="rId12" Type="http://schemas.openxmlformats.org/officeDocument/2006/relationships/image" Target="../media/image4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40.svg"/><Relationship Id="rId5" Type="http://schemas.openxmlformats.org/officeDocument/2006/relationships/image" Target="../media/image33.svg"/><Relationship Id="rId15" Type="http://schemas.openxmlformats.org/officeDocument/2006/relationships/image" Target="../media/image44.png"/><Relationship Id="rId10" Type="http://schemas.openxmlformats.org/officeDocument/2006/relationships/image" Target="../media/image39.png"/><Relationship Id="rId4" Type="http://schemas.openxmlformats.org/officeDocument/2006/relationships/image" Target="../media/image32.png"/><Relationship Id="rId9" Type="http://schemas.openxmlformats.org/officeDocument/2006/relationships/image" Target="../media/image38.png"/><Relationship Id="rId14" Type="http://schemas.openxmlformats.org/officeDocument/2006/relationships/image" Target="../media/image43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8.svg"/><Relationship Id="rId7" Type="http://schemas.openxmlformats.org/officeDocument/2006/relationships/image" Target="../media/image4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33.svg"/><Relationship Id="rId4" Type="http://schemas.openxmlformats.org/officeDocument/2006/relationships/image" Target="../media/image32.png"/><Relationship Id="rId9" Type="http://schemas.openxmlformats.org/officeDocument/2006/relationships/image" Target="../media/image47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0.svg"/><Relationship Id="rId13" Type="http://schemas.openxmlformats.org/officeDocument/2006/relationships/image" Target="../media/image52.png"/><Relationship Id="rId3" Type="http://schemas.openxmlformats.org/officeDocument/2006/relationships/image" Target="../media/image8.svg"/><Relationship Id="rId7" Type="http://schemas.openxmlformats.org/officeDocument/2006/relationships/image" Target="../media/image39.png"/><Relationship Id="rId12" Type="http://schemas.openxmlformats.org/officeDocument/2006/relationships/image" Target="../media/image5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50.png"/><Relationship Id="rId5" Type="http://schemas.openxmlformats.org/officeDocument/2006/relationships/image" Target="../media/image33.svg"/><Relationship Id="rId10" Type="http://schemas.openxmlformats.org/officeDocument/2006/relationships/image" Target="../media/image49.png"/><Relationship Id="rId4" Type="http://schemas.openxmlformats.org/officeDocument/2006/relationships/image" Target="../media/image32.png"/><Relationship Id="rId9" Type="http://schemas.openxmlformats.org/officeDocument/2006/relationships/image" Target="../media/image4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5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8.sv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33.svg"/><Relationship Id="rId4" Type="http://schemas.openxmlformats.org/officeDocument/2006/relationships/image" Target="../media/image3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5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33.svg"/><Relationship Id="rId4" Type="http://schemas.openxmlformats.org/officeDocument/2006/relationships/image" Target="../media/image32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8.svg"/><Relationship Id="rId7" Type="http://schemas.openxmlformats.org/officeDocument/2006/relationships/image" Target="../media/image5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33.svg"/><Relationship Id="rId4" Type="http://schemas.openxmlformats.org/officeDocument/2006/relationships/image" Target="../media/image32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7.png"/><Relationship Id="rId7" Type="http://schemas.openxmlformats.org/officeDocument/2006/relationships/image" Target="../media/image5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svg"/><Relationship Id="rId5" Type="http://schemas.openxmlformats.org/officeDocument/2006/relationships/image" Target="../media/image32.png"/><Relationship Id="rId4" Type="http://schemas.openxmlformats.org/officeDocument/2006/relationships/image" Target="../media/image8.sv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5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33.svg"/><Relationship Id="rId4" Type="http://schemas.openxmlformats.org/officeDocument/2006/relationships/image" Target="../media/image3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6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33.svg"/><Relationship Id="rId4" Type="http://schemas.openxmlformats.org/officeDocument/2006/relationships/image" Target="../media/image3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6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33.svg"/><Relationship Id="rId4" Type="http://schemas.openxmlformats.org/officeDocument/2006/relationships/image" Target="../media/image3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6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33.svg"/><Relationship Id="rId4" Type="http://schemas.openxmlformats.org/officeDocument/2006/relationships/image" Target="../media/image3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6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33.svg"/><Relationship Id="rId4" Type="http://schemas.openxmlformats.org/officeDocument/2006/relationships/image" Target="../media/image32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64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33.svg"/><Relationship Id="rId4" Type="http://schemas.openxmlformats.org/officeDocument/2006/relationships/image" Target="../media/image3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6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33.svg"/><Relationship Id="rId4" Type="http://schemas.openxmlformats.org/officeDocument/2006/relationships/image" Target="../media/image32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7.png"/><Relationship Id="rId13" Type="http://schemas.openxmlformats.org/officeDocument/2006/relationships/image" Target="../media/image72.png"/><Relationship Id="rId3" Type="http://schemas.openxmlformats.org/officeDocument/2006/relationships/image" Target="../media/image8.svg"/><Relationship Id="rId7" Type="http://schemas.openxmlformats.org/officeDocument/2006/relationships/image" Target="../media/image66.png"/><Relationship Id="rId12" Type="http://schemas.openxmlformats.org/officeDocument/2006/relationships/image" Target="../media/image7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70.png"/><Relationship Id="rId5" Type="http://schemas.openxmlformats.org/officeDocument/2006/relationships/image" Target="../media/image33.svg"/><Relationship Id="rId10" Type="http://schemas.openxmlformats.org/officeDocument/2006/relationships/image" Target="../media/image69.png"/><Relationship Id="rId4" Type="http://schemas.openxmlformats.org/officeDocument/2006/relationships/image" Target="../media/image32.png"/><Relationship Id="rId9" Type="http://schemas.openxmlformats.org/officeDocument/2006/relationships/image" Target="../media/image6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6.png"/><Relationship Id="rId13" Type="http://schemas.openxmlformats.org/officeDocument/2006/relationships/image" Target="../media/image81.png"/><Relationship Id="rId3" Type="http://schemas.openxmlformats.org/officeDocument/2006/relationships/image" Target="../media/image8.svg"/><Relationship Id="rId7" Type="http://schemas.openxmlformats.org/officeDocument/2006/relationships/image" Target="../media/image75.png"/><Relationship Id="rId12" Type="http://schemas.openxmlformats.org/officeDocument/2006/relationships/image" Target="../media/image8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79.png"/><Relationship Id="rId5" Type="http://schemas.openxmlformats.org/officeDocument/2006/relationships/image" Target="../media/image33.svg"/><Relationship Id="rId10" Type="http://schemas.openxmlformats.org/officeDocument/2006/relationships/image" Target="../media/image78.png"/><Relationship Id="rId4" Type="http://schemas.openxmlformats.org/officeDocument/2006/relationships/image" Target="../media/image32.png"/><Relationship Id="rId9" Type="http://schemas.openxmlformats.org/officeDocument/2006/relationships/image" Target="../media/image77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85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4.jpeg"/><Relationship Id="rId5" Type="http://schemas.openxmlformats.org/officeDocument/2006/relationships/image" Target="../media/image83.png"/><Relationship Id="rId4" Type="http://schemas.openxmlformats.org/officeDocument/2006/relationships/image" Target="../media/image82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svg"/><Relationship Id="rId7" Type="http://schemas.openxmlformats.org/officeDocument/2006/relationships/image" Target="../media/image8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0.png"/><Relationship Id="rId5" Type="http://schemas.openxmlformats.org/officeDocument/2006/relationships/image" Target="../media/image81.png"/><Relationship Id="rId4" Type="http://schemas.openxmlformats.org/officeDocument/2006/relationships/image" Target="../media/image86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9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0.png"/><Relationship Id="rId5" Type="http://schemas.openxmlformats.org/officeDocument/2006/relationships/image" Target="../media/image89.png"/><Relationship Id="rId4" Type="http://schemas.openxmlformats.org/officeDocument/2006/relationships/image" Target="../media/image88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3.png"/><Relationship Id="rId5" Type="http://schemas.openxmlformats.org/officeDocument/2006/relationships/image" Target="../media/image5.png"/><Relationship Id="rId4" Type="http://schemas.openxmlformats.org/officeDocument/2006/relationships/image" Target="../media/image92.jpe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5.png"/><Relationship Id="rId4" Type="http://schemas.openxmlformats.org/officeDocument/2006/relationships/image" Target="../media/image94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7.png"/><Relationship Id="rId4" Type="http://schemas.openxmlformats.org/officeDocument/2006/relationships/image" Target="../media/image2.sv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sv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 flipV="1">
            <a:off x="8996924" y="-1810932"/>
            <a:ext cx="11205779" cy="10911627"/>
          </a:xfrm>
          <a:custGeom>
            <a:avLst/>
            <a:gdLst/>
            <a:ahLst/>
            <a:cxnLst/>
            <a:rect l="l" t="t" r="r" b="b"/>
            <a:pathLst>
              <a:path w="11205779" h="10911627">
                <a:moveTo>
                  <a:pt x="0" y="10911627"/>
                </a:moveTo>
                <a:lnTo>
                  <a:pt x="11205779" y="10911627"/>
                </a:lnTo>
                <a:lnTo>
                  <a:pt x="11205779" y="0"/>
                </a:lnTo>
                <a:lnTo>
                  <a:pt x="0" y="0"/>
                </a:lnTo>
                <a:lnTo>
                  <a:pt x="0" y="10911627"/>
                </a:lnTo>
                <a:close/>
              </a:path>
            </a:pathLst>
          </a:custGeom>
          <a:blipFill>
            <a:blip r:embed="rId2">
              <a:alphaModFix amt="6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 rot="425876">
            <a:off x="7248318" y="8786475"/>
            <a:ext cx="12022786" cy="2391367"/>
            <a:chOff x="0" y="0"/>
            <a:chExt cx="3166495" cy="629825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166495" cy="629825"/>
            </a:xfrm>
            <a:custGeom>
              <a:avLst/>
              <a:gdLst/>
              <a:ahLst/>
              <a:cxnLst/>
              <a:rect l="l" t="t" r="r" b="b"/>
              <a:pathLst>
                <a:path w="3166495" h="629825">
                  <a:moveTo>
                    <a:pt x="0" y="0"/>
                  </a:moveTo>
                  <a:lnTo>
                    <a:pt x="3166495" y="0"/>
                  </a:lnTo>
                  <a:lnTo>
                    <a:pt x="3166495" y="629825"/>
                  </a:lnTo>
                  <a:lnTo>
                    <a:pt x="0" y="629825"/>
                  </a:lnTo>
                  <a:close/>
                </a:path>
              </a:pathLst>
            </a:custGeom>
            <a:solidFill>
              <a:srgbClr val="497183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3166495" cy="677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-6041030" y="-3511210"/>
            <a:ext cx="16556280" cy="20829392"/>
            <a:chOff x="0" y="0"/>
            <a:chExt cx="22075040" cy="27772523"/>
          </a:xfrm>
        </p:grpSpPr>
        <p:grpSp>
          <p:nvGrpSpPr>
            <p:cNvPr id="7" name="Group 7"/>
            <p:cNvGrpSpPr/>
            <p:nvPr/>
          </p:nvGrpSpPr>
          <p:grpSpPr>
            <a:xfrm rot="-1803481">
              <a:off x="5823471" y="859777"/>
              <a:ext cx="10428099" cy="26052970"/>
              <a:chOff x="0" y="0"/>
              <a:chExt cx="2059871" cy="5146266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0" y="0"/>
                <a:ext cx="2059872" cy="5146266"/>
              </a:xfrm>
              <a:custGeom>
                <a:avLst/>
                <a:gdLst/>
                <a:ahLst/>
                <a:cxnLst/>
                <a:rect l="l" t="t" r="r" b="b"/>
                <a:pathLst>
                  <a:path w="2059872" h="5146266">
                    <a:moveTo>
                      <a:pt x="0" y="0"/>
                    </a:moveTo>
                    <a:lnTo>
                      <a:pt x="2059872" y="0"/>
                    </a:lnTo>
                    <a:lnTo>
                      <a:pt x="2059872" y="5146266"/>
                    </a:lnTo>
                    <a:lnTo>
                      <a:pt x="0" y="5146266"/>
                    </a:lnTo>
                    <a:close/>
                  </a:path>
                </a:pathLst>
              </a:custGeom>
              <a:solidFill>
                <a:srgbClr val="0B1320"/>
              </a:solidFill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0" y="-47625"/>
                <a:ext cx="2059871" cy="519389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0" name="Freeform 10"/>
            <p:cNvSpPr/>
            <p:nvPr/>
          </p:nvSpPr>
          <p:spPr>
            <a:xfrm rot="5289240" flipH="1">
              <a:off x="3807764" y="3293076"/>
              <a:ext cx="8874931" cy="7011195"/>
            </a:xfrm>
            <a:custGeom>
              <a:avLst/>
              <a:gdLst/>
              <a:ahLst/>
              <a:cxnLst/>
              <a:rect l="l" t="t" r="r" b="b"/>
              <a:pathLst>
                <a:path w="8874931" h="7011195">
                  <a:moveTo>
                    <a:pt x="8874931" y="0"/>
                  </a:moveTo>
                  <a:lnTo>
                    <a:pt x="0" y="0"/>
                  </a:lnTo>
                  <a:lnTo>
                    <a:pt x="0" y="7011195"/>
                  </a:lnTo>
                  <a:lnTo>
                    <a:pt x="8874931" y="7011195"/>
                  </a:lnTo>
                  <a:lnTo>
                    <a:pt x="8874931" y="0"/>
                  </a:lnTo>
                  <a:close/>
                </a:path>
              </a:pathLst>
            </a:custGeom>
            <a:blipFill>
              <a:blip r:embed="rId4">
                <a:alphaModFix amt="35000"/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11" name="TextBox 11"/>
          <p:cNvSpPr txBox="1"/>
          <p:nvPr/>
        </p:nvSpPr>
        <p:spPr>
          <a:xfrm>
            <a:off x="4982730" y="1765776"/>
            <a:ext cx="12733730" cy="30245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6020"/>
              </a:lnSpc>
            </a:pPr>
            <a:r>
              <a:rPr lang="en-US" sz="4300" b="1">
                <a:solidFill>
                  <a:srgbClr val="0B132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Comparative Analysis and Performance Evaluation of a Two-Wheeled Self-Balancing Robot Using P, PI, and PID Controllers Tuned By Metaheuristic Algorithms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1197511" y="561023"/>
            <a:ext cx="6518949" cy="863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7000"/>
              </a:lnSpc>
            </a:pPr>
            <a:r>
              <a:rPr lang="en-US" sz="5000" b="1" spc="345">
                <a:solidFill>
                  <a:srgbClr val="1C3F60"/>
                </a:solidFill>
                <a:latin typeface="Kollektif Bold"/>
                <a:ea typeface="Kollektif Bold"/>
                <a:cs typeface="Kollektif Bold"/>
                <a:sym typeface="Kollektif Bold"/>
              </a:rPr>
              <a:t>Presentation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028700" y="4752078"/>
            <a:ext cx="6949850" cy="1688019"/>
            <a:chOff x="0" y="0"/>
            <a:chExt cx="9266466" cy="2250691"/>
          </a:xfrm>
        </p:grpSpPr>
        <p:sp>
          <p:nvSpPr>
            <p:cNvPr id="14" name="TextBox 14"/>
            <p:cNvSpPr txBox="1"/>
            <p:nvPr/>
          </p:nvSpPr>
          <p:spPr>
            <a:xfrm>
              <a:off x="0" y="-152400"/>
              <a:ext cx="7402282" cy="152243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9514"/>
                </a:lnSpc>
              </a:pPr>
              <a:r>
                <a:rPr lang="en-US" sz="6796">
                  <a:solidFill>
                    <a:srgbClr val="F3F6FA"/>
                  </a:solidFill>
                  <a:latin typeface="Kollektif"/>
                  <a:ea typeface="Kollektif"/>
                  <a:cs typeface="Kollektif"/>
                  <a:sym typeface="Kollektif"/>
                </a:rPr>
                <a:t>ME 461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1285068"/>
              <a:ext cx="9266466" cy="9656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020"/>
                </a:lnSpc>
              </a:pPr>
              <a:r>
                <a:rPr lang="en-US" sz="4300">
                  <a:solidFill>
                    <a:srgbClr val="F3F6FA"/>
                  </a:solidFill>
                  <a:latin typeface="Kollektif"/>
                  <a:ea typeface="Kollektif"/>
                  <a:cs typeface="Kollektif"/>
                  <a:sym typeface="Kollektif"/>
                </a:rPr>
                <a:t>Control Engineering</a:t>
              </a:r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028700" y="6817761"/>
            <a:ext cx="6117941" cy="1235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00"/>
              </a:lnSpc>
            </a:pPr>
            <a:r>
              <a:rPr lang="en-US" sz="3500">
                <a:solidFill>
                  <a:srgbClr val="FFFFFF"/>
                </a:solidFill>
                <a:latin typeface="Kollektif"/>
                <a:ea typeface="Kollektif"/>
                <a:cs typeface="Kollektif"/>
                <a:sym typeface="Kollektif"/>
              </a:rPr>
              <a:t>Bangladesh University of Engineering and Technology</a:t>
            </a:r>
          </a:p>
        </p:txBody>
      </p:sp>
      <p:sp>
        <p:nvSpPr>
          <p:cNvPr id="17" name="AutoShape 17"/>
          <p:cNvSpPr/>
          <p:nvPr/>
        </p:nvSpPr>
        <p:spPr>
          <a:xfrm rot="-7200000">
            <a:off x="5919627" y="8708126"/>
            <a:ext cx="3877602" cy="0"/>
          </a:xfrm>
          <a:prstGeom prst="line">
            <a:avLst/>
          </a:prstGeom>
          <a:ln w="38100" cap="flat">
            <a:solidFill>
              <a:srgbClr val="F3F6FA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8" name="Group 18"/>
          <p:cNvGrpSpPr/>
          <p:nvPr/>
        </p:nvGrpSpPr>
        <p:grpSpPr>
          <a:xfrm>
            <a:off x="9894310" y="5143500"/>
            <a:ext cx="7822150" cy="3394765"/>
            <a:chOff x="0" y="0"/>
            <a:chExt cx="10429534" cy="4526353"/>
          </a:xfrm>
        </p:grpSpPr>
        <p:sp>
          <p:nvSpPr>
            <p:cNvPr id="19" name="TextBox 19"/>
            <p:cNvSpPr txBox="1"/>
            <p:nvPr/>
          </p:nvSpPr>
          <p:spPr>
            <a:xfrm>
              <a:off x="1737602" y="-104775"/>
              <a:ext cx="8691932" cy="111654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7000"/>
                </a:lnSpc>
              </a:pPr>
              <a:r>
                <a:rPr lang="en-US" sz="5000" b="1" spc="345">
                  <a:solidFill>
                    <a:srgbClr val="1C3F60"/>
                  </a:solidFill>
                  <a:latin typeface="Kollektif Bold"/>
                  <a:ea typeface="Kollektif Bold"/>
                  <a:cs typeface="Kollektif Bold"/>
                  <a:sym typeface="Kollektif Bold"/>
                </a:rPr>
                <a:t>Presenters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945092"/>
              <a:ext cx="10429534" cy="3581262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r">
                <a:lnSpc>
                  <a:spcPts val="4336"/>
                </a:lnSpc>
                <a:spcBef>
                  <a:spcPct val="0"/>
                </a:spcBef>
              </a:pPr>
              <a:r>
                <a:rPr lang="en-US" sz="3097">
                  <a:solidFill>
                    <a:srgbClr val="000000"/>
                  </a:solidFill>
                  <a:latin typeface="Kollektif"/>
                  <a:ea typeface="Kollektif"/>
                  <a:cs typeface="Kollektif"/>
                  <a:sym typeface="Kollektif"/>
                </a:rPr>
                <a:t>S. M. Hasibur Rahman (2010025)</a:t>
              </a:r>
            </a:p>
            <a:p>
              <a:pPr algn="r">
                <a:lnSpc>
                  <a:spcPts val="4336"/>
                </a:lnSpc>
                <a:spcBef>
                  <a:spcPct val="0"/>
                </a:spcBef>
              </a:pPr>
              <a:r>
                <a:rPr lang="en-US" sz="3097">
                  <a:solidFill>
                    <a:srgbClr val="000000"/>
                  </a:solidFill>
                  <a:latin typeface="Kollektif"/>
                  <a:ea typeface="Kollektif"/>
                  <a:cs typeface="Kollektif"/>
                  <a:sym typeface="Kollektif"/>
                </a:rPr>
                <a:t>Mostafijur Rahaman (2010101)</a:t>
              </a:r>
            </a:p>
            <a:p>
              <a:pPr algn="r">
                <a:lnSpc>
                  <a:spcPts val="4336"/>
                </a:lnSpc>
                <a:spcBef>
                  <a:spcPct val="0"/>
                </a:spcBef>
              </a:pPr>
              <a:r>
                <a:rPr lang="en-US" sz="3097">
                  <a:solidFill>
                    <a:srgbClr val="000000"/>
                  </a:solidFill>
                  <a:latin typeface="Kollektif"/>
                  <a:ea typeface="Kollektif"/>
                  <a:cs typeface="Kollektif"/>
                  <a:sym typeface="Kollektif"/>
                </a:rPr>
                <a:t>Kazi Md. Zareer (2010119)</a:t>
              </a:r>
            </a:p>
            <a:p>
              <a:pPr algn="r">
                <a:lnSpc>
                  <a:spcPts val="4336"/>
                </a:lnSpc>
                <a:spcBef>
                  <a:spcPct val="0"/>
                </a:spcBef>
              </a:pPr>
              <a:r>
                <a:rPr lang="en-US" sz="3097">
                  <a:solidFill>
                    <a:srgbClr val="000000"/>
                  </a:solidFill>
                  <a:latin typeface="Kollektif"/>
                  <a:ea typeface="Kollektif"/>
                  <a:cs typeface="Kollektif"/>
                  <a:sym typeface="Kollektif"/>
                </a:rPr>
                <a:t>Md. Arman Hassan (2010155)</a:t>
              </a:r>
            </a:p>
            <a:p>
              <a:pPr algn="r">
                <a:lnSpc>
                  <a:spcPts val="4336"/>
                </a:lnSpc>
                <a:spcBef>
                  <a:spcPct val="0"/>
                </a:spcBef>
              </a:pPr>
              <a:r>
                <a:rPr lang="en-US" sz="3097">
                  <a:solidFill>
                    <a:srgbClr val="000000"/>
                  </a:solidFill>
                  <a:latin typeface="Kollektif"/>
                  <a:ea typeface="Kollektif"/>
                  <a:cs typeface="Kollektif"/>
                  <a:sym typeface="Kollektif"/>
                </a:rPr>
                <a:t>Tanzimur Rahman (2010168)</a:t>
              </a:r>
            </a:p>
          </p:txBody>
        </p:sp>
      </p:grpSp>
      <p:sp>
        <p:nvSpPr>
          <p:cNvPr id="21" name="TextBox 21"/>
          <p:cNvSpPr txBox="1"/>
          <p:nvPr/>
        </p:nvSpPr>
        <p:spPr>
          <a:xfrm>
            <a:off x="7706326" y="6628880"/>
            <a:ext cx="3643269" cy="11113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94"/>
              </a:lnSpc>
            </a:pPr>
            <a:r>
              <a:rPr lang="en-US" sz="6496" b="1">
                <a:solidFill>
                  <a:srgbClr val="000000"/>
                </a:solidFill>
                <a:latin typeface="Kollektif Bold"/>
                <a:ea typeface="Kollektif Bold"/>
                <a:cs typeface="Kollektif Bold"/>
                <a:sym typeface="Kollektif Bold"/>
              </a:rPr>
              <a:t>Group-05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44402" y="3234502"/>
            <a:ext cx="4968966" cy="7480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20"/>
              </a:lnSpc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 flipH="1">
            <a:off x="-2623119" y="-2629198"/>
            <a:ext cx="6656198" cy="5258396"/>
          </a:xfrm>
          <a:custGeom>
            <a:avLst/>
            <a:gdLst/>
            <a:ahLst/>
            <a:cxnLst/>
            <a:rect l="l" t="t" r="r" b="b"/>
            <a:pathLst>
              <a:path w="6656198" h="5258396">
                <a:moveTo>
                  <a:pt x="6656198" y="0"/>
                </a:moveTo>
                <a:lnTo>
                  <a:pt x="0" y="0"/>
                </a:lnTo>
                <a:lnTo>
                  <a:pt x="0" y="5258396"/>
                </a:lnTo>
                <a:lnTo>
                  <a:pt x="6656198" y="5258396"/>
                </a:lnTo>
                <a:lnTo>
                  <a:pt x="6656198" y="0"/>
                </a:lnTo>
                <a:close/>
              </a:path>
            </a:pathLst>
          </a:custGeom>
          <a:blipFill>
            <a:blip r:embed="rId2">
              <a:alphaModFix amt="2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 rot="-6078968">
            <a:off x="7178993" y="5215803"/>
            <a:ext cx="1786066" cy="9943550"/>
            <a:chOff x="0" y="0"/>
            <a:chExt cx="470404" cy="261887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70404" cy="2618877"/>
            </a:xfrm>
            <a:custGeom>
              <a:avLst/>
              <a:gdLst/>
              <a:ahLst/>
              <a:cxnLst/>
              <a:rect l="l" t="t" r="r" b="b"/>
              <a:pathLst>
                <a:path w="470404" h="2618877">
                  <a:moveTo>
                    <a:pt x="0" y="0"/>
                  </a:moveTo>
                  <a:lnTo>
                    <a:pt x="470404" y="0"/>
                  </a:lnTo>
                  <a:lnTo>
                    <a:pt x="470404" y="2618877"/>
                  </a:lnTo>
                  <a:lnTo>
                    <a:pt x="0" y="2618877"/>
                  </a:lnTo>
                  <a:close/>
                </a:path>
              </a:pathLst>
            </a:custGeom>
            <a:solidFill>
              <a:srgbClr val="497183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70404" cy="26665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-2655168">
            <a:off x="10241031" y="2517303"/>
            <a:ext cx="15424018" cy="7023258"/>
            <a:chOff x="0" y="0"/>
            <a:chExt cx="4062293" cy="184974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062293" cy="1849747"/>
            </a:xfrm>
            <a:custGeom>
              <a:avLst/>
              <a:gdLst/>
              <a:ahLst/>
              <a:cxnLst/>
              <a:rect l="l" t="t" r="r" b="b"/>
              <a:pathLst>
                <a:path w="4062293" h="1849747">
                  <a:moveTo>
                    <a:pt x="0" y="0"/>
                  </a:moveTo>
                  <a:lnTo>
                    <a:pt x="4062293" y="0"/>
                  </a:lnTo>
                  <a:lnTo>
                    <a:pt x="4062293" y="1849747"/>
                  </a:lnTo>
                  <a:lnTo>
                    <a:pt x="0" y="1849747"/>
                  </a:lnTo>
                  <a:close/>
                </a:path>
              </a:pathLst>
            </a:custGeom>
            <a:solidFill>
              <a:srgbClr val="0B1320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4062293" cy="18973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 rot="5400000" flipV="1">
            <a:off x="8259222" y="-2127715"/>
            <a:ext cx="11205779" cy="10911627"/>
          </a:xfrm>
          <a:custGeom>
            <a:avLst/>
            <a:gdLst/>
            <a:ahLst/>
            <a:cxnLst/>
            <a:rect l="l" t="t" r="r" b="b"/>
            <a:pathLst>
              <a:path w="11205779" h="10911627">
                <a:moveTo>
                  <a:pt x="0" y="10911628"/>
                </a:moveTo>
                <a:lnTo>
                  <a:pt x="11205779" y="10911628"/>
                </a:lnTo>
                <a:lnTo>
                  <a:pt x="11205779" y="0"/>
                </a:lnTo>
                <a:lnTo>
                  <a:pt x="0" y="0"/>
                </a:lnTo>
                <a:lnTo>
                  <a:pt x="0" y="10911628"/>
                </a:lnTo>
                <a:close/>
              </a:path>
            </a:pathLst>
          </a:custGeom>
          <a:blipFill>
            <a:blip r:embed="rId4">
              <a:alphaModFix amt="65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AutoShape 10"/>
          <p:cNvSpPr/>
          <p:nvPr/>
        </p:nvSpPr>
        <p:spPr>
          <a:xfrm rot="-10402021">
            <a:off x="8874479" y="9297528"/>
            <a:ext cx="9975266" cy="0"/>
          </a:xfrm>
          <a:prstGeom prst="line">
            <a:avLst/>
          </a:prstGeom>
          <a:ln w="38100" cap="flat">
            <a:solidFill>
              <a:srgbClr val="F3F6F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Freeform 11"/>
          <p:cNvSpPr/>
          <p:nvPr/>
        </p:nvSpPr>
        <p:spPr>
          <a:xfrm>
            <a:off x="16774842" y="0"/>
            <a:ext cx="1513158" cy="1513158"/>
          </a:xfrm>
          <a:custGeom>
            <a:avLst/>
            <a:gdLst/>
            <a:ahLst/>
            <a:cxnLst/>
            <a:rect l="l" t="t" r="r" b="b"/>
            <a:pathLst>
              <a:path w="1513158" h="1513158">
                <a:moveTo>
                  <a:pt x="0" y="0"/>
                </a:moveTo>
                <a:lnTo>
                  <a:pt x="1513158" y="0"/>
                </a:lnTo>
                <a:lnTo>
                  <a:pt x="1513158" y="1513158"/>
                </a:lnTo>
                <a:lnTo>
                  <a:pt x="0" y="151315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6784125" y="2130553"/>
            <a:ext cx="14048984" cy="8165972"/>
          </a:xfrm>
          <a:custGeom>
            <a:avLst/>
            <a:gdLst/>
            <a:ahLst/>
            <a:cxnLst/>
            <a:rect l="l" t="t" r="r" b="b"/>
            <a:pathLst>
              <a:path w="14048984" h="8165972">
                <a:moveTo>
                  <a:pt x="0" y="0"/>
                </a:moveTo>
                <a:lnTo>
                  <a:pt x="14048984" y="0"/>
                </a:lnTo>
                <a:lnTo>
                  <a:pt x="14048984" y="8165972"/>
                </a:lnTo>
                <a:lnTo>
                  <a:pt x="0" y="816597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028700" y="1214330"/>
            <a:ext cx="7237570" cy="14099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536"/>
              </a:lnSpc>
            </a:pPr>
            <a:r>
              <a:rPr lang="en-US" sz="8240" b="1">
                <a:solidFill>
                  <a:srgbClr val="0B132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Introduction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020538" y="194604"/>
            <a:ext cx="4754303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Kollektif"/>
                <a:ea typeface="Kollektif"/>
                <a:cs typeface="Kollektif"/>
                <a:sym typeface="Kollektif"/>
              </a:rPr>
              <a:t>Bangladesh University of Engineering and Technology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464734" y="9763125"/>
            <a:ext cx="4823266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Kollektif"/>
                <a:ea typeface="Kollektif"/>
                <a:cs typeface="Kollektif"/>
                <a:sym typeface="Kollektif"/>
              </a:rPr>
              <a:t>ME461: Control Engineering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28700" y="5481066"/>
            <a:ext cx="7237570" cy="26231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465"/>
              </a:lnSpc>
            </a:pPr>
            <a:r>
              <a:rPr lang="en-US" sz="2475" b="1">
                <a:solidFill>
                  <a:srgbClr val="000000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1. A dynamically unstable mobile system modeled as an inverted pendulum on wheels.</a:t>
            </a:r>
          </a:p>
          <a:p>
            <a:pPr algn="just">
              <a:lnSpc>
                <a:spcPts val="3465"/>
              </a:lnSpc>
            </a:pPr>
            <a:endParaRPr lang="en-US" sz="2475" b="1">
              <a:solidFill>
                <a:srgbClr val="000000"/>
              </a:solidFill>
              <a:latin typeface="Cooper BT Bold"/>
              <a:ea typeface="Cooper BT Bold"/>
              <a:cs typeface="Cooper BT Bold"/>
              <a:sym typeface="Cooper BT Bold"/>
            </a:endParaRPr>
          </a:p>
          <a:p>
            <a:pPr algn="just">
              <a:lnSpc>
                <a:spcPts val="3465"/>
              </a:lnSpc>
              <a:spcBef>
                <a:spcPct val="0"/>
              </a:spcBef>
            </a:pPr>
            <a:r>
              <a:rPr lang="en-US" sz="2475" b="1">
                <a:solidFill>
                  <a:srgbClr val="000000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2. Requires continuous feedback control to maintain balance and follow commands.</a:t>
            </a:r>
          </a:p>
          <a:p>
            <a:pPr algn="just">
              <a:lnSpc>
                <a:spcPts val="3465"/>
              </a:lnSpc>
              <a:spcBef>
                <a:spcPct val="0"/>
              </a:spcBef>
            </a:pPr>
            <a:endParaRPr lang="en-US" sz="2475" b="1">
              <a:solidFill>
                <a:srgbClr val="000000"/>
              </a:solidFill>
              <a:latin typeface="Cooper BT Bold"/>
              <a:ea typeface="Cooper BT Bold"/>
              <a:cs typeface="Cooper BT Bold"/>
              <a:sym typeface="Cooper BT Bold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1028700" y="3430374"/>
            <a:ext cx="10270324" cy="12255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99"/>
              </a:lnSpc>
              <a:spcBef>
                <a:spcPct val="0"/>
              </a:spcBef>
            </a:pPr>
            <a:r>
              <a:rPr lang="en-US" sz="3499">
                <a:solidFill>
                  <a:srgbClr val="000000"/>
                </a:solidFill>
                <a:latin typeface="Bernoru"/>
                <a:ea typeface="Bernoru"/>
                <a:cs typeface="Bernoru"/>
                <a:sym typeface="Bernoru"/>
              </a:rPr>
              <a:t>What is a two-wheeled self-balancing robot?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592764" y="8516663"/>
            <a:ext cx="19665504" cy="3108808"/>
            <a:chOff x="0" y="0"/>
            <a:chExt cx="5179392" cy="818781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179392" cy="818781"/>
            </a:xfrm>
            <a:custGeom>
              <a:avLst/>
              <a:gdLst/>
              <a:ahLst/>
              <a:cxnLst/>
              <a:rect l="l" t="t" r="r" b="b"/>
              <a:pathLst>
                <a:path w="5179392" h="818781">
                  <a:moveTo>
                    <a:pt x="0" y="0"/>
                  </a:moveTo>
                  <a:lnTo>
                    <a:pt x="5179392" y="0"/>
                  </a:lnTo>
                  <a:lnTo>
                    <a:pt x="5179392" y="818781"/>
                  </a:lnTo>
                  <a:lnTo>
                    <a:pt x="0" y="818781"/>
                  </a:lnTo>
                  <a:close/>
                </a:path>
              </a:pathLst>
            </a:custGeom>
            <a:solidFill>
              <a:srgbClr val="0B132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5179392" cy="8664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-10800000" flipH="1" flipV="1">
            <a:off x="-127394" y="2124356"/>
            <a:ext cx="6989146" cy="11017126"/>
          </a:xfrm>
          <a:custGeom>
            <a:avLst/>
            <a:gdLst/>
            <a:ahLst/>
            <a:cxnLst/>
            <a:rect l="l" t="t" r="r" b="b"/>
            <a:pathLst>
              <a:path w="6989146" h="11017126">
                <a:moveTo>
                  <a:pt x="6989147" y="11017125"/>
                </a:moveTo>
                <a:lnTo>
                  <a:pt x="0" y="11017125"/>
                </a:lnTo>
                <a:lnTo>
                  <a:pt x="0" y="0"/>
                </a:lnTo>
                <a:lnTo>
                  <a:pt x="6989147" y="0"/>
                </a:lnTo>
                <a:lnTo>
                  <a:pt x="6989147" y="11017125"/>
                </a:lnTo>
                <a:close/>
              </a:path>
            </a:pathLst>
          </a:custGeom>
          <a:blipFill>
            <a:blip r:embed="rId2">
              <a:alphaModFix amt="7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r="-61881"/>
            </a:stretch>
          </a:blipFill>
        </p:spPr>
      </p:sp>
      <p:grpSp>
        <p:nvGrpSpPr>
          <p:cNvPr id="6" name="Group 6"/>
          <p:cNvGrpSpPr/>
          <p:nvPr/>
        </p:nvGrpSpPr>
        <p:grpSpPr>
          <a:xfrm rot="-4483572">
            <a:off x="13587807" y="2629084"/>
            <a:ext cx="9271532" cy="3826079"/>
            <a:chOff x="0" y="0"/>
            <a:chExt cx="2441885" cy="100769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441885" cy="1007691"/>
            </a:xfrm>
            <a:custGeom>
              <a:avLst/>
              <a:gdLst/>
              <a:ahLst/>
              <a:cxnLst/>
              <a:rect l="l" t="t" r="r" b="b"/>
              <a:pathLst>
                <a:path w="2441885" h="1007691">
                  <a:moveTo>
                    <a:pt x="0" y="0"/>
                  </a:moveTo>
                  <a:lnTo>
                    <a:pt x="2441885" y="0"/>
                  </a:lnTo>
                  <a:lnTo>
                    <a:pt x="2441885" y="1007691"/>
                  </a:lnTo>
                  <a:lnTo>
                    <a:pt x="0" y="1007691"/>
                  </a:lnTo>
                  <a:close/>
                </a:path>
              </a:pathLst>
            </a:custGeom>
            <a:solidFill>
              <a:srgbClr val="497183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2441885" cy="10553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 rot="-4648650">
            <a:off x="11970985" y="-2053884"/>
            <a:ext cx="4632681" cy="5258396"/>
          </a:xfrm>
          <a:custGeom>
            <a:avLst/>
            <a:gdLst/>
            <a:ahLst/>
            <a:cxnLst/>
            <a:rect l="l" t="t" r="r" b="b"/>
            <a:pathLst>
              <a:path w="4632681" h="5258396">
                <a:moveTo>
                  <a:pt x="0" y="0"/>
                </a:moveTo>
                <a:lnTo>
                  <a:pt x="4632680" y="0"/>
                </a:lnTo>
                <a:lnTo>
                  <a:pt x="4632680" y="5258397"/>
                </a:lnTo>
                <a:lnTo>
                  <a:pt x="0" y="52583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48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r="-43679"/>
            </a:stretch>
          </a:blipFill>
        </p:spPr>
      </p:sp>
      <p:grpSp>
        <p:nvGrpSpPr>
          <p:cNvPr id="10" name="Group 10"/>
          <p:cNvGrpSpPr/>
          <p:nvPr/>
        </p:nvGrpSpPr>
        <p:grpSpPr>
          <a:xfrm>
            <a:off x="630344" y="398400"/>
            <a:ext cx="11310373" cy="1260601"/>
            <a:chOff x="0" y="0"/>
            <a:chExt cx="15080497" cy="1680801"/>
          </a:xfrm>
        </p:grpSpPr>
        <p:sp>
          <p:nvSpPr>
            <p:cNvPr id="11" name="TextBox 11"/>
            <p:cNvSpPr txBox="1"/>
            <p:nvPr/>
          </p:nvSpPr>
          <p:spPr>
            <a:xfrm>
              <a:off x="1500469" y="171450"/>
              <a:ext cx="13580028" cy="150935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8133"/>
                </a:lnSpc>
              </a:pPr>
              <a:r>
                <a:rPr lang="en-US" sz="8299" b="1">
                  <a:solidFill>
                    <a:srgbClr val="0B132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Literature Review</a:t>
              </a:r>
            </a:p>
          </p:txBody>
        </p:sp>
        <p:sp>
          <p:nvSpPr>
            <p:cNvPr id="12" name="Freeform 12"/>
            <p:cNvSpPr/>
            <p:nvPr/>
          </p:nvSpPr>
          <p:spPr>
            <a:xfrm>
              <a:off x="0" y="0"/>
              <a:ext cx="1327693" cy="1680624"/>
            </a:xfrm>
            <a:custGeom>
              <a:avLst/>
              <a:gdLst/>
              <a:ahLst/>
              <a:cxnLst/>
              <a:rect l="l" t="t" r="r" b="b"/>
              <a:pathLst>
                <a:path w="1327693" h="1680624">
                  <a:moveTo>
                    <a:pt x="0" y="0"/>
                  </a:moveTo>
                  <a:lnTo>
                    <a:pt x="1327693" y="0"/>
                  </a:lnTo>
                  <a:lnTo>
                    <a:pt x="1327693" y="1680624"/>
                  </a:lnTo>
                  <a:lnTo>
                    <a:pt x="0" y="168062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</p:grpSp>
      <p:sp>
        <p:nvSpPr>
          <p:cNvPr id="13" name="AutoShape 13"/>
          <p:cNvSpPr/>
          <p:nvPr/>
        </p:nvSpPr>
        <p:spPr>
          <a:xfrm rot="-4499999">
            <a:off x="12637922" y="9427966"/>
            <a:ext cx="4500396" cy="0"/>
          </a:xfrm>
          <a:prstGeom prst="line">
            <a:avLst/>
          </a:prstGeom>
          <a:ln w="38100" cap="flat">
            <a:solidFill>
              <a:srgbClr val="F3F6F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TextBox 15"/>
          <p:cNvSpPr txBox="1"/>
          <p:nvPr/>
        </p:nvSpPr>
        <p:spPr>
          <a:xfrm>
            <a:off x="13464734" y="9763125"/>
            <a:ext cx="4823266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Kollektif"/>
                <a:ea typeface="Kollektif"/>
                <a:cs typeface="Kollektif"/>
                <a:sym typeface="Kollektif"/>
              </a:rPr>
              <a:t>ME461: Control Engineering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4512332C-DF95-16AF-08DE-6BC50C7340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9070787"/>
              </p:ext>
            </p:extLst>
          </p:nvPr>
        </p:nvGraphicFramePr>
        <p:xfrm>
          <a:off x="1457058" y="1563167"/>
          <a:ext cx="13525398" cy="6772536"/>
        </p:xfrm>
        <a:graphic>
          <a:graphicData uri="http://schemas.openxmlformats.org/drawingml/2006/table">
            <a:tbl>
              <a:tblPr/>
              <a:tblGrid>
                <a:gridCol w="2254233">
                  <a:extLst>
                    <a:ext uri="{9D8B030D-6E8A-4147-A177-3AD203B41FA5}">
                      <a16:colId xmlns:a16="http://schemas.microsoft.com/office/drawing/2014/main" val="230775160"/>
                    </a:ext>
                  </a:extLst>
                </a:gridCol>
                <a:gridCol w="2254233">
                  <a:extLst>
                    <a:ext uri="{9D8B030D-6E8A-4147-A177-3AD203B41FA5}">
                      <a16:colId xmlns:a16="http://schemas.microsoft.com/office/drawing/2014/main" val="3131548628"/>
                    </a:ext>
                  </a:extLst>
                </a:gridCol>
                <a:gridCol w="2254233">
                  <a:extLst>
                    <a:ext uri="{9D8B030D-6E8A-4147-A177-3AD203B41FA5}">
                      <a16:colId xmlns:a16="http://schemas.microsoft.com/office/drawing/2014/main" val="2970468919"/>
                    </a:ext>
                  </a:extLst>
                </a:gridCol>
                <a:gridCol w="2254233">
                  <a:extLst>
                    <a:ext uri="{9D8B030D-6E8A-4147-A177-3AD203B41FA5}">
                      <a16:colId xmlns:a16="http://schemas.microsoft.com/office/drawing/2014/main" val="4216070975"/>
                    </a:ext>
                  </a:extLst>
                </a:gridCol>
                <a:gridCol w="2254233">
                  <a:extLst>
                    <a:ext uri="{9D8B030D-6E8A-4147-A177-3AD203B41FA5}">
                      <a16:colId xmlns:a16="http://schemas.microsoft.com/office/drawing/2014/main" val="3454692038"/>
                    </a:ext>
                  </a:extLst>
                </a:gridCol>
                <a:gridCol w="2254233">
                  <a:extLst>
                    <a:ext uri="{9D8B030D-6E8A-4147-A177-3AD203B41FA5}">
                      <a16:colId xmlns:a16="http://schemas.microsoft.com/office/drawing/2014/main" val="2702735074"/>
                    </a:ext>
                  </a:extLst>
                </a:gridCol>
              </a:tblGrid>
              <a:tr h="1191581">
                <a:tc>
                  <a:txBody>
                    <a:bodyPr/>
                    <a:lstStyle/>
                    <a:p>
                      <a:r>
                        <a:rPr lang="en-US" sz="2400" b="1" dirty="0">
                          <a:effectLst/>
                        </a:rPr>
                        <a:t>Author Name</a:t>
                      </a:r>
                    </a:p>
                  </a:txBody>
                  <a:tcPr marL="69221" marR="69221" marT="34610" marB="34610" anchor="ctr">
                    <a:lnL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>
                          <a:effectLst/>
                        </a:rPr>
                        <a:t>Modeling Approach</a:t>
                      </a:r>
                    </a:p>
                  </a:txBody>
                  <a:tcPr marL="69221" marR="69221" marT="34610" marB="34610" anchor="ctr">
                    <a:lnL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>
                          <a:effectLst/>
                        </a:rPr>
                        <a:t>Control Technique</a:t>
                      </a:r>
                    </a:p>
                  </a:txBody>
                  <a:tcPr marL="69221" marR="69221" marT="34610" marB="34610" anchor="ctr">
                    <a:lnL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>
                          <a:effectLst/>
                        </a:rPr>
                        <a:t>Trajectory Planning</a:t>
                      </a:r>
                    </a:p>
                  </a:txBody>
                  <a:tcPr marL="69221" marR="69221" marT="34610" marB="34610" anchor="ctr">
                    <a:lnL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>
                          <a:effectLst/>
                        </a:rPr>
                        <a:t>Hardware Implementation</a:t>
                      </a:r>
                    </a:p>
                  </a:txBody>
                  <a:tcPr marL="69221" marR="69221" marT="34610" marB="34610" anchor="ctr">
                    <a:lnL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>
                          <a:effectLst/>
                        </a:rPr>
                        <a:t>Linearized Model</a:t>
                      </a:r>
                    </a:p>
                  </a:txBody>
                  <a:tcPr marL="69221" marR="69221" marT="34610" marB="34610" anchor="ctr">
                    <a:lnL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70990443"/>
                  </a:ext>
                </a:extLst>
              </a:tr>
              <a:tr h="1358416">
                <a:tc>
                  <a:txBody>
                    <a:bodyPr/>
                    <a:lstStyle/>
                    <a:p>
                      <a:r>
                        <a:rPr lang="en-US" sz="2400">
                          <a:effectLst/>
                        </a:rPr>
                        <a:t>Mahler et al. (2013)</a:t>
                      </a:r>
                    </a:p>
                  </a:txBody>
                  <a:tcPr marL="69221" marR="69221" marT="34610" marB="34610" anchor="ctr">
                    <a:lnL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effectLst/>
                        </a:rPr>
                        <a:t>Lagrangian + Full Dynamics</a:t>
                      </a:r>
                    </a:p>
                  </a:txBody>
                  <a:tcPr marL="69221" marR="69221" marT="34610" marB="34610" anchor="ctr">
                    <a:lnL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effectLst/>
                        </a:rPr>
                        <a:t>Full State Feedback + PI</a:t>
                      </a:r>
                    </a:p>
                  </a:txBody>
                  <a:tcPr marL="69221" marR="69221" marT="34610" marB="34610" anchor="ctr">
                    <a:lnL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effectLst/>
                        </a:rPr>
                        <a:t>None</a:t>
                      </a:r>
                    </a:p>
                  </a:txBody>
                  <a:tcPr marL="69221" marR="69221" marT="34610" marB="34610" anchor="ctr">
                    <a:lnL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effectLst/>
                        </a:rPr>
                        <a:t>Real Prototype</a:t>
                      </a:r>
                    </a:p>
                  </a:txBody>
                  <a:tcPr marL="69221" marR="69221" marT="34610" marB="34610" anchor="ctr">
                    <a:lnL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effectLst/>
                        </a:rPr>
                        <a:t>Yes (State-space from linearized model)</a:t>
                      </a:r>
                    </a:p>
                  </a:txBody>
                  <a:tcPr marL="69221" marR="69221" marT="34610" marB="34610" anchor="ctr">
                    <a:lnL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333032"/>
                  </a:ext>
                </a:extLst>
              </a:tr>
              <a:tr h="1672542">
                <a:tc>
                  <a:txBody>
                    <a:bodyPr/>
                    <a:lstStyle/>
                    <a:p>
                      <a:r>
                        <a:rPr lang="en-US" sz="2400">
                          <a:effectLst/>
                        </a:rPr>
                        <a:t>Frankovský et al. (2017)</a:t>
                      </a:r>
                    </a:p>
                  </a:txBody>
                  <a:tcPr marL="69221" marR="69221" marT="34610" marB="34610" anchor="ctr">
                    <a:lnL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effectLst/>
                        </a:rPr>
                        <a:t>Lagrangian + Gearmotor</a:t>
                      </a:r>
                    </a:p>
                  </a:txBody>
                  <a:tcPr marL="69221" marR="69221" marT="34610" marB="34610" anchor="ctr">
                    <a:lnL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effectLst/>
                        </a:rPr>
                        <a:t>State Feedback (Linear)</a:t>
                      </a:r>
                    </a:p>
                  </a:txBody>
                  <a:tcPr marL="69221" marR="69221" marT="34610" marB="34610" anchor="ctr">
                    <a:lnL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effectLst/>
                        </a:rPr>
                        <a:t>None</a:t>
                      </a:r>
                    </a:p>
                  </a:txBody>
                  <a:tcPr marL="69221" marR="69221" marT="34610" marB="34610" anchor="ctr">
                    <a:lnL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effectLst/>
                        </a:rPr>
                        <a:t>Simulation only</a:t>
                      </a:r>
                    </a:p>
                  </a:txBody>
                  <a:tcPr marL="69221" marR="69221" marT="34610" marB="34610" anchor="ctr">
                    <a:lnL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effectLst/>
                        </a:rPr>
                        <a:t>Yes (Linearized from Lagrangian model) </a:t>
                      </a:r>
                    </a:p>
                  </a:txBody>
                  <a:tcPr marL="69221" marR="69221" marT="34610" marB="34610" anchor="ctr">
                    <a:lnL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688037"/>
                  </a:ext>
                </a:extLst>
              </a:tr>
              <a:tr h="1358416">
                <a:tc>
                  <a:txBody>
                    <a:bodyPr/>
                    <a:lstStyle/>
                    <a:p>
                      <a:r>
                        <a:rPr lang="en-US" sz="2400">
                          <a:effectLst/>
                        </a:rPr>
                        <a:t>Le et al. (2024)</a:t>
                      </a:r>
                    </a:p>
                  </a:txBody>
                  <a:tcPr marL="69221" marR="69221" marT="34610" marB="34610" anchor="ctr">
                    <a:lnL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effectLst/>
                        </a:rPr>
                        <a:t>Euler–Lagrange + Constraints</a:t>
                      </a:r>
                    </a:p>
                  </a:txBody>
                  <a:tcPr marL="69221" marR="69221" marT="34610" marB="34610" anchor="ctr">
                    <a:lnL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effectLst/>
                        </a:rPr>
                        <a:t>HSMC + SMC + Kinematic Controller</a:t>
                      </a:r>
                    </a:p>
                  </a:txBody>
                  <a:tcPr marL="69221" marR="69221" marT="34610" marB="34610" anchor="ctr">
                    <a:lnL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effectLst/>
                        </a:rPr>
                        <a:t>RRT-based planning</a:t>
                      </a:r>
                    </a:p>
                  </a:txBody>
                  <a:tcPr marL="69221" marR="69221" marT="34610" marB="34610" anchor="ctr">
                    <a:lnL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effectLst/>
                        </a:rPr>
                        <a:t>Simulations (MATLAB)</a:t>
                      </a:r>
                    </a:p>
                  </a:txBody>
                  <a:tcPr marL="69221" marR="69221" marT="34610" marB="34610" anchor="ctr">
                    <a:lnL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effectLst/>
                        </a:rPr>
                        <a:t>No (Nonlinear model used)</a:t>
                      </a:r>
                    </a:p>
                  </a:txBody>
                  <a:tcPr marL="69221" marR="69221" marT="34610" marB="34610" anchor="ctr">
                    <a:lnL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3065599"/>
                  </a:ext>
                </a:extLst>
              </a:tr>
              <a:tr h="1191581">
                <a:tc>
                  <a:txBody>
                    <a:bodyPr/>
                    <a:lstStyle/>
                    <a:p>
                      <a:r>
                        <a:rPr lang="en-US" sz="2400">
                          <a:effectLst/>
                        </a:rPr>
                        <a:t>Halawa et al. (2023)</a:t>
                      </a:r>
                    </a:p>
                  </a:txBody>
                  <a:tcPr marL="69221" marR="69221" marT="34610" marB="34610" anchor="ctr">
                    <a:lnL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effectLst/>
                        </a:rPr>
                        <a:t>Basic Transfer Function</a:t>
                      </a:r>
                    </a:p>
                  </a:txBody>
                  <a:tcPr marL="69221" marR="69221" marT="34610" marB="34610" anchor="ctr">
                    <a:lnL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effectLst/>
                        </a:rPr>
                        <a:t>PID</a:t>
                      </a:r>
                    </a:p>
                  </a:txBody>
                  <a:tcPr marL="69221" marR="69221" marT="34610" marB="34610" anchor="ctr">
                    <a:lnL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effectLst/>
                        </a:rPr>
                        <a:t>None</a:t>
                      </a:r>
                    </a:p>
                  </a:txBody>
                  <a:tcPr marL="69221" marR="69221" marT="34610" marB="34610" anchor="ctr">
                    <a:lnL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>
                          <a:effectLst/>
                        </a:rPr>
                        <a:t>Physical Robot Built</a:t>
                      </a:r>
                    </a:p>
                  </a:txBody>
                  <a:tcPr marL="69221" marR="69221" marT="34610" marB="34610" anchor="ctr">
                    <a:lnL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>
                          <a:effectLst/>
                        </a:rPr>
                        <a:t>Simplified Transfer Function </a:t>
                      </a:r>
                    </a:p>
                  </a:txBody>
                  <a:tcPr marL="69221" marR="69221" marT="34610" marB="34610" anchor="ctr">
                    <a:lnL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286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4187098"/>
                  </a:ext>
                </a:extLst>
              </a:tr>
            </a:tbl>
          </a:graphicData>
        </a:graphic>
      </p:graphicFrame>
      <p:sp>
        <p:nvSpPr>
          <p:cNvPr id="17" name="Rectangle 1">
            <a:extLst>
              <a:ext uri="{FF2B5EF4-FFF2-40B4-BE49-F238E27FC236}">
                <a16:creationId xmlns:a16="http://schemas.microsoft.com/office/drawing/2014/main" id="{4AF0BB0A-0929-63C5-7363-E3314D9748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7324" y="1563687"/>
            <a:ext cx="39704181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 flipH="1">
            <a:off x="-2623119" y="-2629198"/>
            <a:ext cx="6656198" cy="5258396"/>
          </a:xfrm>
          <a:custGeom>
            <a:avLst/>
            <a:gdLst/>
            <a:ahLst/>
            <a:cxnLst/>
            <a:rect l="l" t="t" r="r" b="b"/>
            <a:pathLst>
              <a:path w="6656198" h="5258396">
                <a:moveTo>
                  <a:pt x="6656198" y="0"/>
                </a:moveTo>
                <a:lnTo>
                  <a:pt x="0" y="0"/>
                </a:lnTo>
                <a:lnTo>
                  <a:pt x="0" y="5258396"/>
                </a:lnTo>
                <a:lnTo>
                  <a:pt x="6656198" y="5258396"/>
                </a:lnTo>
                <a:lnTo>
                  <a:pt x="6656198" y="0"/>
                </a:lnTo>
                <a:close/>
              </a:path>
            </a:pathLst>
          </a:custGeom>
          <a:blipFill>
            <a:blip r:embed="rId2">
              <a:alphaModFix amt="2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 rot="-6078968">
            <a:off x="7178993" y="5215803"/>
            <a:ext cx="1786066" cy="9943550"/>
            <a:chOff x="0" y="0"/>
            <a:chExt cx="470404" cy="261887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70404" cy="2618877"/>
            </a:xfrm>
            <a:custGeom>
              <a:avLst/>
              <a:gdLst/>
              <a:ahLst/>
              <a:cxnLst/>
              <a:rect l="l" t="t" r="r" b="b"/>
              <a:pathLst>
                <a:path w="470404" h="2618877">
                  <a:moveTo>
                    <a:pt x="0" y="0"/>
                  </a:moveTo>
                  <a:lnTo>
                    <a:pt x="470404" y="0"/>
                  </a:lnTo>
                  <a:lnTo>
                    <a:pt x="470404" y="2618877"/>
                  </a:lnTo>
                  <a:lnTo>
                    <a:pt x="0" y="2618877"/>
                  </a:lnTo>
                  <a:close/>
                </a:path>
              </a:pathLst>
            </a:custGeom>
            <a:solidFill>
              <a:srgbClr val="497183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70404" cy="26665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-2655168">
            <a:off x="10241031" y="2517303"/>
            <a:ext cx="15424018" cy="7023258"/>
            <a:chOff x="0" y="0"/>
            <a:chExt cx="4062293" cy="184974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062293" cy="1849747"/>
            </a:xfrm>
            <a:custGeom>
              <a:avLst/>
              <a:gdLst/>
              <a:ahLst/>
              <a:cxnLst/>
              <a:rect l="l" t="t" r="r" b="b"/>
              <a:pathLst>
                <a:path w="4062293" h="1849747">
                  <a:moveTo>
                    <a:pt x="0" y="0"/>
                  </a:moveTo>
                  <a:lnTo>
                    <a:pt x="4062293" y="0"/>
                  </a:lnTo>
                  <a:lnTo>
                    <a:pt x="4062293" y="1849747"/>
                  </a:lnTo>
                  <a:lnTo>
                    <a:pt x="0" y="1849747"/>
                  </a:lnTo>
                  <a:close/>
                </a:path>
              </a:pathLst>
            </a:custGeom>
            <a:solidFill>
              <a:srgbClr val="0B1320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4062293" cy="18973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 rot="5400000" flipV="1">
            <a:off x="8259222" y="-2127715"/>
            <a:ext cx="11205779" cy="10911627"/>
          </a:xfrm>
          <a:custGeom>
            <a:avLst/>
            <a:gdLst/>
            <a:ahLst/>
            <a:cxnLst/>
            <a:rect l="l" t="t" r="r" b="b"/>
            <a:pathLst>
              <a:path w="11205779" h="10911627">
                <a:moveTo>
                  <a:pt x="0" y="10911628"/>
                </a:moveTo>
                <a:lnTo>
                  <a:pt x="11205779" y="10911628"/>
                </a:lnTo>
                <a:lnTo>
                  <a:pt x="11205779" y="0"/>
                </a:lnTo>
                <a:lnTo>
                  <a:pt x="0" y="0"/>
                </a:lnTo>
                <a:lnTo>
                  <a:pt x="0" y="10911628"/>
                </a:lnTo>
                <a:close/>
              </a:path>
            </a:pathLst>
          </a:custGeom>
          <a:blipFill>
            <a:blip r:embed="rId4">
              <a:alphaModFix amt="65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AutoShape 10"/>
          <p:cNvSpPr/>
          <p:nvPr/>
        </p:nvSpPr>
        <p:spPr>
          <a:xfrm rot="-10402021">
            <a:off x="8874479" y="9297528"/>
            <a:ext cx="9975266" cy="0"/>
          </a:xfrm>
          <a:prstGeom prst="line">
            <a:avLst/>
          </a:prstGeom>
          <a:ln w="38100" cap="flat">
            <a:solidFill>
              <a:srgbClr val="F3F6F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Freeform 11"/>
          <p:cNvSpPr/>
          <p:nvPr/>
        </p:nvSpPr>
        <p:spPr>
          <a:xfrm>
            <a:off x="16774842" y="0"/>
            <a:ext cx="1513158" cy="1513158"/>
          </a:xfrm>
          <a:custGeom>
            <a:avLst/>
            <a:gdLst/>
            <a:ahLst/>
            <a:cxnLst/>
            <a:rect l="l" t="t" r="r" b="b"/>
            <a:pathLst>
              <a:path w="1513158" h="1513158">
                <a:moveTo>
                  <a:pt x="0" y="0"/>
                </a:moveTo>
                <a:lnTo>
                  <a:pt x="1513158" y="0"/>
                </a:lnTo>
                <a:lnTo>
                  <a:pt x="1513158" y="1513158"/>
                </a:lnTo>
                <a:lnTo>
                  <a:pt x="0" y="151315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8907864" y="1652714"/>
            <a:ext cx="7698768" cy="8079476"/>
          </a:xfrm>
          <a:custGeom>
            <a:avLst/>
            <a:gdLst/>
            <a:ahLst/>
            <a:cxnLst/>
            <a:rect l="l" t="t" r="r" b="b"/>
            <a:pathLst>
              <a:path w="7698768" h="8079476">
                <a:moveTo>
                  <a:pt x="0" y="0"/>
                </a:moveTo>
                <a:lnTo>
                  <a:pt x="7698768" y="0"/>
                </a:lnTo>
                <a:lnTo>
                  <a:pt x="7698768" y="8079476"/>
                </a:lnTo>
                <a:lnTo>
                  <a:pt x="0" y="807947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028700" y="866775"/>
            <a:ext cx="7237570" cy="14099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536"/>
              </a:lnSpc>
            </a:pPr>
            <a:r>
              <a:rPr lang="en-US" sz="8240" b="1">
                <a:solidFill>
                  <a:srgbClr val="0B132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Motivation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020538" y="194604"/>
            <a:ext cx="4754303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Kollektif"/>
                <a:ea typeface="Kollektif"/>
                <a:cs typeface="Kollektif"/>
                <a:sym typeface="Kollektif"/>
              </a:rPr>
              <a:t>Bangladesh University of Engineering and Technology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464734" y="9763125"/>
            <a:ext cx="4823266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Kollektif"/>
                <a:ea typeface="Kollektif"/>
                <a:cs typeface="Kollektif"/>
                <a:sym typeface="Kollektif"/>
              </a:rPr>
              <a:t>ME461: Control Engineering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28700" y="2509658"/>
            <a:ext cx="7690198" cy="39515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41"/>
              </a:lnSpc>
            </a:pPr>
            <a:r>
              <a:rPr lang="en-US" sz="2775" b="1">
                <a:solidFill>
                  <a:srgbClr val="000000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1. Mahler et al. (2013) developed a mathematical model and control strategy using full-state feedback and PI control.</a:t>
            </a:r>
          </a:p>
          <a:p>
            <a:pPr algn="l">
              <a:lnSpc>
                <a:spcPts val="3941"/>
              </a:lnSpc>
            </a:pPr>
            <a:endParaRPr lang="en-US" sz="2775" b="1">
              <a:solidFill>
                <a:srgbClr val="000000"/>
              </a:solidFill>
              <a:latin typeface="Cooper BT Bold"/>
              <a:ea typeface="Cooper BT Bold"/>
              <a:cs typeface="Cooper BT Bold"/>
              <a:sym typeface="Cooper BT Bold"/>
            </a:endParaRPr>
          </a:p>
          <a:p>
            <a:pPr algn="l">
              <a:lnSpc>
                <a:spcPts val="3941"/>
              </a:lnSpc>
            </a:pPr>
            <a:r>
              <a:rPr lang="en-US" sz="2775" b="1">
                <a:solidFill>
                  <a:srgbClr val="000000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2. However, their work lacked comparative analysis of simpler PID-based approaches using different controlling algorithms.</a:t>
            </a:r>
          </a:p>
          <a:p>
            <a:pPr algn="l">
              <a:lnSpc>
                <a:spcPts val="3941"/>
              </a:lnSpc>
            </a:pPr>
            <a:endParaRPr lang="en-US" sz="2775" b="1">
              <a:solidFill>
                <a:srgbClr val="000000"/>
              </a:solidFill>
              <a:latin typeface="Cooper BT Bold"/>
              <a:ea typeface="Cooper BT Bold"/>
              <a:cs typeface="Cooper BT Bold"/>
              <a:sym typeface="Cooper BT Bol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 flipH="1">
            <a:off x="-2623119" y="-2629198"/>
            <a:ext cx="6656198" cy="5258396"/>
          </a:xfrm>
          <a:custGeom>
            <a:avLst/>
            <a:gdLst/>
            <a:ahLst/>
            <a:cxnLst/>
            <a:rect l="l" t="t" r="r" b="b"/>
            <a:pathLst>
              <a:path w="6656198" h="5258396">
                <a:moveTo>
                  <a:pt x="6656198" y="0"/>
                </a:moveTo>
                <a:lnTo>
                  <a:pt x="0" y="0"/>
                </a:lnTo>
                <a:lnTo>
                  <a:pt x="0" y="5258396"/>
                </a:lnTo>
                <a:lnTo>
                  <a:pt x="6656198" y="5258396"/>
                </a:lnTo>
                <a:lnTo>
                  <a:pt x="6656198" y="0"/>
                </a:lnTo>
                <a:close/>
              </a:path>
            </a:pathLst>
          </a:custGeom>
          <a:blipFill>
            <a:blip r:embed="rId2">
              <a:alphaModFix amt="2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 rot="-6078968">
            <a:off x="7178993" y="5215803"/>
            <a:ext cx="1786066" cy="9943550"/>
            <a:chOff x="0" y="0"/>
            <a:chExt cx="470404" cy="261887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70404" cy="2618877"/>
            </a:xfrm>
            <a:custGeom>
              <a:avLst/>
              <a:gdLst/>
              <a:ahLst/>
              <a:cxnLst/>
              <a:rect l="l" t="t" r="r" b="b"/>
              <a:pathLst>
                <a:path w="470404" h="2618877">
                  <a:moveTo>
                    <a:pt x="0" y="0"/>
                  </a:moveTo>
                  <a:lnTo>
                    <a:pt x="470404" y="0"/>
                  </a:lnTo>
                  <a:lnTo>
                    <a:pt x="470404" y="2618877"/>
                  </a:lnTo>
                  <a:lnTo>
                    <a:pt x="0" y="2618877"/>
                  </a:lnTo>
                  <a:close/>
                </a:path>
              </a:pathLst>
            </a:custGeom>
            <a:solidFill>
              <a:srgbClr val="497183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70404" cy="26665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-2655168">
            <a:off x="10241031" y="2517303"/>
            <a:ext cx="15424018" cy="7023258"/>
            <a:chOff x="0" y="0"/>
            <a:chExt cx="4062293" cy="184974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062293" cy="1849747"/>
            </a:xfrm>
            <a:custGeom>
              <a:avLst/>
              <a:gdLst/>
              <a:ahLst/>
              <a:cxnLst/>
              <a:rect l="l" t="t" r="r" b="b"/>
              <a:pathLst>
                <a:path w="4062293" h="1849747">
                  <a:moveTo>
                    <a:pt x="0" y="0"/>
                  </a:moveTo>
                  <a:lnTo>
                    <a:pt x="4062293" y="0"/>
                  </a:lnTo>
                  <a:lnTo>
                    <a:pt x="4062293" y="1849747"/>
                  </a:lnTo>
                  <a:lnTo>
                    <a:pt x="0" y="1849747"/>
                  </a:lnTo>
                  <a:close/>
                </a:path>
              </a:pathLst>
            </a:custGeom>
            <a:solidFill>
              <a:srgbClr val="0B1320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4062293" cy="18973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 rot="5400000" flipV="1">
            <a:off x="8259222" y="-2127715"/>
            <a:ext cx="11205779" cy="10911627"/>
          </a:xfrm>
          <a:custGeom>
            <a:avLst/>
            <a:gdLst/>
            <a:ahLst/>
            <a:cxnLst/>
            <a:rect l="l" t="t" r="r" b="b"/>
            <a:pathLst>
              <a:path w="11205779" h="10911627">
                <a:moveTo>
                  <a:pt x="0" y="10911628"/>
                </a:moveTo>
                <a:lnTo>
                  <a:pt x="11205779" y="10911628"/>
                </a:lnTo>
                <a:lnTo>
                  <a:pt x="11205779" y="0"/>
                </a:lnTo>
                <a:lnTo>
                  <a:pt x="0" y="0"/>
                </a:lnTo>
                <a:lnTo>
                  <a:pt x="0" y="10911628"/>
                </a:lnTo>
                <a:close/>
              </a:path>
            </a:pathLst>
          </a:custGeom>
          <a:blipFill>
            <a:blip r:embed="rId4">
              <a:alphaModFix amt="65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AutoShape 10"/>
          <p:cNvSpPr/>
          <p:nvPr/>
        </p:nvSpPr>
        <p:spPr>
          <a:xfrm rot="-10402021">
            <a:off x="8874479" y="9297528"/>
            <a:ext cx="9975266" cy="0"/>
          </a:xfrm>
          <a:prstGeom prst="line">
            <a:avLst/>
          </a:prstGeom>
          <a:ln w="38100" cap="flat">
            <a:solidFill>
              <a:srgbClr val="F3F6F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Freeform 11"/>
          <p:cNvSpPr/>
          <p:nvPr/>
        </p:nvSpPr>
        <p:spPr>
          <a:xfrm>
            <a:off x="16774842" y="0"/>
            <a:ext cx="1513158" cy="1513158"/>
          </a:xfrm>
          <a:custGeom>
            <a:avLst/>
            <a:gdLst/>
            <a:ahLst/>
            <a:cxnLst/>
            <a:rect l="l" t="t" r="r" b="b"/>
            <a:pathLst>
              <a:path w="1513158" h="1513158">
                <a:moveTo>
                  <a:pt x="0" y="0"/>
                </a:moveTo>
                <a:lnTo>
                  <a:pt x="1513158" y="0"/>
                </a:lnTo>
                <a:lnTo>
                  <a:pt x="1513158" y="1513158"/>
                </a:lnTo>
                <a:lnTo>
                  <a:pt x="0" y="151315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028700" y="866775"/>
            <a:ext cx="9356692" cy="14099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536"/>
              </a:lnSpc>
            </a:pPr>
            <a:r>
              <a:rPr lang="en-US" sz="8240" b="1">
                <a:solidFill>
                  <a:srgbClr val="0B132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Our Contribution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020538" y="194604"/>
            <a:ext cx="4754303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Kollektif"/>
                <a:ea typeface="Kollektif"/>
                <a:cs typeface="Kollektif"/>
                <a:sym typeface="Kollektif"/>
              </a:rPr>
              <a:t>Bangladesh University of Engineering and Technology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464734" y="9763125"/>
            <a:ext cx="4823266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Kollektif"/>
                <a:ea typeface="Kollektif"/>
                <a:cs typeface="Kollektif"/>
                <a:sym typeface="Kollektif"/>
              </a:rPr>
              <a:t>ME461: Control Engineering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28700" y="3049777"/>
            <a:ext cx="8430862" cy="44468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41"/>
              </a:lnSpc>
            </a:pPr>
            <a:r>
              <a:rPr lang="en-US" sz="2775" b="1">
                <a:solidFill>
                  <a:srgbClr val="000000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1. Evaluate P, PI, and PID controllers using metaheuristic algorithms for gain optimization.</a:t>
            </a:r>
          </a:p>
          <a:p>
            <a:pPr algn="l">
              <a:lnSpc>
                <a:spcPts val="3941"/>
              </a:lnSpc>
            </a:pPr>
            <a:endParaRPr lang="en-US" sz="2775" b="1">
              <a:solidFill>
                <a:srgbClr val="000000"/>
              </a:solidFill>
              <a:latin typeface="Cooper BT Bold"/>
              <a:ea typeface="Cooper BT Bold"/>
              <a:cs typeface="Cooper BT Bold"/>
              <a:sym typeface="Cooper BT Bold"/>
            </a:endParaRPr>
          </a:p>
          <a:p>
            <a:pPr algn="l">
              <a:lnSpc>
                <a:spcPts val="3941"/>
              </a:lnSpc>
            </a:pPr>
            <a:r>
              <a:rPr lang="en-US" sz="2775" b="1">
                <a:solidFill>
                  <a:srgbClr val="000000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2. Assess performance based on transient and steady-state criteria.</a:t>
            </a:r>
          </a:p>
          <a:p>
            <a:pPr algn="l">
              <a:lnSpc>
                <a:spcPts val="3941"/>
              </a:lnSpc>
            </a:pPr>
            <a:endParaRPr lang="en-US" sz="2775" b="1">
              <a:solidFill>
                <a:srgbClr val="000000"/>
              </a:solidFill>
              <a:latin typeface="Cooper BT Bold"/>
              <a:ea typeface="Cooper BT Bold"/>
              <a:cs typeface="Cooper BT Bold"/>
              <a:sym typeface="Cooper BT Bold"/>
            </a:endParaRPr>
          </a:p>
          <a:p>
            <a:pPr algn="l">
              <a:lnSpc>
                <a:spcPts val="3941"/>
              </a:lnSpc>
            </a:pPr>
            <a:r>
              <a:rPr lang="en-US" sz="2775" b="1">
                <a:solidFill>
                  <a:srgbClr val="000000"/>
                </a:solidFill>
                <a:latin typeface="Cooper BT Bold"/>
                <a:ea typeface="Cooper BT Bold"/>
                <a:cs typeface="Cooper BT Bold"/>
                <a:sym typeface="Cooper BT Bold"/>
              </a:rPr>
              <a:t>3. Provide insights into how intelligent optimization improves classical control.</a:t>
            </a:r>
          </a:p>
          <a:p>
            <a:pPr algn="l">
              <a:lnSpc>
                <a:spcPts val="3941"/>
              </a:lnSpc>
            </a:pPr>
            <a:endParaRPr lang="en-US" sz="2775" b="1">
              <a:solidFill>
                <a:srgbClr val="000000"/>
              </a:solidFill>
              <a:latin typeface="Cooper BT Bold"/>
              <a:ea typeface="Cooper BT Bold"/>
              <a:cs typeface="Cooper BT Bold"/>
              <a:sym typeface="Cooper BT Bold"/>
            </a:endParaRPr>
          </a:p>
        </p:txBody>
      </p:sp>
      <p:sp>
        <p:nvSpPr>
          <p:cNvPr id="16" name="Freeform 16"/>
          <p:cNvSpPr/>
          <p:nvPr/>
        </p:nvSpPr>
        <p:spPr>
          <a:xfrm>
            <a:off x="8907864" y="1652714"/>
            <a:ext cx="7698768" cy="8079476"/>
          </a:xfrm>
          <a:custGeom>
            <a:avLst/>
            <a:gdLst/>
            <a:ahLst/>
            <a:cxnLst/>
            <a:rect l="l" t="t" r="r" b="b"/>
            <a:pathLst>
              <a:path w="7698768" h="8079476">
                <a:moveTo>
                  <a:pt x="0" y="0"/>
                </a:moveTo>
                <a:lnTo>
                  <a:pt x="7698768" y="0"/>
                </a:lnTo>
                <a:lnTo>
                  <a:pt x="7698768" y="8079476"/>
                </a:lnTo>
                <a:lnTo>
                  <a:pt x="0" y="807947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 flipH="1">
            <a:off x="-2623119" y="-2629198"/>
            <a:ext cx="6656198" cy="5258396"/>
          </a:xfrm>
          <a:custGeom>
            <a:avLst/>
            <a:gdLst/>
            <a:ahLst/>
            <a:cxnLst/>
            <a:rect l="l" t="t" r="r" b="b"/>
            <a:pathLst>
              <a:path w="6656198" h="5258396">
                <a:moveTo>
                  <a:pt x="6656198" y="0"/>
                </a:moveTo>
                <a:lnTo>
                  <a:pt x="0" y="0"/>
                </a:lnTo>
                <a:lnTo>
                  <a:pt x="0" y="5258396"/>
                </a:lnTo>
                <a:lnTo>
                  <a:pt x="6656198" y="5258396"/>
                </a:lnTo>
                <a:lnTo>
                  <a:pt x="6656198" y="0"/>
                </a:lnTo>
                <a:close/>
              </a:path>
            </a:pathLst>
          </a:custGeom>
          <a:blipFill>
            <a:blip r:embed="rId2">
              <a:alphaModFix amt="2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 rot="-6078968">
            <a:off x="7178993" y="5215803"/>
            <a:ext cx="1786066" cy="9943550"/>
            <a:chOff x="0" y="0"/>
            <a:chExt cx="470404" cy="261887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70404" cy="2618877"/>
            </a:xfrm>
            <a:custGeom>
              <a:avLst/>
              <a:gdLst/>
              <a:ahLst/>
              <a:cxnLst/>
              <a:rect l="l" t="t" r="r" b="b"/>
              <a:pathLst>
                <a:path w="470404" h="2618877">
                  <a:moveTo>
                    <a:pt x="0" y="0"/>
                  </a:moveTo>
                  <a:lnTo>
                    <a:pt x="470404" y="0"/>
                  </a:lnTo>
                  <a:lnTo>
                    <a:pt x="470404" y="2618877"/>
                  </a:lnTo>
                  <a:lnTo>
                    <a:pt x="0" y="2618877"/>
                  </a:lnTo>
                  <a:close/>
                </a:path>
              </a:pathLst>
            </a:custGeom>
            <a:solidFill>
              <a:srgbClr val="497183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70404" cy="26665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-2655168">
            <a:off x="10241031" y="2517303"/>
            <a:ext cx="15424018" cy="7023258"/>
            <a:chOff x="0" y="0"/>
            <a:chExt cx="4062293" cy="184974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062293" cy="1849747"/>
            </a:xfrm>
            <a:custGeom>
              <a:avLst/>
              <a:gdLst/>
              <a:ahLst/>
              <a:cxnLst/>
              <a:rect l="l" t="t" r="r" b="b"/>
              <a:pathLst>
                <a:path w="4062293" h="1849747">
                  <a:moveTo>
                    <a:pt x="0" y="0"/>
                  </a:moveTo>
                  <a:lnTo>
                    <a:pt x="4062293" y="0"/>
                  </a:lnTo>
                  <a:lnTo>
                    <a:pt x="4062293" y="1849747"/>
                  </a:lnTo>
                  <a:lnTo>
                    <a:pt x="0" y="1849747"/>
                  </a:lnTo>
                  <a:close/>
                </a:path>
              </a:pathLst>
            </a:custGeom>
            <a:solidFill>
              <a:srgbClr val="0B1320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4062293" cy="18973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 rot="5400000" flipV="1">
            <a:off x="7861844" y="-1720896"/>
            <a:ext cx="11205779" cy="10911627"/>
          </a:xfrm>
          <a:custGeom>
            <a:avLst/>
            <a:gdLst/>
            <a:ahLst/>
            <a:cxnLst/>
            <a:rect l="l" t="t" r="r" b="b"/>
            <a:pathLst>
              <a:path w="11205779" h="10911627">
                <a:moveTo>
                  <a:pt x="0" y="10911627"/>
                </a:moveTo>
                <a:lnTo>
                  <a:pt x="11205779" y="10911627"/>
                </a:lnTo>
                <a:lnTo>
                  <a:pt x="11205779" y="0"/>
                </a:lnTo>
                <a:lnTo>
                  <a:pt x="0" y="0"/>
                </a:lnTo>
                <a:lnTo>
                  <a:pt x="0" y="10911627"/>
                </a:lnTo>
                <a:close/>
              </a:path>
            </a:pathLst>
          </a:custGeom>
          <a:blipFill>
            <a:blip r:embed="rId4">
              <a:alphaModFix amt="65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AutoShape 10"/>
          <p:cNvSpPr/>
          <p:nvPr/>
        </p:nvSpPr>
        <p:spPr>
          <a:xfrm rot="-10402021">
            <a:off x="8874479" y="9297528"/>
            <a:ext cx="9975266" cy="0"/>
          </a:xfrm>
          <a:prstGeom prst="line">
            <a:avLst/>
          </a:prstGeom>
          <a:ln w="38100" cap="flat">
            <a:solidFill>
              <a:srgbClr val="F3F6F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Freeform 11"/>
          <p:cNvSpPr/>
          <p:nvPr/>
        </p:nvSpPr>
        <p:spPr>
          <a:xfrm>
            <a:off x="704980" y="1848536"/>
            <a:ext cx="11737701" cy="5884174"/>
          </a:xfrm>
          <a:custGeom>
            <a:avLst/>
            <a:gdLst/>
            <a:ahLst/>
            <a:cxnLst/>
            <a:rect l="l" t="t" r="r" b="b"/>
            <a:pathLst>
              <a:path w="11737701" h="5884174">
                <a:moveTo>
                  <a:pt x="0" y="0"/>
                </a:moveTo>
                <a:lnTo>
                  <a:pt x="11737701" y="0"/>
                </a:lnTo>
                <a:lnTo>
                  <a:pt x="11737701" y="5884174"/>
                </a:lnTo>
                <a:lnTo>
                  <a:pt x="0" y="588417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028700" y="890099"/>
            <a:ext cx="11156430" cy="1112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16"/>
              </a:lnSpc>
            </a:pPr>
            <a:r>
              <a:rPr lang="en-US" sz="6440" b="1">
                <a:solidFill>
                  <a:srgbClr val="0B132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Mathematical Modelling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12020538" y="0"/>
            <a:ext cx="6267462" cy="1513158"/>
            <a:chOff x="0" y="0"/>
            <a:chExt cx="8356616" cy="2017545"/>
          </a:xfrm>
        </p:grpSpPr>
        <p:sp>
          <p:nvSpPr>
            <p:cNvPr id="14" name="Freeform 14"/>
            <p:cNvSpPr/>
            <p:nvPr/>
          </p:nvSpPr>
          <p:spPr>
            <a:xfrm>
              <a:off x="6339071" y="0"/>
              <a:ext cx="2017545" cy="2017545"/>
            </a:xfrm>
            <a:custGeom>
              <a:avLst/>
              <a:gdLst/>
              <a:ahLst/>
              <a:cxnLst/>
              <a:rect l="l" t="t" r="r" b="b"/>
              <a:pathLst>
                <a:path w="2017545" h="2017545">
                  <a:moveTo>
                    <a:pt x="0" y="0"/>
                  </a:moveTo>
                  <a:lnTo>
                    <a:pt x="2017545" y="0"/>
                  </a:lnTo>
                  <a:lnTo>
                    <a:pt x="2017545" y="2017545"/>
                  </a:lnTo>
                  <a:lnTo>
                    <a:pt x="0" y="20175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0" y="281698"/>
              <a:ext cx="6339071" cy="138747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3000">
                  <a:solidFill>
                    <a:srgbClr val="000000"/>
                  </a:solidFill>
                  <a:latin typeface="Kollektif"/>
                  <a:ea typeface="Kollektif"/>
                  <a:cs typeface="Kollektif"/>
                  <a:sym typeface="Kollektif"/>
                </a:rPr>
                <a:t>Bangladesh University of Engineering and Technology</a:t>
              </a:r>
            </a:p>
          </p:txBody>
        </p:sp>
      </p:grpSp>
      <p:sp>
        <p:nvSpPr>
          <p:cNvPr id="16" name="TextBox 16"/>
          <p:cNvSpPr txBox="1"/>
          <p:nvPr/>
        </p:nvSpPr>
        <p:spPr>
          <a:xfrm>
            <a:off x="13464734" y="9763125"/>
            <a:ext cx="4823266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Kollektif"/>
                <a:ea typeface="Kollektif"/>
                <a:cs typeface="Kollektif"/>
                <a:sym typeface="Kollektif"/>
              </a:rPr>
              <a:t>ME461: Control Engineering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296162" y="7685085"/>
            <a:ext cx="10488660" cy="389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Fig: Structure and definitions of the mathematical model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 flipH="1">
            <a:off x="-2623119" y="-2629198"/>
            <a:ext cx="6656198" cy="5258396"/>
          </a:xfrm>
          <a:custGeom>
            <a:avLst/>
            <a:gdLst/>
            <a:ahLst/>
            <a:cxnLst/>
            <a:rect l="l" t="t" r="r" b="b"/>
            <a:pathLst>
              <a:path w="6656198" h="5258396">
                <a:moveTo>
                  <a:pt x="6656198" y="0"/>
                </a:moveTo>
                <a:lnTo>
                  <a:pt x="0" y="0"/>
                </a:lnTo>
                <a:lnTo>
                  <a:pt x="0" y="5258396"/>
                </a:lnTo>
                <a:lnTo>
                  <a:pt x="6656198" y="5258396"/>
                </a:lnTo>
                <a:lnTo>
                  <a:pt x="6656198" y="0"/>
                </a:lnTo>
                <a:close/>
              </a:path>
            </a:pathLst>
          </a:custGeom>
          <a:blipFill>
            <a:blip r:embed="rId2">
              <a:alphaModFix amt="2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 rot="-6078968">
            <a:off x="7178993" y="5215803"/>
            <a:ext cx="1786066" cy="9943550"/>
            <a:chOff x="0" y="0"/>
            <a:chExt cx="470404" cy="261887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70404" cy="2618877"/>
            </a:xfrm>
            <a:custGeom>
              <a:avLst/>
              <a:gdLst/>
              <a:ahLst/>
              <a:cxnLst/>
              <a:rect l="l" t="t" r="r" b="b"/>
              <a:pathLst>
                <a:path w="470404" h="2618877">
                  <a:moveTo>
                    <a:pt x="0" y="0"/>
                  </a:moveTo>
                  <a:lnTo>
                    <a:pt x="470404" y="0"/>
                  </a:lnTo>
                  <a:lnTo>
                    <a:pt x="470404" y="2618877"/>
                  </a:lnTo>
                  <a:lnTo>
                    <a:pt x="0" y="2618877"/>
                  </a:lnTo>
                  <a:close/>
                </a:path>
              </a:pathLst>
            </a:custGeom>
            <a:solidFill>
              <a:srgbClr val="659FB9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70404" cy="26665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-2655168">
            <a:off x="10241031" y="2517303"/>
            <a:ext cx="15424018" cy="7023258"/>
            <a:chOff x="0" y="0"/>
            <a:chExt cx="4062293" cy="184974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062293" cy="1849747"/>
            </a:xfrm>
            <a:custGeom>
              <a:avLst/>
              <a:gdLst/>
              <a:ahLst/>
              <a:cxnLst/>
              <a:rect l="l" t="t" r="r" b="b"/>
              <a:pathLst>
                <a:path w="4062293" h="1849747">
                  <a:moveTo>
                    <a:pt x="0" y="0"/>
                  </a:moveTo>
                  <a:lnTo>
                    <a:pt x="4062293" y="0"/>
                  </a:lnTo>
                  <a:lnTo>
                    <a:pt x="4062293" y="1849747"/>
                  </a:lnTo>
                  <a:lnTo>
                    <a:pt x="0" y="1849747"/>
                  </a:lnTo>
                  <a:close/>
                </a:path>
              </a:pathLst>
            </a:custGeom>
            <a:solidFill>
              <a:srgbClr val="0B1320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4062293" cy="18973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 rot="5400000" flipV="1">
            <a:off x="8259222" y="-2127715"/>
            <a:ext cx="11205779" cy="10911627"/>
          </a:xfrm>
          <a:custGeom>
            <a:avLst/>
            <a:gdLst/>
            <a:ahLst/>
            <a:cxnLst/>
            <a:rect l="l" t="t" r="r" b="b"/>
            <a:pathLst>
              <a:path w="11205779" h="10911627">
                <a:moveTo>
                  <a:pt x="0" y="10911628"/>
                </a:moveTo>
                <a:lnTo>
                  <a:pt x="11205779" y="10911628"/>
                </a:lnTo>
                <a:lnTo>
                  <a:pt x="11205779" y="0"/>
                </a:lnTo>
                <a:lnTo>
                  <a:pt x="0" y="0"/>
                </a:lnTo>
                <a:lnTo>
                  <a:pt x="0" y="10911628"/>
                </a:lnTo>
                <a:close/>
              </a:path>
            </a:pathLst>
          </a:custGeom>
          <a:blipFill>
            <a:blip r:embed="rId4">
              <a:alphaModFix amt="65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AutoShape 10"/>
          <p:cNvSpPr/>
          <p:nvPr/>
        </p:nvSpPr>
        <p:spPr>
          <a:xfrm rot="-10402021">
            <a:off x="8874479" y="9297528"/>
            <a:ext cx="9975266" cy="0"/>
          </a:xfrm>
          <a:prstGeom prst="line">
            <a:avLst/>
          </a:prstGeom>
          <a:ln w="38100" cap="flat">
            <a:solidFill>
              <a:srgbClr val="F3F6F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Freeform 11"/>
          <p:cNvSpPr/>
          <p:nvPr/>
        </p:nvSpPr>
        <p:spPr>
          <a:xfrm>
            <a:off x="16774842" y="0"/>
            <a:ext cx="1513158" cy="1513158"/>
          </a:xfrm>
          <a:custGeom>
            <a:avLst/>
            <a:gdLst/>
            <a:ahLst/>
            <a:cxnLst/>
            <a:rect l="l" t="t" r="r" b="b"/>
            <a:pathLst>
              <a:path w="1513158" h="1513158">
                <a:moveTo>
                  <a:pt x="0" y="0"/>
                </a:moveTo>
                <a:lnTo>
                  <a:pt x="1513158" y="0"/>
                </a:lnTo>
                <a:lnTo>
                  <a:pt x="1513158" y="1513158"/>
                </a:lnTo>
                <a:lnTo>
                  <a:pt x="0" y="151315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5411" y="1801466"/>
            <a:ext cx="7242344" cy="1743459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7176" y="2827554"/>
            <a:ext cx="3621173" cy="1176292"/>
          </a:xfrm>
          <a:prstGeom prst="rect">
            <a:avLst/>
          </a:prstGeom>
        </p:spPr>
      </p:pic>
      <p:sp>
        <p:nvSpPr>
          <p:cNvPr id="14" name="Freeform 14"/>
          <p:cNvSpPr/>
          <p:nvPr/>
        </p:nvSpPr>
        <p:spPr>
          <a:xfrm>
            <a:off x="10936880" y="2800806"/>
            <a:ext cx="6613590" cy="5160894"/>
          </a:xfrm>
          <a:custGeom>
            <a:avLst/>
            <a:gdLst/>
            <a:ahLst/>
            <a:cxnLst/>
            <a:rect l="l" t="t" r="r" b="b"/>
            <a:pathLst>
              <a:path w="6613590" h="5160894">
                <a:moveTo>
                  <a:pt x="0" y="0"/>
                </a:moveTo>
                <a:lnTo>
                  <a:pt x="6613591" y="0"/>
                </a:lnTo>
                <a:lnTo>
                  <a:pt x="6613591" y="5160895"/>
                </a:lnTo>
                <a:lnTo>
                  <a:pt x="0" y="5160895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  <a:ln w="28575" cap="sq">
            <a:solidFill>
              <a:srgbClr val="000000"/>
            </a:solidFill>
            <a:prstDash val="solid"/>
            <a:miter/>
          </a:ln>
        </p:spPr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78058" y="3741699"/>
            <a:ext cx="1810586" cy="862444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78034" y="4421705"/>
            <a:ext cx="1810874" cy="872701"/>
          </a:xfrm>
          <a:prstGeom prst="rect">
            <a:avLst/>
          </a:prstGeom>
        </p:spPr>
      </p:pic>
      <p:sp>
        <p:nvSpPr>
          <p:cNvPr id="17" name="Freeform 17"/>
          <p:cNvSpPr/>
          <p:nvPr/>
        </p:nvSpPr>
        <p:spPr>
          <a:xfrm>
            <a:off x="189317" y="5705475"/>
            <a:ext cx="10493090" cy="2272271"/>
          </a:xfrm>
          <a:custGeom>
            <a:avLst/>
            <a:gdLst/>
            <a:ahLst/>
            <a:cxnLst/>
            <a:rect l="l" t="t" r="r" b="b"/>
            <a:pathLst>
              <a:path w="10493090" h="2272271">
                <a:moveTo>
                  <a:pt x="0" y="0"/>
                </a:moveTo>
                <a:lnTo>
                  <a:pt x="10493089" y="0"/>
                </a:lnTo>
                <a:lnTo>
                  <a:pt x="10493089" y="2272271"/>
                </a:lnTo>
                <a:lnTo>
                  <a:pt x="0" y="227227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18" name="TextBox 18"/>
          <p:cNvSpPr txBox="1"/>
          <p:nvPr/>
        </p:nvSpPr>
        <p:spPr>
          <a:xfrm>
            <a:off x="1028700" y="890099"/>
            <a:ext cx="11156430" cy="1112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16"/>
              </a:lnSpc>
            </a:pPr>
            <a:r>
              <a:rPr lang="en-US" sz="6440" b="1">
                <a:solidFill>
                  <a:srgbClr val="0B132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Mathematical Modelling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020538" y="194604"/>
            <a:ext cx="4754303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Kollektif"/>
                <a:ea typeface="Kollektif"/>
                <a:cs typeface="Kollektif"/>
                <a:sym typeface="Kollektif"/>
              </a:rPr>
              <a:t>Bangladesh University of Engineering and Technology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3464734" y="9763125"/>
            <a:ext cx="4823266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Kollektif"/>
                <a:ea typeface="Kollektif"/>
                <a:cs typeface="Kollektif"/>
                <a:sym typeface="Kollektif"/>
              </a:rPr>
              <a:t>ME461: Control Engineering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 flipH="1">
            <a:off x="-2623119" y="-2629198"/>
            <a:ext cx="6656198" cy="5258396"/>
          </a:xfrm>
          <a:custGeom>
            <a:avLst/>
            <a:gdLst/>
            <a:ahLst/>
            <a:cxnLst/>
            <a:rect l="l" t="t" r="r" b="b"/>
            <a:pathLst>
              <a:path w="6656198" h="5258396">
                <a:moveTo>
                  <a:pt x="6656198" y="0"/>
                </a:moveTo>
                <a:lnTo>
                  <a:pt x="0" y="0"/>
                </a:lnTo>
                <a:lnTo>
                  <a:pt x="0" y="5258396"/>
                </a:lnTo>
                <a:lnTo>
                  <a:pt x="6656198" y="5258396"/>
                </a:lnTo>
                <a:lnTo>
                  <a:pt x="6656198" y="0"/>
                </a:lnTo>
                <a:close/>
              </a:path>
            </a:pathLst>
          </a:custGeom>
          <a:blipFill>
            <a:blip r:embed="rId2">
              <a:alphaModFix amt="2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 rot="-6078968">
            <a:off x="7178993" y="5215803"/>
            <a:ext cx="1786066" cy="9943550"/>
            <a:chOff x="0" y="0"/>
            <a:chExt cx="470404" cy="261887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70404" cy="2618877"/>
            </a:xfrm>
            <a:custGeom>
              <a:avLst/>
              <a:gdLst/>
              <a:ahLst/>
              <a:cxnLst/>
              <a:rect l="l" t="t" r="r" b="b"/>
              <a:pathLst>
                <a:path w="470404" h="2618877">
                  <a:moveTo>
                    <a:pt x="0" y="0"/>
                  </a:moveTo>
                  <a:lnTo>
                    <a:pt x="470404" y="0"/>
                  </a:lnTo>
                  <a:lnTo>
                    <a:pt x="470404" y="2618877"/>
                  </a:lnTo>
                  <a:lnTo>
                    <a:pt x="0" y="2618877"/>
                  </a:lnTo>
                  <a:close/>
                </a:path>
              </a:pathLst>
            </a:custGeom>
            <a:solidFill>
              <a:srgbClr val="659FB9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70404" cy="26665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-2655168">
            <a:off x="10241031" y="2517303"/>
            <a:ext cx="15424018" cy="7023258"/>
            <a:chOff x="0" y="0"/>
            <a:chExt cx="4062293" cy="184974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062293" cy="1849747"/>
            </a:xfrm>
            <a:custGeom>
              <a:avLst/>
              <a:gdLst/>
              <a:ahLst/>
              <a:cxnLst/>
              <a:rect l="l" t="t" r="r" b="b"/>
              <a:pathLst>
                <a:path w="4062293" h="1849747">
                  <a:moveTo>
                    <a:pt x="0" y="0"/>
                  </a:moveTo>
                  <a:lnTo>
                    <a:pt x="4062293" y="0"/>
                  </a:lnTo>
                  <a:lnTo>
                    <a:pt x="4062293" y="1849747"/>
                  </a:lnTo>
                  <a:lnTo>
                    <a:pt x="0" y="1849747"/>
                  </a:lnTo>
                  <a:close/>
                </a:path>
              </a:pathLst>
            </a:custGeom>
            <a:solidFill>
              <a:srgbClr val="0B1320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4062293" cy="18973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 rot="5400000" flipV="1">
            <a:off x="8259222" y="-2127715"/>
            <a:ext cx="11205779" cy="10911627"/>
          </a:xfrm>
          <a:custGeom>
            <a:avLst/>
            <a:gdLst/>
            <a:ahLst/>
            <a:cxnLst/>
            <a:rect l="l" t="t" r="r" b="b"/>
            <a:pathLst>
              <a:path w="11205779" h="10911627">
                <a:moveTo>
                  <a:pt x="0" y="10911628"/>
                </a:moveTo>
                <a:lnTo>
                  <a:pt x="11205779" y="10911628"/>
                </a:lnTo>
                <a:lnTo>
                  <a:pt x="11205779" y="0"/>
                </a:lnTo>
                <a:lnTo>
                  <a:pt x="0" y="0"/>
                </a:lnTo>
                <a:lnTo>
                  <a:pt x="0" y="10911628"/>
                </a:lnTo>
                <a:close/>
              </a:path>
            </a:pathLst>
          </a:custGeom>
          <a:blipFill>
            <a:blip r:embed="rId4">
              <a:alphaModFix amt="65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AutoShape 10"/>
          <p:cNvSpPr/>
          <p:nvPr/>
        </p:nvSpPr>
        <p:spPr>
          <a:xfrm rot="-10402021">
            <a:off x="8874479" y="9297528"/>
            <a:ext cx="9975266" cy="0"/>
          </a:xfrm>
          <a:prstGeom prst="line">
            <a:avLst/>
          </a:prstGeom>
          <a:ln w="38100" cap="flat">
            <a:solidFill>
              <a:srgbClr val="F3F6F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Freeform 11"/>
          <p:cNvSpPr/>
          <p:nvPr/>
        </p:nvSpPr>
        <p:spPr>
          <a:xfrm>
            <a:off x="16774842" y="0"/>
            <a:ext cx="1513158" cy="1513158"/>
          </a:xfrm>
          <a:custGeom>
            <a:avLst/>
            <a:gdLst/>
            <a:ahLst/>
            <a:cxnLst/>
            <a:rect l="l" t="t" r="r" b="b"/>
            <a:pathLst>
              <a:path w="1513158" h="1513158">
                <a:moveTo>
                  <a:pt x="0" y="0"/>
                </a:moveTo>
                <a:lnTo>
                  <a:pt x="1513158" y="0"/>
                </a:lnTo>
                <a:lnTo>
                  <a:pt x="1513158" y="1513158"/>
                </a:lnTo>
                <a:lnTo>
                  <a:pt x="0" y="151315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0936880" y="2800806"/>
            <a:ext cx="6613590" cy="5160894"/>
          </a:xfrm>
          <a:custGeom>
            <a:avLst/>
            <a:gdLst/>
            <a:ahLst/>
            <a:cxnLst/>
            <a:rect l="l" t="t" r="r" b="b"/>
            <a:pathLst>
              <a:path w="6613590" h="5160894">
                <a:moveTo>
                  <a:pt x="0" y="0"/>
                </a:moveTo>
                <a:lnTo>
                  <a:pt x="6613591" y="0"/>
                </a:lnTo>
                <a:lnTo>
                  <a:pt x="6613591" y="5160895"/>
                </a:lnTo>
                <a:lnTo>
                  <a:pt x="0" y="516089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  <a:ln w="28575" cap="sq">
            <a:solidFill>
              <a:srgbClr val="000000"/>
            </a:solidFill>
            <a:prstDash val="solid"/>
            <a:miter/>
          </a:ln>
        </p:spPr>
      </p:sp>
      <p:sp>
        <p:nvSpPr>
          <p:cNvPr id="13" name="Freeform 13"/>
          <p:cNvSpPr/>
          <p:nvPr/>
        </p:nvSpPr>
        <p:spPr>
          <a:xfrm>
            <a:off x="374103" y="2452747"/>
            <a:ext cx="10219212" cy="5508954"/>
          </a:xfrm>
          <a:custGeom>
            <a:avLst/>
            <a:gdLst/>
            <a:ahLst/>
            <a:cxnLst/>
            <a:rect l="l" t="t" r="r" b="b"/>
            <a:pathLst>
              <a:path w="10219212" h="5508954">
                <a:moveTo>
                  <a:pt x="0" y="0"/>
                </a:moveTo>
                <a:lnTo>
                  <a:pt x="10219211" y="0"/>
                </a:lnTo>
                <a:lnTo>
                  <a:pt x="10219211" y="5508954"/>
                </a:lnTo>
                <a:lnTo>
                  <a:pt x="0" y="550895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028700" y="890099"/>
            <a:ext cx="11156430" cy="1112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16"/>
              </a:lnSpc>
            </a:pPr>
            <a:r>
              <a:rPr lang="en-US" sz="6440" b="1">
                <a:solidFill>
                  <a:srgbClr val="0B132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Mathematical Modelling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2020538" y="194604"/>
            <a:ext cx="4754303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Kollektif"/>
                <a:ea typeface="Kollektif"/>
                <a:cs typeface="Kollektif"/>
                <a:sym typeface="Kollektif"/>
              </a:rPr>
              <a:t>Bangladesh University of Engineering and Technology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464734" y="9763125"/>
            <a:ext cx="4823266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Kollektif"/>
                <a:ea typeface="Kollektif"/>
                <a:cs typeface="Kollektif"/>
                <a:sym typeface="Kollektif"/>
              </a:rPr>
              <a:t>ME461: Control Engineering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 flipH="1">
            <a:off x="-2623119" y="-2629198"/>
            <a:ext cx="6656198" cy="5258396"/>
          </a:xfrm>
          <a:custGeom>
            <a:avLst/>
            <a:gdLst/>
            <a:ahLst/>
            <a:cxnLst/>
            <a:rect l="l" t="t" r="r" b="b"/>
            <a:pathLst>
              <a:path w="6656198" h="5258396">
                <a:moveTo>
                  <a:pt x="6656198" y="0"/>
                </a:moveTo>
                <a:lnTo>
                  <a:pt x="0" y="0"/>
                </a:lnTo>
                <a:lnTo>
                  <a:pt x="0" y="5258396"/>
                </a:lnTo>
                <a:lnTo>
                  <a:pt x="6656198" y="5258396"/>
                </a:lnTo>
                <a:lnTo>
                  <a:pt x="6656198" y="0"/>
                </a:lnTo>
                <a:close/>
              </a:path>
            </a:pathLst>
          </a:custGeom>
          <a:blipFill>
            <a:blip r:embed="rId2">
              <a:alphaModFix amt="2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 rot="-6078968">
            <a:off x="7178993" y="5215803"/>
            <a:ext cx="1786066" cy="9943550"/>
            <a:chOff x="0" y="0"/>
            <a:chExt cx="470404" cy="261887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70404" cy="2618877"/>
            </a:xfrm>
            <a:custGeom>
              <a:avLst/>
              <a:gdLst/>
              <a:ahLst/>
              <a:cxnLst/>
              <a:rect l="l" t="t" r="r" b="b"/>
              <a:pathLst>
                <a:path w="470404" h="2618877">
                  <a:moveTo>
                    <a:pt x="0" y="0"/>
                  </a:moveTo>
                  <a:lnTo>
                    <a:pt x="470404" y="0"/>
                  </a:lnTo>
                  <a:lnTo>
                    <a:pt x="470404" y="2618877"/>
                  </a:lnTo>
                  <a:lnTo>
                    <a:pt x="0" y="2618877"/>
                  </a:lnTo>
                  <a:close/>
                </a:path>
              </a:pathLst>
            </a:custGeom>
            <a:solidFill>
              <a:srgbClr val="659FB9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70404" cy="26665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-2655168">
            <a:off x="10241031" y="2517303"/>
            <a:ext cx="15424018" cy="7023258"/>
            <a:chOff x="0" y="0"/>
            <a:chExt cx="4062293" cy="184974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062293" cy="1849747"/>
            </a:xfrm>
            <a:custGeom>
              <a:avLst/>
              <a:gdLst/>
              <a:ahLst/>
              <a:cxnLst/>
              <a:rect l="l" t="t" r="r" b="b"/>
              <a:pathLst>
                <a:path w="4062293" h="1849747">
                  <a:moveTo>
                    <a:pt x="0" y="0"/>
                  </a:moveTo>
                  <a:lnTo>
                    <a:pt x="4062293" y="0"/>
                  </a:lnTo>
                  <a:lnTo>
                    <a:pt x="4062293" y="1849747"/>
                  </a:lnTo>
                  <a:lnTo>
                    <a:pt x="0" y="1849747"/>
                  </a:lnTo>
                  <a:close/>
                </a:path>
              </a:pathLst>
            </a:custGeom>
            <a:solidFill>
              <a:srgbClr val="0B1320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4062293" cy="18973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 rot="5400000" flipV="1">
            <a:off x="8259222" y="-2127715"/>
            <a:ext cx="11205779" cy="10911627"/>
          </a:xfrm>
          <a:custGeom>
            <a:avLst/>
            <a:gdLst/>
            <a:ahLst/>
            <a:cxnLst/>
            <a:rect l="l" t="t" r="r" b="b"/>
            <a:pathLst>
              <a:path w="11205779" h="10911627">
                <a:moveTo>
                  <a:pt x="0" y="10911628"/>
                </a:moveTo>
                <a:lnTo>
                  <a:pt x="11205779" y="10911628"/>
                </a:lnTo>
                <a:lnTo>
                  <a:pt x="11205779" y="0"/>
                </a:lnTo>
                <a:lnTo>
                  <a:pt x="0" y="0"/>
                </a:lnTo>
                <a:lnTo>
                  <a:pt x="0" y="10911628"/>
                </a:lnTo>
                <a:close/>
              </a:path>
            </a:pathLst>
          </a:custGeom>
          <a:blipFill>
            <a:blip r:embed="rId4">
              <a:alphaModFix amt="65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AutoShape 10"/>
          <p:cNvSpPr/>
          <p:nvPr/>
        </p:nvSpPr>
        <p:spPr>
          <a:xfrm rot="-10402021">
            <a:off x="8874479" y="9297528"/>
            <a:ext cx="9975266" cy="0"/>
          </a:xfrm>
          <a:prstGeom prst="line">
            <a:avLst/>
          </a:prstGeom>
          <a:ln w="38100" cap="flat">
            <a:solidFill>
              <a:srgbClr val="F3F6F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Freeform 11"/>
          <p:cNvSpPr/>
          <p:nvPr/>
        </p:nvSpPr>
        <p:spPr>
          <a:xfrm>
            <a:off x="16774842" y="0"/>
            <a:ext cx="1513158" cy="1513158"/>
          </a:xfrm>
          <a:custGeom>
            <a:avLst/>
            <a:gdLst/>
            <a:ahLst/>
            <a:cxnLst/>
            <a:rect l="l" t="t" r="r" b="b"/>
            <a:pathLst>
              <a:path w="1513158" h="1513158">
                <a:moveTo>
                  <a:pt x="0" y="0"/>
                </a:moveTo>
                <a:lnTo>
                  <a:pt x="1513158" y="0"/>
                </a:lnTo>
                <a:lnTo>
                  <a:pt x="1513158" y="1513158"/>
                </a:lnTo>
                <a:lnTo>
                  <a:pt x="0" y="151315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0936880" y="2800806"/>
            <a:ext cx="6613590" cy="5160894"/>
          </a:xfrm>
          <a:custGeom>
            <a:avLst/>
            <a:gdLst/>
            <a:ahLst/>
            <a:cxnLst/>
            <a:rect l="l" t="t" r="r" b="b"/>
            <a:pathLst>
              <a:path w="6613590" h="5160894">
                <a:moveTo>
                  <a:pt x="0" y="0"/>
                </a:moveTo>
                <a:lnTo>
                  <a:pt x="6613591" y="0"/>
                </a:lnTo>
                <a:lnTo>
                  <a:pt x="6613591" y="5160895"/>
                </a:lnTo>
                <a:lnTo>
                  <a:pt x="0" y="516089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  <a:ln w="28575" cap="sq">
            <a:solidFill>
              <a:srgbClr val="000000"/>
            </a:solidFill>
            <a:prstDash val="solid"/>
            <a:miter/>
          </a:ln>
        </p:spPr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1827" y="4550188"/>
            <a:ext cx="9744188" cy="5862074"/>
          </a:xfrm>
          <a:prstGeom prst="rect">
            <a:avLst/>
          </a:prstGeom>
        </p:spPr>
      </p:pic>
      <p:sp>
        <p:nvSpPr>
          <p:cNvPr id="14" name="Freeform 14"/>
          <p:cNvSpPr/>
          <p:nvPr/>
        </p:nvSpPr>
        <p:spPr>
          <a:xfrm>
            <a:off x="704980" y="1572233"/>
            <a:ext cx="9485673" cy="3571267"/>
          </a:xfrm>
          <a:custGeom>
            <a:avLst/>
            <a:gdLst/>
            <a:ahLst/>
            <a:cxnLst/>
            <a:rect l="l" t="t" r="r" b="b"/>
            <a:pathLst>
              <a:path w="9485673" h="3571267">
                <a:moveTo>
                  <a:pt x="0" y="0"/>
                </a:moveTo>
                <a:lnTo>
                  <a:pt x="9485674" y="0"/>
                </a:lnTo>
                <a:lnTo>
                  <a:pt x="9485674" y="3571267"/>
                </a:lnTo>
                <a:lnTo>
                  <a:pt x="0" y="357126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5" name="TextBox 15"/>
          <p:cNvSpPr txBox="1"/>
          <p:nvPr/>
        </p:nvSpPr>
        <p:spPr>
          <a:xfrm>
            <a:off x="1028700" y="890099"/>
            <a:ext cx="11156430" cy="1112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16"/>
              </a:lnSpc>
            </a:pPr>
            <a:r>
              <a:rPr lang="en-US" sz="6440" b="1">
                <a:solidFill>
                  <a:srgbClr val="0B132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Mathematical Modelling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020538" y="194604"/>
            <a:ext cx="4754303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Kollektif"/>
                <a:ea typeface="Kollektif"/>
                <a:cs typeface="Kollektif"/>
                <a:sym typeface="Kollektif"/>
              </a:rPr>
              <a:t>Bangladesh University of Engineering and Technology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3464734" y="9763125"/>
            <a:ext cx="4823266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Kollektif"/>
                <a:ea typeface="Kollektif"/>
                <a:cs typeface="Kollektif"/>
                <a:sym typeface="Kollektif"/>
              </a:rPr>
              <a:t>ME461: Control Engineering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 flipH="1">
            <a:off x="-2623119" y="-2629198"/>
            <a:ext cx="6656198" cy="5258396"/>
          </a:xfrm>
          <a:custGeom>
            <a:avLst/>
            <a:gdLst/>
            <a:ahLst/>
            <a:cxnLst/>
            <a:rect l="l" t="t" r="r" b="b"/>
            <a:pathLst>
              <a:path w="6656198" h="5258396">
                <a:moveTo>
                  <a:pt x="6656198" y="0"/>
                </a:moveTo>
                <a:lnTo>
                  <a:pt x="0" y="0"/>
                </a:lnTo>
                <a:lnTo>
                  <a:pt x="0" y="5258396"/>
                </a:lnTo>
                <a:lnTo>
                  <a:pt x="6656198" y="5258396"/>
                </a:lnTo>
                <a:lnTo>
                  <a:pt x="6656198" y="0"/>
                </a:lnTo>
                <a:close/>
              </a:path>
            </a:pathLst>
          </a:custGeom>
          <a:blipFill>
            <a:blip r:embed="rId2">
              <a:alphaModFix amt="2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 rot="-6078968">
            <a:off x="7178993" y="5215803"/>
            <a:ext cx="1786066" cy="9943550"/>
            <a:chOff x="0" y="0"/>
            <a:chExt cx="470404" cy="261887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70404" cy="2618877"/>
            </a:xfrm>
            <a:custGeom>
              <a:avLst/>
              <a:gdLst/>
              <a:ahLst/>
              <a:cxnLst/>
              <a:rect l="l" t="t" r="r" b="b"/>
              <a:pathLst>
                <a:path w="470404" h="2618877">
                  <a:moveTo>
                    <a:pt x="0" y="0"/>
                  </a:moveTo>
                  <a:lnTo>
                    <a:pt x="470404" y="0"/>
                  </a:lnTo>
                  <a:lnTo>
                    <a:pt x="470404" y="2618877"/>
                  </a:lnTo>
                  <a:lnTo>
                    <a:pt x="0" y="2618877"/>
                  </a:lnTo>
                  <a:close/>
                </a:path>
              </a:pathLst>
            </a:custGeom>
            <a:solidFill>
              <a:srgbClr val="659FB9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70404" cy="26665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-2655168">
            <a:off x="10241031" y="2517303"/>
            <a:ext cx="15424018" cy="7023258"/>
            <a:chOff x="0" y="0"/>
            <a:chExt cx="4062293" cy="184974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062293" cy="1849747"/>
            </a:xfrm>
            <a:custGeom>
              <a:avLst/>
              <a:gdLst/>
              <a:ahLst/>
              <a:cxnLst/>
              <a:rect l="l" t="t" r="r" b="b"/>
              <a:pathLst>
                <a:path w="4062293" h="1849747">
                  <a:moveTo>
                    <a:pt x="0" y="0"/>
                  </a:moveTo>
                  <a:lnTo>
                    <a:pt x="4062293" y="0"/>
                  </a:lnTo>
                  <a:lnTo>
                    <a:pt x="4062293" y="1849747"/>
                  </a:lnTo>
                  <a:lnTo>
                    <a:pt x="0" y="1849747"/>
                  </a:lnTo>
                  <a:close/>
                </a:path>
              </a:pathLst>
            </a:custGeom>
            <a:solidFill>
              <a:srgbClr val="0B1320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4062293" cy="18973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 rot="5400000" flipV="1">
            <a:off x="8259222" y="-2127715"/>
            <a:ext cx="11205779" cy="10911627"/>
          </a:xfrm>
          <a:custGeom>
            <a:avLst/>
            <a:gdLst/>
            <a:ahLst/>
            <a:cxnLst/>
            <a:rect l="l" t="t" r="r" b="b"/>
            <a:pathLst>
              <a:path w="11205779" h="10911627">
                <a:moveTo>
                  <a:pt x="0" y="10911628"/>
                </a:moveTo>
                <a:lnTo>
                  <a:pt x="11205779" y="10911628"/>
                </a:lnTo>
                <a:lnTo>
                  <a:pt x="11205779" y="0"/>
                </a:lnTo>
                <a:lnTo>
                  <a:pt x="0" y="0"/>
                </a:lnTo>
                <a:lnTo>
                  <a:pt x="0" y="10911628"/>
                </a:lnTo>
                <a:close/>
              </a:path>
            </a:pathLst>
          </a:custGeom>
          <a:blipFill>
            <a:blip r:embed="rId4">
              <a:alphaModFix amt="65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AutoShape 10"/>
          <p:cNvSpPr/>
          <p:nvPr/>
        </p:nvSpPr>
        <p:spPr>
          <a:xfrm rot="-10402021">
            <a:off x="8874479" y="9297528"/>
            <a:ext cx="9975266" cy="0"/>
          </a:xfrm>
          <a:prstGeom prst="line">
            <a:avLst/>
          </a:prstGeom>
          <a:ln w="38100" cap="flat">
            <a:solidFill>
              <a:srgbClr val="F3F6F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Freeform 11"/>
          <p:cNvSpPr/>
          <p:nvPr/>
        </p:nvSpPr>
        <p:spPr>
          <a:xfrm>
            <a:off x="16774842" y="0"/>
            <a:ext cx="1513158" cy="1513158"/>
          </a:xfrm>
          <a:custGeom>
            <a:avLst/>
            <a:gdLst/>
            <a:ahLst/>
            <a:cxnLst/>
            <a:rect l="l" t="t" r="r" b="b"/>
            <a:pathLst>
              <a:path w="1513158" h="1513158">
                <a:moveTo>
                  <a:pt x="0" y="0"/>
                </a:moveTo>
                <a:lnTo>
                  <a:pt x="1513158" y="0"/>
                </a:lnTo>
                <a:lnTo>
                  <a:pt x="1513158" y="1513158"/>
                </a:lnTo>
                <a:lnTo>
                  <a:pt x="0" y="151315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0917830" y="2781756"/>
            <a:ext cx="6613590" cy="5160894"/>
          </a:xfrm>
          <a:custGeom>
            <a:avLst/>
            <a:gdLst/>
            <a:ahLst/>
            <a:cxnLst/>
            <a:rect l="l" t="t" r="r" b="b"/>
            <a:pathLst>
              <a:path w="6613590" h="5160894">
                <a:moveTo>
                  <a:pt x="0" y="0"/>
                </a:moveTo>
                <a:lnTo>
                  <a:pt x="6613591" y="0"/>
                </a:lnTo>
                <a:lnTo>
                  <a:pt x="6613591" y="5160895"/>
                </a:lnTo>
                <a:lnTo>
                  <a:pt x="0" y="516089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  <a:ln w="28575" cap="sq">
            <a:solidFill>
              <a:srgbClr val="000000"/>
            </a:solidFill>
            <a:prstDash val="solid"/>
            <a:miter/>
          </a:ln>
        </p:spPr>
      </p:sp>
      <p:sp>
        <p:nvSpPr>
          <p:cNvPr id="13" name="TextBox 13"/>
          <p:cNvSpPr txBox="1"/>
          <p:nvPr/>
        </p:nvSpPr>
        <p:spPr>
          <a:xfrm>
            <a:off x="1028700" y="890099"/>
            <a:ext cx="11156430" cy="1112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16"/>
              </a:lnSpc>
            </a:pPr>
            <a:r>
              <a:rPr lang="en-US" sz="6440" b="1">
                <a:solidFill>
                  <a:srgbClr val="0B132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Mathematical Modelling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020538" y="194604"/>
            <a:ext cx="4754303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Kollektif"/>
                <a:ea typeface="Kollektif"/>
                <a:cs typeface="Kollektif"/>
                <a:sym typeface="Kollektif"/>
              </a:rPr>
              <a:t>Bangladesh University of Engineering and Technology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464734" y="9763125"/>
            <a:ext cx="4823266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Kollektif"/>
                <a:ea typeface="Kollektif"/>
                <a:cs typeface="Kollektif"/>
                <a:sym typeface="Kollektif"/>
              </a:rPr>
              <a:t>ME461: Control Engineering</a:t>
            </a: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539" y="1503766"/>
            <a:ext cx="9627628" cy="5719405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27133" y="6158585"/>
            <a:ext cx="9338440" cy="256226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 flipH="1">
            <a:off x="-2623119" y="-2629198"/>
            <a:ext cx="6656198" cy="5258396"/>
          </a:xfrm>
          <a:custGeom>
            <a:avLst/>
            <a:gdLst/>
            <a:ahLst/>
            <a:cxnLst/>
            <a:rect l="l" t="t" r="r" b="b"/>
            <a:pathLst>
              <a:path w="6656198" h="5258396">
                <a:moveTo>
                  <a:pt x="6656198" y="0"/>
                </a:moveTo>
                <a:lnTo>
                  <a:pt x="0" y="0"/>
                </a:lnTo>
                <a:lnTo>
                  <a:pt x="0" y="5258396"/>
                </a:lnTo>
                <a:lnTo>
                  <a:pt x="6656198" y="5258396"/>
                </a:lnTo>
                <a:lnTo>
                  <a:pt x="6656198" y="0"/>
                </a:lnTo>
                <a:close/>
              </a:path>
            </a:pathLst>
          </a:custGeom>
          <a:blipFill>
            <a:blip r:embed="rId2">
              <a:alphaModFix amt="2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 rot="-6078968">
            <a:off x="7178993" y="5215803"/>
            <a:ext cx="1786066" cy="9943550"/>
            <a:chOff x="0" y="0"/>
            <a:chExt cx="470404" cy="261887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70404" cy="2618877"/>
            </a:xfrm>
            <a:custGeom>
              <a:avLst/>
              <a:gdLst/>
              <a:ahLst/>
              <a:cxnLst/>
              <a:rect l="l" t="t" r="r" b="b"/>
              <a:pathLst>
                <a:path w="470404" h="2618877">
                  <a:moveTo>
                    <a:pt x="0" y="0"/>
                  </a:moveTo>
                  <a:lnTo>
                    <a:pt x="470404" y="0"/>
                  </a:lnTo>
                  <a:lnTo>
                    <a:pt x="470404" y="2618877"/>
                  </a:lnTo>
                  <a:lnTo>
                    <a:pt x="0" y="2618877"/>
                  </a:lnTo>
                  <a:close/>
                </a:path>
              </a:pathLst>
            </a:custGeom>
            <a:solidFill>
              <a:srgbClr val="659FB9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70404" cy="26665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-2655168">
            <a:off x="10241031" y="2517303"/>
            <a:ext cx="15424018" cy="7023258"/>
            <a:chOff x="0" y="0"/>
            <a:chExt cx="4062293" cy="184974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062293" cy="1849747"/>
            </a:xfrm>
            <a:custGeom>
              <a:avLst/>
              <a:gdLst/>
              <a:ahLst/>
              <a:cxnLst/>
              <a:rect l="l" t="t" r="r" b="b"/>
              <a:pathLst>
                <a:path w="4062293" h="1849747">
                  <a:moveTo>
                    <a:pt x="0" y="0"/>
                  </a:moveTo>
                  <a:lnTo>
                    <a:pt x="4062293" y="0"/>
                  </a:lnTo>
                  <a:lnTo>
                    <a:pt x="4062293" y="1849747"/>
                  </a:lnTo>
                  <a:lnTo>
                    <a:pt x="0" y="1849747"/>
                  </a:lnTo>
                  <a:close/>
                </a:path>
              </a:pathLst>
            </a:custGeom>
            <a:solidFill>
              <a:srgbClr val="0B1320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4062293" cy="18973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 rot="5400000" flipV="1">
            <a:off x="8259222" y="-2127715"/>
            <a:ext cx="11205779" cy="10911627"/>
          </a:xfrm>
          <a:custGeom>
            <a:avLst/>
            <a:gdLst/>
            <a:ahLst/>
            <a:cxnLst/>
            <a:rect l="l" t="t" r="r" b="b"/>
            <a:pathLst>
              <a:path w="11205779" h="10911627">
                <a:moveTo>
                  <a:pt x="0" y="10911628"/>
                </a:moveTo>
                <a:lnTo>
                  <a:pt x="11205779" y="10911628"/>
                </a:lnTo>
                <a:lnTo>
                  <a:pt x="11205779" y="0"/>
                </a:lnTo>
                <a:lnTo>
                  <a:pt x="0" y="0"/>
                </a:lnTo>
                <a:lnTo>
                  <a:pt x="0" y="10911628"/>
                </a:lnTo>
                <a:close/>
              </a:path>
            </a:pathLst>
          </a:custGeom>
          <a:blipFill>
            <a:blip r:embed="rId4">
              <a:alphaModFix amt="65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AutoShape 10"/>
          <p:cNvSpPr/>
          <p:nvPr/>
        </p:nvSpPr>
        <p:spPr>
          <a:xfrm rot="-10402021">
            <a:off x="8874479" y="9297528"/>
            <a:ext cx="9975266" cy="0"/>
          </a:xfrm>
          <a:prstGeom prst="line">
            <a:avLst/>
          </a:prstGeom>
          <a:ln w="38100" cap="flat">
            <a:solidFill>
              <a:srgbClr val="F3F6F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Freeform 11"/>
          <p:cNvSpPr/>
          <p:nvPr/>
        </p:nvSpPr>
        <p:spPr>
          <a:xfrm>
            <a:off x="16774842" y="0"/>
            <a:ext cx="1513158" cy="1513158"/>
          </a:xfrm>
          <a:custGeom>
            <a:avLst/>
            <a:gdLst/>
            <a:ahLst/>
            <a:cxnLst/>
            <a:rect l="l" t="t" r="r" b="b"/>
            <a:pathLst>
              <a:path w="1513158" h="1513158">
                <a:moveTo>
                  <a:pt x="0" y="0"/>
                </a:moveTo>
                <a:lnTo>
                  <a:pt x="1513158" y="0"/>
                </a:lnTo>
                <a:lnTo>
                  <a:pt x="1513158" y="1513158"/>
                </a:lnTo>
                <a:lnTo>
                  <a:pt x="0" y="151315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3139471" y="2863477"/>
            <a:ext cx="12009057" cy="6394823"/>
          </a:xfrm>
          <a:custGeom>
            <a:avLst/>
            <a:gdLst/>
            <a:ahLst/>
            <a:cxnLst/>
            <a:rect l="l" t="t" r="r" b="b"/>
            <a:pathLst>
              <a:path w="12009057" h="6394823">
                <a:moveTo>
                  <a:pt x="0" y="0"/>
                </a:moveTo>
                <a:lnTo>
                  <a:pt x="12009058" y="0"/>
                </a:lnTo>
                <a:lnTo>
                  <a:pt x="12009058" y="6394823"/>
                </a:lnTo>
                <a:lnTo>
                  <a:pt x="0" y="639482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028700" y="890099"/>
            <a:ext cx="11156430" cy="1112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16"/>
              </a:lnSpc>
            </a:pPr>
            <a:r>
              <a:rPr lang="en-US" sz="6440" b="1">
                <a:solidFill>
                  <a:srgbClr val="0B132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Mathematical Modelling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020538" y="194604"/>
            <a:ext cx="4754303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Kollektif"/>
                <a:ea typeface="Kollektif"/>
                <a:cs typeface="Kollektif"/>
                <a:sym typeface="Kollektif"/>
              </a:rPr>
              <a:t>Bangladesh University of Engineering and Technology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464734" y="9763125"/>
            <a:ext cx="4823266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Kollektif"/>
                <a:ea typeface="Kollektif"/>
                <a:cs typeface="Kollektif"/>
                <a:sym typeface="Kollektif"/>
              </a:rPr>
              <a:t>ME461: Control Engineering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742325" y="2266576"/>
            <a:ext cx="8803349" cy="596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>
                <a:solidFill>
                  <a:srgbClr val="000000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Model parameters of the self-balancing robot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 flipH="1">
            <a:off x="-2623119" y="-2629198"/>
            <a:ext cx="6656198" cy="5258396"/>
          </a:xfrm>
          <a:custGeom>
            <a:avLst/>
            <a:gdLst/>
            <a:ahLst/>
            <a:cxnLst/>
            <a:rect l="l" t="t" r="r" b="b"/>
            <a:pathLst>
              <a:path w="6656198" h="5258396">
                <a:moveTo>
                  <a:pt x="6656198" y="0"/>
                </a:moveTo>
                <a:lnTo>
                  <a:pt x="0" y="0"/>
                </a:lnTo>
                <a:lnTo>
                  <a:pt x="0" y="5258396"/>
                </a:lnTo>
                <a:lnTo>
                  <a:pt x="6656198" y="5258396"/>
                </a:lnTo>
                <a:lnTo>
                  <a:pt x="6656198" y="0"/>
                </a:lnTo>
                <a:close/>
              </a:path>
            </a:pathLst>
          </a:custGeom>
          <a:blipFill>
            <a:blip r:embed="rId2">
              <a:alphaModFix amt="2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 rot="-6078968">
            <a:off x="7178993" y="5215803"/>
            <a:ext cx="1786066" cy="9943550"/>
            <a:chOff x="0" y="0"/>
            <a:chExt cx="470404" cy="261887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70404" cy="2618877"/>
            </a:xfrm>
            <a:custGeom>
              <a:avLst/>
              <a:gdLst/>
              <a:ahLst/>
              <a:cxnLst/>
              <a:rect l="l" t="t" r="r" b="b"/>
              <a:pathLst>
                <a:path w="470404" h="2618877">
                  <a:moveTo>
                    <a:pt x="0" y="0"/>
                  </a:moveTo>
                  <a:lnTo>
                    <a:pt x="470404" y="0"/>
                  </a:lnTo>
                  <a:lnTo>
                    <a:pt x="470404" y="2618877"/>
                  </a:lnTo>
                  <a:lnTo>
                    <a:pt x="0" y="2618877"/>
                  </a:lnTo>
                  <a:close/>
                </a:path>
              </a:pathLst>
            </a:custGeom>
            <a:solidFill>
              <a:srgbClr val="659FB9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70404" cy="26665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-2655168">
            <a:off x="10241031" y="2517303"/>
            <a:ext cx="15424018" cy="7023258"/>
            <a:chOff x="0" y="0"/>
            <a:chExt cx="4062293" cy="184974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062293" cy="1849747"/>
            </a:xfrm>
            <a:custGeom>
              <a:avLst/>
              <a:gdLst/>
              <a:ahLst/>
              <a:cxnLst/>
              <a:rect l="l" t="t" r="r" b="b"/>
              <a:pathLst>
                <a:path w="4062293" h="1849747">
                  <a:moveTo>
                    <a:pt x="0" y="0"/>
                  </a:moveTo>
                  <a:lnTo>
                    <a:pt x="4062293" y="0"/>
                  </a:lnTo>
                  <a:lnTo>
                    <a:pt x="4062293" y="1849747"/>
                  </a:lnTo>
                  <a:lnTo>
                    <a:pt x="0" y="1849747"/>
                  </a:lnTo>
                  <a:close/>
                </a:path>
              </a:pathLst>
            </a:custGeom>
            <a:solidFill>
              <a:srgbClr val="0B1320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4062293" cy="18973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 rot="5400000" flipV="1">
            <a:off x="8402097" y="-2127715"/>
            <a:ext cx="11205779" cy="10911627"/>
          </a:xfrm>
          <a:custGeom>
            <a:avLst/>
            <a:gdLst/>
            <a:ahLst/>
            <a:cxnLst/>
            <a:rect l="l" t="t" r="r" b="b"/>
            <a:pathLst>
              <a:path w="11205779" h="10911627">
                <a:moveTo>
                  <a:pt x="0" y="10911628"/>
                </a:moveTo>
                <a:lnTo>
                  <a:pt x="11205779" y="10911628"/>
                </a:lnTo>
                <a:lnTo>
                  <a:pt x="11205779" y="0"/>
                </a:lnTo>
                <a:lnTo>
                  <a:pt x="0" y="0"/>
                </a:lnTo>
                <a:lnTo>
                  <a:pt x="0" y="10911628"/>
                </a:lnTo>
                <a:close/>
              </a:path>
            </a:pathLst>
          </a:custGeom>
          <a:blipFill>
            <a:blip r:embed="rId4">
              <a:alphaModFix amt="65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AutoShape 10"/>
          <p:cNvSpPr/>
          <p:nvPr/>
        </p:nvSpPr>
        <p:spPr>
          <a:xfrm rot="-10402021">
            <a:off x="8874479" y="9297528"/>
            <a:ext cx="9975266" cy="0"/>
          </a:xfrm>
          <a:prstGeom prst="line">
            <a:avLst/>
          </a:prstGeom>
          <a:ln w="38100" cap="flat">
            <a:solidFill>
              <a:srgbClr val="F3F6F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Freeform 11"/>
          <p:cNvSpPr/>
          <p:nvPr/>
        </p:nvSpPr>
        <p:spPr>
          <a:xfrm>
            <a:off x="16774842" y="0"/>
            <a:ext cx="1513158" cy="1513158"/>
          </a:xfrm>
          <a:custGeom>
            <a:avLst/>
            <a:gdLst/>
            <a:ahLst/>
            <a:cxnLst/>
            <a:rect l="l" t="t" r="r" b="b"/>
            <a:pathLst>
              <a:path w="1513158" h="1513158">
                <a:moveTo>
                  <a:pt x="0" y="0"/>
                </a:moveTo>
                <a:lnTo>
                  <a:pt x="1513158" y="0"/>
                </a:lnTo>
                <a:lnTo>
                  <a:pt x="1513158" y="1513158"/>
                </a:lnTo>
                <a:lnTo>
                  <a:pt x="0" y="151315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0161251" y="3448484"/>
            <a:ext cx="6613590" cy="5160894"/>
          </a:xfrm>
          <a:custGeom>
            <a:avLst/>
            <a:gdLst/>
            <a:ahLst/>
            <a:cxnLst/>
            <a:rect l="l" t="t" r="r" b="b"/>
            <a:pathLst>
              <a:path w="6613590" h="5160894">
                <a:moveTo>
                  <a:pt x="0" y="0"/>
                </a:moveTo>
                <a:lnTo>
                  <a:pt x="6613591" y="0"/>
                </a:lnTo>
                <a:lnTo>
                  <a:pt x="6613591" y="5160895"/>
                </a:lnTo>
                <a:lnTo>
                  <a:pt x="0" y="516089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  <a:ln w="28575" cap="sq">
            <a:solidFill>
              <a:srgbClr val="000000"/>
            </a:solidFill>
            <a:prstDash val="solid"/>
            <a:miter/>
          </a:ln>
        </p:spPr>
      </p:sp>
      <p:sp>
        <p:nvSpPr>
          <p:cNvPr id="13" name="TextBox 13"/>
          <p:cNvSpPr txBox="1"/>
          <p:nvPr/>
        </p:nvSpPr>
        <p:spPr>
          <a:xfrm>
            <a:off x="1028700" y="890099"/>
            <a:ext cx="11156430" cy="1112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16"/>
              </a:lnSpc>
            </a:pPr>
            <a:r>
              <a:rPr lang="en-US" sz="6440" b="1">
                <a:solidFill>
                  <a:srgbClr val="0B132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Mathematical Modelling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020538" y="194604"/>
            <a:ext cx="4754303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Kollektif"/>
                <a:ea typeface="Kollektif"/>
                <a:cs typeface="Kollektif"/>
                <a:sym typeface="Kollektif"/>
              </a:rPr>
              <a:t>Bangladesh University of Engineering and Technology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464734" y="9763125"/>
            <a:ext cx="4823266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Kollektif"/>
                <a:ea typeface="Kollektif"/>
                <a:cs typeface="Kollektif"/>
                <a:sym typeface="Kollektif"/>
              </a:rPr>
              <a:t>ME461: Control Engineering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28700" y="1955243"/>
            <a:ext cx="9889130" cy="1298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Using jacobian linearization of non linear systems about equilibrium points and taylor expansion of multivariable polynomial and putting the values of the constants, we can write</a:t>
            </a: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1664" y="4022433"/>
            <a:ext cx="4763971" cy="1214595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32894" y="3222360"/>
            <a:ext cx="2145921" cy="2713482"/>
          </a:xfrm>
          <a:prstGeom prst="rect">
            <a:avLst/>
          </a:prstGeom>
        </p:spPr>
      </p:pic>
      <p:sp>
        <p:nvSpPr>
          <p:cNvPr id="19" name="TextBox 19"/>
          <p:cNvSpPr txBox="1"/>
          <p:nvPr/>
        </p:nvSpPr>
        <p:spPr>
          <a:xfrm>
            <a:off x="7190816" y="4582106"/>
            <a:ext cx="2412637" cy="824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000000"/>
                </a:solidFill>
                <a:latin typeface="Cooper BT Light"/>
                <a:ea typeface="Cooper BT Light"/>
                <a:cs typeface="Cooper BT Light"/>
                <a:sym typeface="Cooper BT Light"/>
              </a:rPr>
              <a:t>given that at equilibrium point,</a:t>
            </a: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90841" y="5403750"/>
            <a:ext cx="6693858" cy="1525544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98841" y="6863152"/>
            <a:ext cx="7558310" cy="2946361"/>
          </a:xfrm>
          <a:prstGeom prst="rect">
            <a:avLst/>
          </a:prstGeom>
        </p:spPr>
      </p:pic>
      <p:pic>
        <p:nvPicPr>
          <p:cNvPr id="22" name="Picture 2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514026" y="7324347"/>
            <a:ext cx="1819210" cy="2023972"/>
          </a:xfrm>
          <a:prstGeom prst="rect">
            <a:avLst/>
          </a:prstGeom>
        </p:spPr>
      </p:pic>
      <p:sp>
        <p:nvSpPr>
          <p:cNvPr id="23" name="TextBox 23"/>
          <p:cNvSpPr txBox="1"/>
          <p:nvPr/>
        </p:nvSpPr>
        <p:spPr>
          <a:xfrm>
            <a:off x="1022954" y="6646491"/>
            <a:ext cx="5971822" cy="5032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200"/>
              </a:lnSpc>
              <a:spcBef>
                <a:spcPct val="0"/>
              </a:spcBef>
            </a:pPr>
            <a:r>
              <a:rPr lang="en-US" sz="30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From system parameters we get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 flipH="1">
            <a:off x="-2623119" y="-2629198"/>
            <a:ext cx="6656198" cy="5258396"/>
          </a:xfrm>
          <a:custGeom>
            <a:avLst/>
            <a:gdLst/>
            <a:ahLst/>
            <a:cxnLst/>
            <a:rect l="l" t="t" r="r" b="b"/>
            <a:pathLst>
              <a:path w="6656198" h="5258396">
                <a:moveTo>
                  <a:pt x="6656198" y="0"/>
                </a:moveTo>
                <a:lnTo>
                  <a:pt x="0" y="0"/>
                </a:lnTo>
                <a:lnTo>
                  <a:pt x="0" y="5258396"/>
                </a:lnTo>
                <a:lnTo>
                  <a:pt x="6656198" y="5258396"/>
                </a:lnTo>
                <a:lnTo>
                  <a:pt x="6656198" y="0"/>
                </a:lnTo>
                <a:close/>
              </a:path>
            </a:pathLst>
          </a:custGeom>
          <a:blipFill>
            <a:blip r:embed="rId2">
              <a:alphaModFix amt="2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 rot="-6078968">
            <a:off x="7178993" y="5215803"/>
            <a:ext cx="1786066" cy="9943550"/>
            <a:chOff x="0" y="0"/>
            <a:chExt cx="470404" cy="261887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70404" cy="2618877"/>
            </a:xfrm>
            <a:custGeom>
              <a:avLst/>
              <a:gdLst/>
              <a:ahLst/>
              <a:cxnLst/>
              <a:rect l="l" t="t" r="r" b="b"/>
              <a:pathLst>
                <a:path w="470404" h="2618877">
                  <a:moveTo>
                    <a:pt x="0" y="0"/>
                  </a:moveTo>
                  <a:lnTo>
                    <a:pt x="470404" y="0"/>
                  </a:lnTo>
                  <a:lnTo>
                    <a:pt x="470404" y="2618877"/>
                  </a:lnTo>
                  <a:lnTo>
                    <a:pt x="0" y="2618877"/>
                  </a:lnTo>
                  <a:close/>
                </a:path>
              </a:pathLst>
            </a:custGeom>
            <a:solidFill>
              <a:srgbClr val="659FB9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70404" cy="266650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-2655168">
            <a:off x="10241031" y="2517303"/>
            <a:ext cx="15424018" cy="7023258"/>
            <a:chOff x="0" y="0"/>
            <a:chExt cx="4062293" cy="1849747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062293" cy="1849747"/>
            </a:xfrm>
            <a:custGeom>
              <a:avLst/>
              <a:gdLst/>
              <a:ahLst/>
              <a:cxnLst/>
              <a:rect l="l" t="t" r="r" b="b"/>
              <a:pathLst>
                <a:path w="4062293" h="1849747">
                  <a:moveTo>
                    <a:pt x="0" y="0"/>
                  </a:moveTo>
                  <a:lnTo>
                    <a:pt x="4062293" y="0"/>
                  </a:lnTo>
                  <a:lnTo>
                    <a:pt x="4062293" y="1849747"/>
                  </a:lnTo>
                  <a:lnTo>
                    <a:pt x="0" y="1849747"/>
                  </a:lnTo>
                  <a:close/>
                </a:path>
              </a:pathLst>
            </a:custGeom>
            <a:solidFill>
              <a:srgbClr val="0B1320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4062293" cy="18973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 rot="5400000" flipV="1">
            <a:off x="8402097" y="-2127715"/>
            <a:ext cx="11205779" cy="10911627"/>
          </a:xfrm>
          <a:custGeom>
            <a:avLst/>
            <a:gdLst/>
            <a:ahLst/>
            <a:cxnLst/>
            <a:rect l="l" t="t" r="r" b="b"/>
            <a:pathLst>
              <a:path w="11205779" h="10911627">
                <a:moveTo>
                  <a:pt x="0" y="10911628"/>
                </a:moveTo>
                <a:lnTo>
                  <a:pt x="11205779" y="10911628"/>
                </a:lnTo>
                <a:lnTo>
                  <a:pt x="11205779" y="0"/>
                </a:lnTo>
                <a:lnTo>
                  <a:pt x="0" y="0"/>
                </a:lnTo>
                <a:lnTo>
                  <a:pt x="0" y="10911628"/>
                </a:lnTo>
                <a:close/>
              </a:path>
            </a:pathLst>
          </a:custGeom>
          <a:blipFill>
            <a:blip r:embed="rId4">
              <a:alphaModFix amt="65999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AutoShape 10"/>
          <p:cNvSpPr/>
          <p:nvPr/>
        </p:nvSpPr>
        <p:spPr>
          <a:xfrm rot="-10402021">
            <a:off x="8874479" y="9297528"/>
            <a:ext cx="9975266" cy="0"/>
          </a:xfrm>
          <a:prstGeom prst="line">
            <a:avLst/>
          </a:prstGeom>
          <a:ln w="38100" cap="flat">
            <a:solidFill>
              <a:srgbClr val="F3F6F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Freeform 11"/>
          <p:cNvSpPr/>
          <p:nvPr/>
        </p:nvSpPr>
        <p:spPr>
          <a:xfrm>
            <a:off x="16774842" y="0"/>
            <a:ext cx="1513158" cy="1513158"/>
          </a:xfrm>
          <a:custGeom>
            <a:avLst/>
            <a:gdLst/>
            <a:ahLst/>
            <a:cxnLst/>
            <a:rect l="l" t="t" r="r" b="b"/>
            <a:pathLst>
              <a:path w="1513158" h="1513158">
                <a:moveTo>
                  <a:pt x="0" y="0"/>
                </a:moveTo>
                <a:lnTo>
                  <a:pt x="1513158" y="0"/>
                </a:lnTo>
                <a:lnTo>
                  <a:pt x="1513158" y="1513158"/>
                </a:lnTo>
                <a:lnTo>
                  <a:pt x="0" y="151315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0161251" y="3448484"/>
            <a:ext cx="6613590" cy="5160894"/>
          </a:xfrm>
          <a:custGeom>
            <a:avLst/>
            <a:gdLst/>
            <a:ahLst/>
            <a:cxnLst/>
            <a:rect l="l" t="t" r="r" b="b"/>
            <a:pathLst>
              <a:path w="6613590" h="5160894">
                <a:moveTo>
                  <a:pt x="0" y="0"/>
                </a:moveTo>
                <a:lnTo>
                  <a:pt x="6613591" y="0"/>
                </a:lnTo>
                <a:lnTo>
                  <a:pt x="6613591" y="5160895"/>
                </a:lnTo>
                <a:lnTo>
                  <a:pt x="0" y="516089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  <a:ln w="28575" cap="sq">
            <a:solidFill>
              <a:srgbClr val="000000"/>
            </a:solidFill>
            <a:prstDash val="solid"/>
            <a:miter/>
          </a:ln>
        </p:spPr>
      </p:sp>
      <p:sp>
        <p:nvSpPr>
          <p:cNvPr id="13" name="TextBox 13"/>
          <p:cNvSpPr txBox="1"/>
          <p:nvPr/>
        </p:nvSpPr>
        <p:spPr>
          <a:xfrm>
            <a:off x="1028700" y="890099"/>
            <a:ext cx="11156430" cy="11127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016"/>
              </a:lnSpc>
            </a:pPr>
            <a:r>
              <a:rPr lang="en-US" sz="6440" b="1">
                <a:solidFill>
                  <a:srgbClr val="0B132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Mathematical Modelling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020538" y="194604"/>
            <a:ext cx="4754303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Kollektif"/>
                <a:ea typeface="Kollektif"/>
                <a:cs typeface="Kollektif"/>
                <a:sym typeface="Kollektif"/>
              </a:rPr>
              <a:t>Bangladesh University of Engineering and Technology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464734" y="9763125"/>
            <a:ext cx="4823266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Kollektif"/>
                <a:ea typeface="Kollektif"/>
                <a:cs typeface="Kollektif"/>
                <a:sym typeface="Kollektif"/>
              </a:rPr>
              <a:t>ME461: Control Engineering</a:t>
            </a: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17170" y="3187987"/>
            <a:ext cx="9738360" cy="2119856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17170" y="6106186"/>
            <a:ext cx="9738360" cy="1983906"/>
          </a:xfrm>
          <a:prstGeom prst="rect">
            <a:avLst/>
          </a:prstGeom>
        </p:spPr>
      </p:pic>
      <p:sp>
        <p:nvSpPr>
          <p:cNvPr id="18" name="TextBox 18"/>
          <p:cNvSpPr txBox="1"/>
          <p:nvPr/>
        </p:nvSpPr>
        <p:spPr>
          <a:xfrm>
            <a:off x="1028700" y="2180242"/>
            <a:ext cx="9132551" cy="1581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Mahler et al. [1] applied a full-state feedback controller using the linearized state-space model.</a:t>
            </a:r>
          </a:p>
          <a:p>
            <a:pPr algn="just">
              <a:lnSpc>
                <a:spcPts val="4200"/>
              </a:lnSpc>
              <a:spcBef>
                <a:spcPct val="0"/>
              </a:spcBef>
            </a:pPr>
            <a:r>
              <a:rPr lang="en-US" sz="3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control law is given by: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028700" y="4887865"/>
            <a:ext cx="8582602" cy="15265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060"/>
              </a:lnSpc>
              <a:spcBef>
                <a:spcPct val="0"/>
              </a:spcBef>
            </a:pPr>
            <a:r>
              <a:rPr lang="en-US" sz="29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feedback gain vector k was calculated using Ackermann’s formula. The resulting gains</a:t>
            </a:r>
          </a:p>
          <a:p>
            <a:pPr algn="just">
              <a:lnSpc>
                <a:spcPts val="4060"/>
              </a:lnSpc>
              <a:spcBef>
                <a:spcPct val="0"/>
              </a:spcBef>
            </a:pPr>
            <a:r>
              <a:rPr lang="en-US" sz="29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were: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2126549" y="5719717"/>
            <a:ext cx="4632681" cy="5258396"/>
          </a:xfrm>
          <a:custGeom>
            <a:avLst/>
            <a:gdLst/>
            <a:ahLst/>
            <a:cxnLst/>
            <a:rect l="l" t="t" r="r" b="b"/>
            <a:pathLst>
              <a:path w="4632681" h="5258396">
                <a:moveTo>
                  <a:pt x="0" y="0"/>
                </a:moveTo>
                <a:lnTo>
                  <a:pt x="4632680" y="0"/>
                </a:lnTo>
                <a:lnTo>
                  <a:pt x="4632680" y="5258396"/>
                </a:lnTo>
                <a:lnTo>
                  <a:pt x="0" y="52583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r="-43679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506896" y="21503"/>
            <a:ext cx="10024268" cy="20524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416"/>
              </a:lnSpc>
            </a:pPr>
            <a:r>
              <a:rPr lang="en-US" sz="7440" b="1">
                <a:solidFill>
                  <a:srgbClr val="0B132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System modelling</a:t>
            </a:r>
          </a:p>
          <a:p>
            <a:pPr algn="l">
              <a:lnSpc>
                <a:spcPts val="5880"/>
              </a:lnSpc>
            </a:pPr>
            <a:r>
              <a:rPr lang="en-US" sz="4200" b="1">
                <a:solidFill>
                  <a:srgbClr val="0B132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(without controller)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26826" y="9770053"/>
            <a:ext cx="3985945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B1320"/>
                </a:solidFill>
                <a:latin typeface="Kollektif"/>
                <a:ea typeface="Kollektif"/>
                <a:cs typeface="Kollektif"/>
                <a:sym typeface="Kollektif"/>
              </a:rPr>
              <a:t>22 july 2025</a:t>
            </a:r>
          </a:p>
        </p:txBody>
      </p:sp>
      <p:sp>
        <p:nvSpPr>
          <p:cNvPr id="5" name="Freeform 5"/>
          <p:cNvSpPr/>
          <p:nvPr/>
        </p:nvSpPr>
        <p:spPr>
          <a:xfrm rot="5400000" flipH="1" flipV="1">
            <a:off x="11208602" y="-4376167"/>
            <a:ext cx="5375133" cy="8472926"/>
          </a:xfrm>
          <a:custGeom>
            <a:avLst/>
            <a:gdLst/>
            <a:ahLst/>
            <a:cxnLst/>
            <a:rect l="l" t="t" r="r" b="b"/>
            <a:pathLst>
              <a:path w="5375133" h="8472926">
                <a:moveTo>
                  <a:pt x="5375133" y="8472925"/>
                </a:moveTo>
                <a:lnTo>
                  <a:pt x="0" y="8472925"/>
                </a:lnTo>
                <a:lnTo>
                  <a:pt x="0" y="0"/>
                </a:lnTo>
                <a:lnTo>
                  <a:pt x="5375133" y="0"/>
                </a:lnTo>
                <a:lnTo>
                  <a:pt x="5375133" y="847292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r="-61881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3464734" y="9763125"/>
            <a:ext cx="4823266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Kollektif"/>
                <a:ea typeface="Kollektif"/>
                <a:cs typeface="Kollektif"/>
                <a:sym typeface="Kollektif"/>
              </a:rPr>
              <a:t>ME461: Control Engineering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-688752" y="9258300"/>
            <a:ext cx="19665504" cy="3108808"/>
            <a:chOff x="0" y="0"/>
            <a:chExt cx="5179392" cy="81878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179392" cy="818781"/>
            </a:xfrm>
            <a:custGeom>
              <a:avLst/>
              <a:gdLst/>
              <a:ahLst/>
              <a:cxnLst/>
              <a:rect l="l" t="t" r="r" b="b"/>
              <a:pathLst>
                <a:path w="5179392" h="818781">
                  <a:moveTo>
                    <a:pt x="0" y="0"/>
                  </a:moveTo>
                  <a:lnTo>
                    <a:pt x="5179392" y="0"/>
                  </a:lnTo>
                  <a:lnTo>
                    <a:pt x="5179392" y="818781"/>
                  </a:lnTo>
                  <a:lnTo>
                    <a:pt x="0" y="818781"/>
                  </a:lnTo>
                  <a:close/>
                </a:path>
              </a:pathLst>
            </a:custGeom>
            <a:solidFill>
              <a:srgbClr val="0B13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5179392" cy="8664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 rot="-4483572">
            <a:off x="14307275" y="3776239"/>
            <a:ext cx="9271532" cy="3826079"/>
            <a:chOff x="0" y="0"/>
            <a:chExt cx="2441885" cy="100769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441885" cy="1007691"/>
            </a:xfrm>
            <a:custGeom>
              <a:avLst/>
              <a:gdLst/>
              <a:ahLst/>
              <a:cxnLst/>
              <a:rect l="l" t="t" r="r" b="b"/>
              <a:pathLst>
                <a:path w="2441885" h="1007691">
                  <a:moveTo>
                    <a:pt x="0" y="0"/>
                  </a:moveTo>
                  <a:lnTo>
                    <a:pt x="2441885" y="0"/>
                  </a:lnTo>
                  <a:lnTo>
                    <a:pt x="2441885" y="1007691"/>
                  </a:lnTo>
                  <a:lnTo>
                    <a:pt x="0" y="1007691"/>
                  </a:lnTo>
                  <a:close/>
                </a:path>
              </a:pathLst>
            </a:custGeom>
            <a:solidFill>
              <a:srgbClr val="497183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2441885" cy="10553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16774842" y="0"/>
            <a:ext cx="1513158" cy="1513158"/>
          </a:xfrm>
          <a:custGeom>
            <a:avLst/>
            <a:gdLst/>
            <a:ahLst/>
            <a:cxnLst/>
            <a:rect l="l" t="t" r="r" b="b"/>
            <a:pathLst>
              <a:path w="1513158" h="1513158">
                <a:moveTo>
                  <a:pt x="0" y="0"/>
                </a:moveTo>
                <a:lnTo>
                  <a:pt x="1513158" y="0"/>
                </a:lnTo>
                <a:lnTo>
                  <a:pt x="1513158" y="1513158"/>
                </a:lnTo>
                <a:lnTo>
                  <a:pt x="0" y="151315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2020538" y="194604"/>
            <a:ext cx="4754303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Kollektif"/>
                <a:ea typeface="Kollektif"/>
                <a:cs typeface="Kollektif"/>
                <a:sym typeface="Kollektif"/>
              </a:rPr>
              <a:t>Bangladesh University of Engineering and Technology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343400" y="2834007"/>
            <a:ext cx="7056872" cy="49784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060"/>
              </a:lnSpc>
              <a:spcBef>
                <a:spcPct val="0"/>
              </a:spcBef>
            </a:pPr>
            <a:r>
              <a:rPr lang="en-US" sz="29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From </a:t>
            </a:r>
            <a:r>
              <a:rPr lang="en-US" sz="2900" dirty="0" err="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linerarized</a:t>
            </a:r>
            <a:r>
              <a:rPr lang="en-US" sz="29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mathematical model,</a:t>
            </a: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923916" y="2715610"/>
            <a:ext cx="9738360" cy="3215386"/>
          </a:xfrm>
          <a:prstGeom prst="rect">
            <a:avLst/>
          </a:prstGeom>
        </p:spPr>
      </p:pic>
      <p:sp>
        <p:nvSpPr>
          <p:cNvPr id="17" name="TextBox 17"/>
          <p:cNvSpPr txBox="1"/>
          <p:nvPr/>
        </p:nvSpPr>
        <p:spPr>
          <a:xfrm>
            <a:off x="4495801" y="5632128"/>
            <a:ext cx="6904472" cy="49032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060"/>
              </a:lnSpc>
              <a:spcBef>
                <a:spcPct val="0"/>
              </a:spcBef>
            </a:pPr>
            <a:r>
              <a:rPr lang="en-US" sz="2900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From full-state feedback controller</a:t>
            </a: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26374" y="5552806"/>
            <a:ext cx="9738360" cy="266177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2126549" y="5719717"/>
            <a:ext cx="4632681" cy="5258396"/>
          </a:xfrm>
          <a:custGeom>
            <a:avLst/>
            <a:gdLst/>
            <a:ahLst/>
            <a:cxnLst/>
            <a:rect l="l" t="t" r="r" b="b"/>
            <a:pathLst>
              <a:path w="4632681" h="5258396">
                <a:moveTo>
                  <a:pt x="0" y="0"/>
                </a:moveTo>
                <a:lnTo>
                  <a:pt x="4632680" y="0"/>
                </a:lnTo>
                <a:lnTo>
                  <a:pt x="4632680" y="5258396"/>
                </a:lnTo>
                <a:lnTo>
                  <a:pt x="0" y="52583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r="-43679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506896" y="21503"/>
            <a:ext cx="10024268" cy="20524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416"/>
              </a:lnSpc>
            </a:pPr>
            <a:r>
              <a:rPr lang="en-US" sz="7440" b="1">
                <a:solidFill>
                  <a:srgbClr val="0B132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System modelling</a:t>
            </a:r>
          </a:p>
          <a:p>
            <a:pPr algn="l">
              <a:lnSpc>
                <a:spcPts val="5880"/>
              </a:lnSpc>
            </a:pPr>
            <a:r>
              <a:rPr lang="en-US" sz="4200" b="1">
                <a:solidFill>
                  <a:srgbClr val="0B132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(without controller)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226826" y="9770053"/>
            <a:ext cx="3985945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B1320"/>
                </a:solidFill>
                <a:latin typeface="Kollektif"/>
                <a:ea typeface="Kollektif"/>
                <a:cs typeface="Kollektif"/>
                <a:sym typeface="Kollektif"/>
              </a:rPr>
              <a:t>22 july 2025</a:t>
            </a:r>
          </a:p>
        </p:txBody>
      </p:sp>
      <p:sp>
        <p:nvSpPr>
          <p:cNvPr id="5" name="Freeform 5"/>
          <p:cNvSpPr/>
          <p:nvPr/>
        </p:nvSpPr>
        <p:spPr>
          <a:xfrm rot="5400000" flipH="1" flipV="1">
            <a:off x="11208602" y="-4376167"/>
            <a:ext cx="5375133" cy="8472926"/>
          </a:xfrm>
          <a:custGeom>
            <a:avLst/>
            <a:gdLst/>
            <a:ahLst/>
            <a:cxnLst/>
            <a:rect l="l" t="t" r="r" b="b"/>
            <a:pathLst>
              <a:path w="5375133" h="8472926">
                <a:moveTo>
                  <a:pt x="5375133" y="8472925"/>
                </a:moveTo>
                <a:lnTo>
                  <a:pt x="0" y="8472925"/>
                </a:lnTo>
                <a:lnTo>
                  <a:pt x="0" y="0"/>
                </a:lnTo>
                <a:lnTo>
                  <a:pt x="5375133" y="0"/>
                </a:lnTo>
                <a:lnTo>
                  <a:pt x="5375133" y="847292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r="-61881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3464734" y="9763125"/>
            <a:ext cx="4823266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Kollektif"/>
                <a:ea typeface="Kollektif"/>
                <a:cs typeface="Kollektif"/>
                <a:sym typeface="Kollektif"/>
              </a:rPr>
              <a:t>ME461: Control Engineering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-688752" y="9258300"/>
            <a:ext cx="19665504" cy="3108808"/>
            <a:chOff x="0" y="0"/>
            <a:chExt cx="5179392" cy="81878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179392" cy="818781"/>
            </a:xfrm>
            <a:custGeom>
              <a:avLst/>
              <a:gdLst/>
              <a:ahLst/>
              <a:cxnLst/>
              <a:rect l="l" t="t" r="r" b="b"/>
              <a:pathLst>
                <a:path w="5179392" h="818781">
                  <a:moveTo>
                    <a:pt x="0" y="0"/>
                  </a:moveTo>
                  <a:lnTo>
                    <a:pt x="5179392" y="0"/>
                  </a:lnTo>
                  <a:lnTo>
                    <a:pt x="5179392" y="818781"/>
                  </a:lnTo>
                  <a:lnTo>
                    <a:pt x="0" y="818781"/>
                  </a:lnTo>
                  <a:close/>
                </a:path>
              </a:pathLst>
            </a:custGeom>
            <a:solidFill>
              <a:srgbClr val="0B13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5179392" cy="8664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 rot="-4483572">
            <a:off x="14307275" y="3776239"/>
            <a:ext cx="9271532" cy="3826079"/>
            <a:chOff x="0" y="0"/>
            <a:chExt cx="2441885" cy="100769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441885" cy="1007691"/>
            </a:xfrm>
            <a:custGeom>
              <a:avLst/>
              <a:gdLst/>
              <a:ahLst/>
              <a:cxnLst/>
              <a:rect l="l" t="t" r="r" b="b"/>
              <a:pathLst>
                <a:path w="2441885" h="1007691">
                  <a:moveTo>
                    <a:pt x="0" y="0"/>
                  </a:moveTo>
                  <a:lnTo>
                    <a:pt x="2441885" y="0"/>
                  </a:lnTo>
                  <a:lnTo>
                    <a:pt x="2441885" y="1007691"/>
                  </a:lnTo>
                  <a:lnTo>
                    <a:pt x="0" y="1007691"/>
                  </a:lnTo>
                  <a:close/>
                </a:path>
              </a:pathLst>
            </a:custGeom>
            <a:solidFill>
              <a:srgbClr val="497183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2441885" cy="10553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16774842" y="0"/>
            <a:ext cx="1513158" cy="1513158"/>
          </a:xfrm>
          <a:custGeom>
            <a:avLst/>
            <a:gdLst/>
            <a:ahLst/>
            <a:cxnLst/>
            <a:rect l="l" t="t" r="r" b="b"/>
            <a:pathLst>
              <a:path w="1513158" h="1513158">
                <a:moveTo>
                  <a:pt x="0" y="0"/>
                </a:moveTo>
                <a:lnTo>
                  <a:pt x="1513158" y="0"/>
                </a:lnTo>
                <a:lnTo>
                  <a:pt x="1513158" y="1513158"/>
                </a:lnTo>
                <a:lnTo>
                  <a:pt x="0" y="151315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2020538" y="194604"/>
            <a:ext cx="4754303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Kollektif"/>
                <a:ea typeface="Kollektif"/>
                <a:cs typeface="Kollektif"/>
                <a:sym typeface="Kollektif"/>
              </a:rPr>
              <a:t>Bangladesh University of Engineering and Technology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44423" y="2092946"/>
            <a:ext cx="10225790" cy="4648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Block Diagram of the control system without controller: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782363" y="7025135"/>
            <a:ext cx="874871" cy="4648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Here,</a:t>
            </a: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15118" y="6432206"/>
            <a:ext cx="2145921" cy="2713482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42461" y="5875176"/>
            <a:ext cx="9738360" cy="3827541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283954" y="6494635"/>
            <a:ext cx="2377749" cy="2645377"/>
          </a:xfrm>
          <a:prstGeom prst="rect">
            <a:avLst/>
          </a:prstGeom>
        </p:spPr>
      </p:pic>
      <p:sp>
        <p:nvSpPr>
          <p:cNvPr id="20" name="TextBox 20"/>
          <p:cNvSpPr txBox="1"/>
          <p:nvPr/>
        </p:nvSpPr>
        <p:spPr>
          <a:xfrm>
            <a:off x="4716223" y="7570189"/>
            <a:ext cx="116324" cy="5003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Bernoru"/>
                <a:ea typeface="Bernoru"/>
                <a:cs typeface="Bernoru"/>
                <a:sym typeface="Bernoru"/>
              </a:rPr>
              <a:t>;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3193116" y="7570189"/>
            <a:ext cx="116324" cy="5003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000000"/>
                </a:solidFill>
                <a:latin typeface="Bernoru"/>
                <a:ea typeface="Bernoru"/>
                <a:cs typeface="Bernoru"/>
                <a:sym typeface="Bernoru"/>
              </a:rPr>
              <a:t>;</a:t>
            </a:r>
          </a:p>
        </p:txBody>
      </p:sp>
      <p:sp>
        <p:nvSpPr>
          <p:cNvPr id="22" name="AutoShape 22"/>
          <p:cNvSpPr/>
          <p:nvPr/>
        </p:nvSpPr>
        <p:spPr>
          <a:xfrm>
            <a:off x="1173640" y="4737269"/>
            <a:ext cx="868256" cy="4353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23" name="Freeform 23"/>
          <p:cNvSpPr/>
          <p:nvPr/>
        </p:nvSpPr>
        <p:spPr>
          <a:xfrm>
            <a:off x="2068317" y="4323782"/>
            <a:ext cx="870792" cy="870792"/>
          </a:xfrm>
          <a:custGeom>
            <a:avLst/>
            <a:gdLst/>
            <a:ahLst/>
            <a:cxnLst/>
            <a:rect l="l" t="t" r="r" b="b"/>
            <a:pathLst>
              <a:path w="870792" h="870792">
                <a:moveTo>
                  <a:pt x="0" y="0"/>
                </a:moveTo>
                <a:lnTo>
                  <a:pt x="870792" y="0"/>
                </a:lnTo>
                <a:lnTo>
                  <a:pt x="870792" y="870791"/>
                </a:lnTo>
                <a:lnTo>
                  <a:pt x="0" y="87079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24" name="AutoShape 24"/>
          <p:cNvSpPr/>
          <p:nvPr/>
        </p:nvSpPr>
        <p:spPr>
          <a:xfrm>
            <a:off x="2191136" y="4467924"/>
            <a:ext cx="632507" cy="59523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5" name="AutoShape 25"/>
          <p:cNvSpPr/>
          <p:nvPr/>
        </p:nvSpPr>
        <p:spPr>
          <a:xfrm flipH="1">
            <a:off x="2191136" y="4467924"/>
            <a:ext cx="632507" cy="59523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6" name="TextBox 26"/>
          <p:cNvSpPr txBox="1"/>
          <p:nvPr/>
        </p:nvSpPr>
        <p:spPr>
          <a:xfrm>
            <a:off x="2094996" y="4487324"/>
            <a:ext cx="192280" cy="4873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63"/>
              </a:lnSpc>
              <a:spcBef>
                <a:spcPct val="0"/>
              </a:spcBef>
            </a:pPr>
            <a:r>
              <a:rPr lang="en-US" sz="290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+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433850" y="4267450"/>
            <a:ext cx="139725" cy="4873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63"/>
              </a:lnSpc>
              <a:spcBef>
                <a:spcPct val="0"/>
              </a:spcBef>
            </a:pPr>
            <a:r>
              <a:rPr lang="en-US" sz="290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-</a:t>
            </a:r>
          </a:p>
        </p:txBody>
      </p:sp>
      <p:sp>
        <p:nvSpPr>
          <p:cNvPr id="28" name="AutoShape 28"/>
          <p:cNvSpPr/>
          <p:nvPr/>
        </p:nvSpPr>
        <p:spPr>
          <a:xfrm flipV="1">
            <a:off x="2939109" y="4754824"/>
            <a:ext cx="853465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29" name="TextBox 29"/>
          <p:cNvSpPr txBox="1"/>
          <p:nvPr/>
        </p:nvSpPr>
        <p:spPr>
          <a:xfrm>
            <a:off x="3255102" y="4162700"/>
            <a:ext cx="225584" cy="482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63"/>
              </a:lnSpc>
              <a:spcBef>
                <a:spcPct val="0"/>
              </a:spcBef>
            </a:pPr>
            <a:r>
              <a:rPr lang="en-US" sz="290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</a:t>
            </a:r>
          </a:p>
        </p:txBody>
      </p:sp>
      <p:grpSp>
        <p:nvGrpSpPr>
          <p:cNvPr id="30" name="Group 30"/>
          <p:cNvGrpSpPr/>
          <p:nvPr/>
        </p:nvGrpSpPr>
        <p:grpSpPr>
          <a:xfrm>
            <a:off x="3792574" y="4315075"/>
            <a:ext cx="714804" cy="870792"/>
            <a:chOff x="0" y="0"/>
            <a:chExt cx="204292" cy="248873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204292" cy="248873"/>
            </a:xfrm>
            <a:custGeom>
              <a:avLst/>
              <a:gdLst/>
              <a:ahLst/>
              <a:cxnLst/>
              <a:rect l="l" t="t" r="r" b="b"/>
              <a:pathLst>
                <a:path w="204292" h="248873">
                  <a:moveTo>
                    <a:pt x="0" y="0"/>
                  </a:moveTo>
                  <a:lnTo>
                    <a:pt x="204292" y="0"/>
                  </a:lnTo>
                  <a:lnTo>
                    <a:pt x="204292" y="248873"/>
                  </a:lnTo>
                  <a:lnTo>
                    <a:pt x="0" y="24887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0" y="-38100"/>
              <a:ext cx="204292" cy="2869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3981491" y="4496249"/>
            <a:ext cx="253233" cy="482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63"/>
              </a:lnSpc>
              <a:spcBef>
                <a:spcPct val="0"/>
              </a:spcBef>
            </a:pPr>
            <a:r>
              <a:rPr lang="en-US" sz="290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</a:t>
            </a:r>
          </a:p>
        </p:txBody>
      </p:sp>
      <p:sp>
        <p:nvSpPr>
          <p:cNvPr id="34" name="AutoShape 34"/>
          <p:cNvSpPr/>
          <p:nvPr/>
        </p:nvSpPr>
        <p:spPr>
          <a:xfrm>
            <a:off x="4507379" y="4750471"/>
            <a:ext cx="585923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35" name="Freeform 35"/>
          <p:cNvSpPr/>
          <p:nvPr/>
        </p:nvSpPr>
        <p:spPr>
          <a:xfrm>
            <a:off x="5093302" y="4315075"/>
            <a:ext cx="870792" cy="870792"/>
          </a:xfrm>
          <a:custGeom>
            <a:avLst/>
            <a:gdLst/>
            <a:ahLst/>
            <a:cxnLst/>
            <a:rect l="l" t="t" r="r" b="b"/>
            <a:pathLst>
              <a:path w="870792" h="870792">
                <a:moveTo>
                  <a:pt x="0" y="0"/>
                </a:moveTo>
                <a:lnTo>
                  <a:pt x="870791" y="0"/>
                </a:lnTo>
                <a:lnTo>
                  <a:pt x="870791" y="870791"/>
                </a:lnTo>
                <a:lnTo>
                  <a:pt x="0" y="87079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36" name="AutoShape 36"/>
          <p:cNvSpPr/>
          <p:nvPr/>
        </p:nvSpPr>
        <p:spPr>
          <a:xfrm>
            <a:off x="5216121" y="4459217"/>
            <a:ext cx="632507" cy="59523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7" name="AutoShape 37"/>
          <p:cNvSpPr/>
          <p:nvPr/>
        </p:nvSpPr>
        <p:spPr>
          <a:xfrm flipH="1">
            <a:off x="5216121" y="4459217"/>
            <a:ext cx="632507" cy="595236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8" name="TextBox 38"/>
          <p:cNvSpPr txBox="1"/>
          <p:nvPr/>
        </p:nvSpPr>
        <p:spPr>
          <a:xfrm>
            <a:off x="5119981" y="4478618"/>
            <a:ext cx="192280" cy="4873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63"/>
              </a:lnSpc>
              <a:spcBef>
                <a:spcPct val="0"/>
              </a:spcBef>
            </a:pPr>
            <a:r>
              <a:rPr lang="en-US" sz="290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+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5417592" y="4698492"/>
            <a:ext cx="139725" cy="4873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63"/>
              </a:lnSpc>
              <a:spcBef>
                <a:spcPct val="0"/>
              </a:spcBef>
            </a:pPr>
            <a:r>
              <a:rPr lang="en-US" sz="290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+</a:t>
            </a:r>
          </a:p>
        </p:txBody>
      </p:sp>
      <p:sp>
        <p:nvSpPr>
          <p:cNvPr id="40" name="AutoShape 40"/>
          <p:cNvSpPr/>
          <p:nvPr/>
        </p:nvSpPr>
        <p:spPr>
          <a:xfrm flipV="1">
            <a:off x="5951197" y="4761559"/>
            <a:ext cx="912201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41" name="TextBox 41"/>
          <p:cNvSpPr txBox="1"/>
          <p:nvPr/>
        </p:nvSpPr>
        <p:spPr>
          <a:xfrm>
            <a:off x="1505546" y="4198300"/>
            <a:ext cx="358009" cy="4854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86"/>
              </a:lnSpc>
              <a:spcBef>
                <a:spcPct val="0"/>
              </a:spcBef>
            </a:pPr>
            <a:r>
              <a:rPr lang="en-US" sz="2918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Vs</a:t>
            </a:r>
          </a:p>
        </p:txBody>
      </p:sp>
      <p:pic>
        <p:nvPicPr>
          <p:cNvPr id="42" name="Picture 42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175218" y="4166900"/>
            <a:ext cx="405814" cy="521102"/>
          </a:xfrm>
          <a:prstGeom prst="rect">
            <a:avLst/>
          </a:prstGeom>
        </p:spPr>
      </p:pic>
      <p:grpSp>
        <p:nvGrpSpPr>
          <p:cNvPr id="43" name="Group 43"/>
          <p:cNvGrpSpPr/>
          <p:nvPr/>
        </p:nvGrpSpPr>
        <p:grpSpPr>
          <a:xfrm>
            <a:off x="6889731" y="4310721"/>
            <a:ext cx="714804" cy="870792"/>
            <a:chOff x="0" y="0"/>
            <a:chExt cx="204292" cy="248873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204292" cy="248873"/>
            </a:xfrm>
            <a:custGeom>
              <a:avLst/>
              <a:gdLst/>
              <a:ahLst/>
              <a:cxnLst/>
              <a:rect l="l" t="t" r="r" b="b"/>
              <a:pathLst>
                <a:path w="204292" h="248873">
                  <a:moveTo>
                    <a:pt x="0" y="0"/>
                  </a:moveTo>
                  <a:lnTo>
                    <a:pt x="204292" y="0"/>
                  </a:lnTo>
                  <a:lnTo>
                    <a:pt x="204292" y="248873"/>
                  </a:lnTo>
                  <a:lnTo>
                    <a:pt x="0" y="24887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0" y="-38100"/>
              <a:ext cx="204292" cy="2869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46" name="Picture 46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008032" y="4339231"/>
            <a:ext cx="436459" cy="792341"/>
          </a:xfrm>
          <a:prstGeom prst="rect">
            <a:avLst/>
          </a:prstGeom>
        </p:spPr>
      </p:pic>
      <p:sp>
        <p:nvSpPr>
          <p:cNvPr id="47" name="AutoShape 47"/>
          <p:cNvSpPr/>
          <p:nvPr/>
        </p:nvSpPr>
        <p:spPr>
          <a:xfrm>
            <a:off x="7604535" y="4746117"/>
            <a:ext cx="1623601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48" name="AutoShape 48"/>
          <p:cNvSpPr/>
          <p:nvPr/>
        </p:nvSpPr>
        <p:spPr>
          <a:xfrm flipV="1">
            <a:off x="8015241" y="4746117"/>
            <a:ext cx="0" cy="1324416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9" name="AutoShape 49"/>
          <p:cNvSpPr/>
          <p:nvPr/>
        </p:nvSpPr>
        <p:spPr>
          <a:xfrm flipH="1">
            <a:off x="7074060" y="6070533"/>
            <a:ext cx="941181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grpSp>
        <p:nvGrpSpPr>
          <p:cNvPr id="50" name="Group 50"/>
          <p:cNvGrpSpPr/>
          <p:nvPr/>
        </p:nvGrpSpPr>
        <p:grpSpPr>
          <a:xfrm>
            <a:off x="6359256" y="5635137"/>
            <a:ext cx="714804" cy="870792"/>
            <a:chOff x="0" y="0"/>
            <a:chExt cx="953073" cy="1161055"/>
          </a:xfrm>
        </p:grpSpPr>
        <p:grpSp>
          <p:nvGrpSpPr>
            <p:cNvPr id="51" name="Group 51"/>
            <p:cNvGrpSpPr/>
            <p:nvPr/>
          </p:nvGrpSpPr>
          <p:grpSpPr>
            <a:xfrm>
              <a:off x="0" y="0"/>
              <a:ext cx="953073" cy="1161055"/>
              <a:chOff x="0" y="0"/>
              <a:chExt cx="204292" cy="248873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0" y="0"/>
                <a:ext cx="204292" cy="248873"/>
              </a:xfrm>
              <a:custGeom>
                <a:avLst/>
                <a:gdLst/>
                <a:ahLst/>
                <a:cxnLst/>
                <a:rect l="l" t="t" r="r" b="b"/>
                <a:pathLst>
                  <a:path w="204292" h="248873">
                    <a:moveTo>
                      <a:pt x="0" y="0"/>
                    </a:moveTo>
                    <a:lnTo>
                      <a:pt x="204292" y="0"/>
                    </a:lnTo>
                    <a:lnTo>
                      <a:pt x="204292" y="248873"/>
                    </a:lnTo>
                    <a:lnTo>
                      <a:pt x="0" y="248873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53" name="TextBox 53"/>
              <p:cNvSpPr txBox="1"/>
              <p:nvPr/>
            </p:nvSpPr>
            <p:spPr>
              <a:xfrm>
                <a:off x="0" y="-38100"/>
                <a:ext cx="204292" cy="2869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54" name="TextBox 54"/>
            <p:cNvSpPr txBox="1"/>
            <p:nvPr/>
          </p:nvSpPr>
          <p:spPr>
            <a:xfrm>
              <a:off x="283835" y="242656"/>
              <a:ext cx="329745" cy="6281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063"/>
                </a:lnSpc>
                <a:spcBef>
                  <a:spcPct val="0"/>
                </a:spcBef>
              </a:pPr>
              <a:r>
                <a:rPr lang="en-US" sz="2902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</a:t>
              </a:r>
            </a:p>
          </p:txBody>
        </p:sp>
      </p:grpSp>
      <p:sp>
        <p:nvSpPr>
          <p:cNvPr id="55" name="AutoShape 55"/>
          <p:cNvSpPr/>
          <p:nvPr/>
        </p:nvSpPr>
        <p:spPr>
          <a:xfrm>
            <a:off x="5528698" y="6070533"/>
            <a:ext cx="849428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6" name="AutoShape 56"/>
          <p:cNvSpPr/>
          <p:nvPr/>
        </p:nvSpPr>
        <p:spPr>
          <a:xfrm flipH="1" flipV="1">
            <a:off x="5528698" y="5185866"/>
            <a:ext cx="28620" cy="884666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57" name="AutoShape 57"/>
          <p:cNvSpPr/>
          <p:nvPr/>
        </p:nvSpPr>
        <p:spPr>
          <a:xfrm>
            <a:off x="8295006" y="3402738"/>
            <a:ext cx="0" cy="1343379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8" name="AutoShape 58"/>
          <p:cNvSpPr/>
          <p:nvPr/>
        </p:nvSpPr>
        <p:spPr>
          <a:xfrm flipH="1">
            <a:off x="5848628" y="3402738"/>
            <a:ext cx="2446379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grpSp>
        <p:nvGrpSpPr>
          <p:cNvPr id="59" name="Group 59"/>
          <p:cNvGrpSpPr/>
          <p:nvPr/>
        </p:nvGrpSpPr>
        <p:grpSpPr>
          <a:xfrm>
            <a:off x="5133823" y="2967342"/>
            <a:ext cx="714804" cy="870792"/>
            <a:chOff x="0" y="0"/>
            <a:chExt cx="204292" cy="248873"/>
          </a:xfrm>
        </p:grpSpPr>
        <p:sp>
          <p:nvSpPr>
            <p:cNvPr id="60" name="Freeform 60"/>
            <p:cNvSpPr/>
            <p:nvPr/>
          </p:nvSpPr>
          <p:spPr>
            <a:xfrm>
              <a:off x="0" y="0"/>
              <a:ext cx="204292" cy="248873"/>
            </a:xfrm>
            <a:custGeom>
              <a:avLst/>
              <a:gdLst/>
              <a:ahLst/>
              <a:cxnLst/>
              <a:rect l="l" t="t" r="r" b="b"/>
              <a:pathLst>
                <a:path w="204292" h="248873">
                  <a:moveTo>
                    <a:pt x="0" y="0"/>
                  </a:moveTo>
                  <a:lnTo>
                    <a:pt x="204292" y="0"/>
                  </a:lnTo>
                  <a:lnTo>
                    <a:pt x="204292" y="248873"/>
                  </a:lnTo>
                  <a:lnTo>
                    <a:pt x="0" y="24887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61" name="TextBox 61"/>
            <p:cNvSpPr txBox="1"/>
            <p:nvPr/>
          </p:nvSpPr>
          <p:spPr>
            <a:xfrm>
              <a:off x="0" y="-38100"/>
              <a:ext cx="204292" cy="2869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62" name="Picture 62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163505" y="3134724"/>
            <a:ext cx="631396" cy="536029"/>
          </a:xfrm>
          <a:prstGeom prst="rect">
            <a:avLst/>
          </a:prstGeom>
        </p:spPr>
      </p:pic>
      <p:sp>
        <p:nvSpPr>
          <p:cNvPr id="63" name="AutoShape 63"/>
          <p:cNvSpPr/>
          <p:nvPr/>
        </p:nvSpPr>
        <p:spPr>
          <a:xfrm>
            <a:off x="2503713" y="3402738"/>
            <a:ext cx="2630110" cy="1755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4" name="AutoShape 64"/>
          <p:cNvSpPr/>
          <p:nvPr/>
        </p:nvSpPr>
        <p:spPr>
          <a:xfrm>
            <a:off x="2503713" y="3420293"/>
            <a:ext cx="0" cy="89478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pic>
        <p:nvPicPr>
          <p:cNvPr id="65" name="Picture 65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429830" y="4373308"/>
            <a:ext cx="383417" cy="317974"/>
          </a:xfrm>
          <a:prstGeom prst="rect">
            <a:avLst/>
          </a:prstGeom>
        </p:spPr>
      </p:pic>
      <p:grpSp>
        <p:nvGrpSpPr>
          <p:cNvPr id="66" name="Group 66"/>
          <p:cNvGrpSpPr/>
          <p:nvPr/>
        </p:nvGrpSpPr>
        <p:grpSpPr>
          <a:xfrm>
            <a:off x="9254469" y="4268244"/>
            <a:ext cx="714804" cy="870792"/>
            <a:chOff x="0" y="0"/>
            <a:chExt cx="953073" cy="1161055"/>
          </a:xfrm>
        </p:grpSpPr>
        <p:grpSp>
          <p:nvGrpSpPr>
            <p:cNvPr id="67" name="Group 67"/>
            <p:cNvGrpSpPr/>
            <p:nvPr/>
          </p:nvGrpSpPr>
          <p:grpSpPr>
            <a:xfrm>
              <a:off x="0" y="0"/>
              <a:ext cx="953073" cy="1161055"/>
              <a:chOff x="0" y="0"/>
              <a:chExt cx="204292" cy="248873"/>
            </a:xfrm>
          </p:grpSpPr>
          <p:sp>
            <p:nvSpPr>
              <p:cNvPr id="68" name="Freeform 68"/>
              <p:cNvSpPr/>
              <p:nvPr/>
            </p:nvSpPr>
            <p:spPr>
              <a:xfrm>
                <a:off x="0" y="0"/>
                <a:ext cx="204292" cy="248873"/>
              </a:xfrm>
              <a:custGeom>
                <a:avLst/>
                <a:gdLst/>
                <a:ahLst/>
                <a:cxnLst/>
                <a:rect l="l" t="t" r="r" b="b"/>
                <a:pathLst>
                  <a:path w="204292" h="248873">
                    <a:moveTo>
                      <a:pt x="0" y="0"/>
                    </a:moveTo>
                    <a:lnTo>
                      <a:pt x="204292" y="0"/>
                    </a:lnTo>
                    <a:lnTo>
                      <a:pt x="204292" y="248873"/>
                    </a:lnTo>
                    <a:lnTo>
                      <a:pt x="0" y="248873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69" name="TextBox 69"/>
              <p:cNvSpPr txBox="1"/>
              <p:nvPr/>
            </p:nvSpPr>
            <p:spPr>
              <a:xfrm>
                <a:off x="0" y="-38100"/>
                <a:ext cx="204292" cy="2869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70" name="TextBox 70"/>
            <p:cNvSpPr txBox="1"/>
            <p:nvPr/>
          </p:nvSpPr>
          <p:spPr>
            <a:xfrm>
              <a:off x="283835" y="242656"/>
              <a:ext cx="329745" cy="6281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063"/>
                </a:lnSpc>
                <a:spcBef>
                  <a:spcPct val="0"/>
                </a:spcBef>
              </a:pPr>
              <a:r>
                <a:rPr lang="en-US" sz="2902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</a:t>
              </a:r>
            </a:p>
          </p:txBody>
        </p:sp>
      </p:grpSp>
      <p:sp>
        <p:nvSpPr>
          <p:cNvPr id="71" name="AutoShape 71"/>
          <p:cNvSpPr/>
          <p:nvPr/>
        </p:nvSpPr>
        <p:spPr>
          <a:xfrm>
            <a:off x="9969273" y="4703640"/>
            <a:ext cx="1793962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72" name="TextBox 72"/>
          <p:cNvSpPr txBox="1"/>
          <p:nvPr/>
        </p:nvSpPr>
        <p:spPr>
          <a:xfrm>
            <a:off x="10890920" y="4060853"/>
            <a:ext cx="153388" cy="4829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63"/>
              </a:lnSpc>
              <a:spcBef>
                <a:spcPct val="0"/>
              </a:spcBef>
            </a:pPr>
            <a:r>
              <a:rPr lang="en-US" sz="290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V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6896" y="2453"/>
            <a:ext cx="10024268" cy="23369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536"/>
              </a:lnSpc>
            </a:pPr>
            <a:r>
              <a:rPr lang="en-US" sz="8240" b="1">
                <a:solidFill>
                  <a:srgbClr val="0B132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System modelling</a:t>
            </a:r>
          </a:p>
          <a:p>
            <a:pPr algn="l">
              <a:lnSpc>
                <a:spcPts val="7000"/>
              </a:lnSpc>
            </a:pPr>
            <a:r>
              <a:rPr lang="en-US" sz="5000" b="1">
                <a:solidFill>
                  <a:srgbClr val="0B132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(without controller)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26826" y="9770053"/>
            <a:ext cx="3985945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B1320"/>
                </a:solidFill>
                <a:latin typeface="Kollektif"/>
                <a:ea typeface="Kollektif"/>
                <a:cs typeface="Kollektif"/>
                <a:sym typeface="Kollektif"/>
              </a:rPr>
              <a:t>22 july 2025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3464734" y="9763125"/>
            <a:ext cx="4823266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Kollektif"/>
                <a:ea typeface="Kollektif"/>
                <a:cs typeface="Kollektif"/>
                <a:sym typeface="Kollektif"/>
              </a:rPr>
              <a:t>ME461: Control Engineering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-1045625" y="-2827271"/>
            <a:ext cx="23055342" cy="15194379"/>
            <a:chOff x="0" y="0"/>
            <a:chExt cx="30740456" cy="20259172"/>
          </a:xfrm>
        </p:grpSpPr>
        <p:sp>
          <p:nvSpPr>
            <p:cNvPr id="6" name="Freeform 6"/>
            <p:cNvSpPr/>
            <p:nvPr/>
          </p:nvSpPr>
          <p:spPr>
            <a:xfrm rot="5400000">
              <a:off x="417144" y="12305995"/>
              <a:ext cx="6176907" cy="7011195"/>
            </a:xfrm>
            <a:custGeom>
              <a:avLst/>
              <a:gdLst/>
              <a:ahLst/>
              <a:cxnLst/>
              <a:rect l="l" t="t" r="r" b="b"/>
              <a:pathLst>
                <a:path w="6176907" h="7011195">
                  <a:moveTo>
                    <a:pt x="0" y="0"/>
                  </a:moveTo>
                  <a:lnTo>
                    <a:pt x="6176907" y="0"/>
                  </a:lnTo>
                  <a:lnTo>
                    <a:pt x="6176907" y="7011195"/>
                  </a:lnTo>
                  <a:lnTo>
                    <a:pt x="0" y="70111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48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r="-43679"/>
              </a:stretch>
            </a:blipFill>
          </p:spPr>
        </p:sp>
        <p:sp>
          <p:nvSpPr>
            <p:cNvPr id="7" name="Freeform 7"/>
            <p:cNvSpPr/>
            <p:nvPr/>
          </p:nvSpPr>
          <p:spPr>
            <a:xfrm rot="5400000" flipH="1" flipV="1">
              <a:off x="16338969" y="-2065195"/>
              <a:ext cx="7166844" cy="11297234"/>
            </a:xfrm>
            <a:custGeom>
              <a:avLst/>
              <a:gdLst/>
              <a:ahLst/>
              <a:cxnLst/>
              <a:rect l="l" t="t" r="r" b="b"/>
              <a:pathLst>
                <a:path w="7166844" h="11297234">
                  <a:moveTo>
                    <a:pt x="7166845" y="11297234"/>
                  </a:moveTo>
                  <a:lnTo>
                    <a:pt x="0" y="11297234"/>
                  </a:lnTo>
                  <a:lnTo>
                    <a:pt x="0" y="0"/>
                  </a:lnTo>
                  <a:lnTo>
                    <a:pt x="7166845" y="0"/>
                  </a:lnTo>
                  <a:lnTo>
                    <a:pt x="7166845" y="11297234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r="-61881"/>
              </a:stretch>
            </a:blipFill>
          </p:spPr>
        </p:sp>
        <p:grpSp>
          <p:nvGrpSpPr>
            <p:cNvPr id="8" name="Group 8"/>
            <p:cNvGrpSpPr/>
            <p:nvPr/>
          </p:nvGrpSpPr>
          <p:grpSpPr>
            <a:xfrm>
              <a:off x="475831" y="16114095"/>
              <a:ext cx="26220673" cy="4145077"/>
              <a:chOff x="0" y="0"/>
              <a:chExt cx="5179392" cy="818781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5179392" cy="818781"/>
              </a:xfrm>
              <a:custGeom>
                <a:avLst/>
                <a:gdLst/>
                <a:ahLst/>
                <a:cxnLst/>
                <a:rect l="l" t="t" r="r" b="b"/>
                <a:pathLst>
                  <a:path w="5179392" h="818781">
                    <a:moveTo>
                      <a:pt x="0" y="0"/>
                    </a:moveTo>
                    <a:lnTo>
                      <a:pt x="5179392" y="0"/>
                    </a:lnTo>
                    <a:lnTo>
                      <a:pt x="5179392" y="818781"/>
                    </a:lnTo>
                    <a:lnTo>
                      <a:pt x="0" y="818781"/>
                    </a:lnTo>
                    <a:close/>
                  </a:path>
                </a:pathLst>
              </a:custGeom>
              <a:solidFill>
                <a:srgbClr val="0B1320"/>
              </a:solidFill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-47625"/>
                <a:ext cx="5179392" cy="866406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 rot="-4483572">
              <a:off x="20470535" y="8804680"/>
              <a:ext cx="12362043" cy="5101438"/>
              <a:chOff x="0" y="0"/>
              <a:chExt cx="2441885" cy="1007692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0" y="0"/>
                <a:ext cx="2441885" cy="1007691"/>
              </a:xfrm>
              <a:custGeom>
                <a:avLst/>
                <a:gdLst/>
                <a:ahLst/>
                <a:cxnLst/>
                <a:rect l="l" t="t" r="r" b="b"/>
                <a:pathLst>
                  <a:path w="2441885" h="1007691">
                    <a:moveTo>
                      <a:pt x="0" y="0"/>
                    </a:moveTo>
                    <a:lnTo>
                      <a:pt x="2441885" y="0"/>
                    </a:lnTo>
                    <a:lnTo>
                      <a:pt x="2441885" y="1007691"/>
                    </a:lnTo>
                    <a:lnTo>
                      <a:pt x="0" y="1007691"/>
                    </a:lnTo>
                    <a:close/>
                  </a:path>
                </a:pathLst>
              </a:custGeom>
              <a:solidFill>
                <a:srgbClr val="497183"/>
              </a:solidFill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0" y="-47625"/>
                <a:ext cx="2441885" cy="105531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4" name="Freeform 14"/>
            <p:cNvSpPr/>
            <p:nvPr/>
          </p:nvSpPr>
          <p:spPr>
            <a:xfrm>
              <a:off x="23760623" y="3769695"/>
              <a:ext cx="2017545" cy="2017545"/>
            </a:xfrm>
            <a:custGeom>
              <a:avLst/>
              <a:gdLst/>
              <a:ahLst/>
              <a:cxnLst/>
              <a:rect l="l" t="t" r="r" b="b"/>
              <a:pathLst>
                <a:path w="2017545" h="2017545">
                  <a:moveTo>
                    <a:pt x="0" y="0"/>
                  </a:moveTo>
                  <a:lnTo>
                    <a:pt x="2017544" y="0"/>
                  </a:lnTo>
                  <a:lnTo>
                    <a:pt x="2017544" y="2017545"/>
                  </a:lnTo>
                  <a:lnTo>
                    <a:pt x="0" y="20175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17421552" y="4051393"/>
              <a:ext cx="6339071" cy="138747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3000">
                  <a:solidFill>
                    <a:srgbClr val="000000"/>
                  </a:solidFill>
                  <a:latin typeface="Kollektif"/>
                  <a:ea typeface="Kollektif"/>
                  <a:cs typeface="Kollektif"/>
                  <a:sym typeface="Kollektif"/>
                </a:rPr>
                <a:t>Bangladesh University of Engineering and Technology</a:t>
              </a:r>
            </a:p>
          </p:txBody>
        </p:sp>
      </p:grpSp>
      <p:pic>
        <p:nvPicPr>
          <p:cNvPr id="16" name="Picture 16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304634" y="1736332"/>
            <a:ext cx="9738360" cy="2242119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304634" y="2564941"/>
            <a:ext cx="9738360" cy="2153352"/>
          </a:xfrm>
          <a:prstGeom prst="rect">
            <a:avLst/>
          </a:prstGeom>
        </p:spPr>
      </p:pic>
      <p:sp>
        <p:nvSpPr>
          <p:cNvPr id="18" name="TextBox 18"/>
          <p:cNvSpPr txBox="1"/>
          <p:nvPr/>
        </p:nvSpPr>
        <p:spPr>
          <a:xfrm>
            <a:off x="636610" y="4308791"/>
            <a:ext cx="4087790" cy="39298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19"/>
              </a:lnSpc>
              <a:spcBef>
                <a:spcPct val="0"/>
              </a:spcBef>
            </a:pPr>
            <a:r>
              <a:rPr lang="en-US" sz="2299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Reduced block diagram</a:t>
            </a:r>
          </a:p>
        </p:txBody>
      </p:sp>
      <p:sp>
        <p:nvSpPr>
          <p:cNvPr id="19" name="AutoShape 19"/>
          <p:cNvSpPr/>
          <p:nvPr/>
        </p:nvSpPr>
        <p:spPr>
          <a:xfrm>
            <a:off x="637437" y="6061209"/>
            <a:ext cx="2917833" cy="63370"/>
          </a:xfrm>
          <a:prstGeom prst="line">
            <a:avLst/>
          </a:prstGeom>
          <a:ln w="7620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20" name="TextBox 20"/>
          <p:cNvSpPr txBox="1"/>
          <p:nvPr/>
        </p:nvSpPr>
        <p:spPr>
          <a:xfrm>
            <a:off x="1563354" y="4774247"/>
            <a:ext cx="888863" cy="12202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145"/>
              </a:lnSpc>
              <a:spcBef>
                <a:spcPct val="0"/>
              </a:spcBef>
            </a:pPr>
            <a:r>
              <a:rPr lang="en-US" sz="7246" dirty="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Vs</a:t>
            </a:r>
          </a:p>
        </p:txBody>
      </p:sp>
      <p:grpSp>
        <p:nvGrpSpPr>
          <p:cNvPr id="21" name="Group 21"/>
          <p:cNvGrpSpPr/>
          <p:nvPr/>
        </p:nvGrpSpPr>
        <p:grpSpPr>
          <a:xfrm>
            <a:off x="3555270" y="5451052"/>
            <a:ext cx="8777814" cy="1360414"/>
            <a:chOff x="0" y="0"/>
            <a:chExt cx="595179" cy="92243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595179" cy="92243"/>
            </a:xfrm>
            <a:custGeom>
              <a:avLst/>
              <a:gdLst/>
              <a:ahLst/>
              <a:cxnLst/>
              <a:rect l="l" t="t" r="r" b="b"/>
              <a:pathLst>
                <a:path w="595179" h="92243">
                  <a:moveTo>
                    <a:pt x="0" y="0"/>
                  </a:moveTo>
                  <a:lnTo>
                    <a:pt x="595179" y="0"/>
                  </a:lnTo>
                  <a:lnTo>
                    <a:pt x="595179" y="92243"/>
                  </a:lnTo>
                  <a:lnTo>
                    <a:pt x="0" y="9224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0" y="-38100"/>
              <a:ext cx="595179" cy="130343"/>
            </a:xfrm>
            <a:prstGeom prst="rect">
              <a:avLst/>
            </a:prstGeom>
          </p:spPr>
          <p:txBody>
            <a:bodyPr lIns="118636" tIns="118636" rIns="118636" bIns="118636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4" name="AutoShape 24"/>
          <p:cNvSpPr/>
          <p:nvPr/>
        </p:nvSpPr>
        <p:spPr>
          <a:xfrm flipV="1">
            <a:off x="12333083" y="6124580"/>
            <a:ext cx="3878097" cy="6680"/>
          </a:xfrm>
          <a:prstGeom prst="line">
            <a:avLst/>
          </a:prstGeom>
          <a:ln w="66675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25" name="TextBox 25"/>
          <p:cNvSpPr txBox="1"/>
          <p:nvPr/>
        </p:nvSpPr>
        <p:spPr>
          <a:xfrm>
            <a:off x="13304711" y="4930830"/>
            <a:ext cx="354626" cy="113037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395"/>
              </a:lnSpc>
              <a:spcBef>
                <a:spcPct val="0"/>
              </a:spcBef>
            </a:pPr>
            <a:r>
              <a:rPr lang="en-US" sz="671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V</a:t>
            </a:r>
          </a:p>
        </p:txBody>
      </p:sp>
      <p:pic>
        <p:nvPicPr>
          <p:cNvPr id="26" name="Picture 2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26700" y="4850093"/>
            <a:ext cx="9738360" cy="240346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6896" y="2453"/>
            <a:ext cx="10024268" cy="23369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536"/>
              </a:lnSpc>
            </a:pPr>
            <a:r>
              <a:rPr lang="en-US" sz="8240" b="1">
                <a:solidFill>
                  <a:srgbClr val="0B132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System modelling</a:t>
            </a:r>
          </a:p>
          <a:p>
            <a:pPr algn="l">
              <a:lnSpc>
                <a:spcPts val="7000"/>
              </a:lnSpc>
            </a:pPr>
            <a:r>
              <a:rPr lang="en-US" sz="5000" b="1">
                <a:solidFill>
                  <a:srgbClr val="0B132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(with controller)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226826" y="9770053"/>
            <a:ext cx="3985945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B1320"/>
                </a:solidFill>
                <a:latin typeface="Kollektif"/>
                <a:ea typeface="Kollektif"/>
                <a:cs typeface="Kollektif"/>
                <a:sym typeface="Kollektif"/>
              </a:rPr>
              <a:t>22 july 2025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3464734" y="9763125"/>
            <a:ext cx="4823266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Kollektif"/>
                <a:ea typeface="Kollektif"/>
                <a:cs typeface="Kollektif"/>
                <a:sym typeface="Kollektif"/>
              </a:rPr>
              <a:t>ME461: Control Engineering</a:t>
            </a:r>
          </a:p>
        </p:txBody>
      </p:sp>
      <p:sp>
        <p:nvSpPr>
          <p:cNvPr id="5" name="Freeform 5"/>
          <p:cNvSpPr/>
          <p:nvPr/>
        </p:nvSpPr>
        <p:spPr>
          <a:xfrm rot="5400000">
            <a:off x="-732768" y="6402225"/>
            <a:ext cx="4632681" cy="5258396"/>
          </a:xfrm>
          <a:custGeom>
            <a:avLst/>
            <a:gdLst/>
            <a:ahLst/>
            <a:cxnLst/>
            <a:rect l="l" t="t" r="r" b="b"/>
            <a:pathLst>
              <a:path w="4632681" h="5258396">
                <a:moveTo>
                  <a:pt x="0" y="0"/>
                </a:moveTo>
                <a:lnTo>
                  <a:pt x="4632681" y="0"/>
                </a:lnTo>
                <a:lnTo>
                  <a:pt x="4632681" y="5258397"/>
                </a:lnTo>
                <a:lnTo>
                  <a:pt x="0" y="52583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r="-43679"/>
            </a:stretch>
          </a:blipFill>
        </p:spPr>
      </p:sp>
      <p:sp>
        <p:nvSpPr>
          <p:cNvPr id="6" name="Freeform 6"/>
          <p:cNvSpPr/>
          <p:nvPr/>
        </p:nvSpPr>
        <p:spPr>
          <a:xfrm rot="5400000" flipH="1" flipV="1">
            <a:off x="11208602" y="-4376167"/>
            <a:ext cx="5375133" cy="8472926"/>
          </a:xfrm>
          <a:custGeom>
            <a:avLst/>
            <a:gdLst/>
            <a:ahLst/>
            <a:cxnLst/>
            <a:rect l="l" t="t" r="r" b="b"/>
            <a:pathLst>
              <a:path w="5375133" h="8472926">
                <a:moveTo>
                  <a:pt x="5375133" y="8472925"/>
                </a:moveTo>
                <a:lnTo>
                  <a:pt x="0" y="8472925"/>
                </a:lnTo>
                <a:lnTo>
                  <a:pt x="0" y="0"/>
                </a:lnTo>
                <a:lnTo>
                  <a:pt x="5375133" y="0"/>
                </a:lnTo>
                <a:lnTo>
                  <a:pt x="5375133" y="8472925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r="-61881"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-688752" y="9258300"/>
            <a:ext cx="19665504" cy="3108808"/>
            <a:chOff x="0" y="0"/>
            <a:chExt cx="5179392" cy="818781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179392" cy="818781"/>
            </a:xfrm>
            <a:custGeom>
              <a:avLst/>
              <a:gdLst/>
              <a:ahLst/>
              <a:cxnLst/>
              <a:rect l="l" t="t" r="r" b="b"/>
              <a:pathLst>
                <a:path w="5179392" h="818781">
                  <a:moveTo>
                    <a:pt x="0" y="0"/>
                  </a:moveTo>
                  <a:lnTo>
                    <a:pt x="5179392" y="0"/>
                  </a:lnTo>
                  <a:lnTo>
                    <a:pt x="5179392" y="818781"/>
                  </a:lnTo>
                  <a:lnTo>
                    <a:pt x="0" y="818781"/>
                  </a:lnTo>
                  <a:close/>
                </a:path>
              </a:pathLst>
            </a:custGeom>
            <a:solidFill>
              <a:srgbClr val="0B1320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5179392" cy="86640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0" name="Group 10"/>
          <p:cNvGrpSpPr/>
          <p:nvPr/>
        </p:nvGrpSpPr>
        <p:grpSpPr>
          <a:xfrm rot="-4483572">
            <a:off x="14307275" y="3776239"/>
            <a:ext cx="9271532" cy="3826079"/>
            <a:chOff x="0" y="0"/>
            <a:chExt cx="2441885" cy="100769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2441885" cy="1007691"/>
            </a:xfrm>
            <a:custGeom>
              <a:avLst/>
              <a:gdLst/>
              <a:ahLst/>
              <a:cxnLst/>
              <a:rect l="l" t="t" r="r" b="b"/>
              <a:pathLst>
                <a:path w="2441885" h="1007691">
                  <a:moveTo>
                    <a:pt x="0" y="0"/>
                  </a:moveTo>
                  <a:lnTo>
                    <a:pt x="2441885" y="0"/>
                  </a:lnTo>
                  <a:lnTo>
                    <a:pt x="2441885" y="1007691"/>
                  </a:lnTo>
                  <a:lnTo>
                    <a:pt x="0" y="1007691"/>
                  </a:lnTo>
                  <a:close/>
                </a:path>
              </a:pathLst>
            </a:custGeom>
            <a:solidFill>
              <a:srgbClr val="497183"/>
            </a:solidFill>
          </p:spPr>
        </p:sp>
        <p:sp>
          <p:nvSpPr>
            <p:cNvPr id="12" name="TextBox 12"/>
            <p:cNvSpPr txBox="1"/>
            <p:nvPr/>
          </p:nvSpPr>
          <p:spPr>
            <a:xfrm>
              <a:off x="0" y="-47625"/>
              <a:ext cx="2441885" cy="10553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3" name="Freeform 13"/>
          <p:cNvSpPr/>
          <p:nvPr/>
        </p:nvSpPr>
        <p:spPr>
          <a:xfrm>
            <a:off x="16774842" y="0"/>
            <a:ext cx="1513158" cy="1513158"/>
          </a:xfrm>
          <a:custGeom>
            <a:avLst/>
            <a:gdLst/>
            <a:ahLst/>
            <a:cxnLst/>
            <a:rect l="l" t="t" r="r" b="b"/>
            <a:pathLst>
              <a:path w="1513158" h="1513158">
                <a:moveTo>
                  <a:pt x="0" y="0"/>
                </a:moveTo>
                <a:lnTo>
                  <a:pt x="1513158" y="0"/>
                </a:lnTo>
                <a:lnTo>
                  <a:pt x="1513158" y="1513158"/>
                </a:lnTo>
                <a:lnTo>
                  <a:pt x="0" y="151315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4" name="TextBox 14"/>
          <p:cNvSpPr txBox="1"/>
          <p:nvPr/>
        </p:nvSpPr>
        <p:spPr>
          <a:xfrm>
            <a:off x="12020538" y="194604"/>
            <a:ext cx="4754303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Kollektif"/>
                <a:ea typeface="Kollektif"/>
                <a:cs typeface="Kollektif"/>
                <a:sym typeface="Kollektif"/>
              </a:rPr>
              <a:t>Bangladesh University of Engineering and Technology</a:t>
            </a:r>
          </a:p>
        </p:txBody>
      </p:sp>
      <p:sp>
        <p:nvSpPr>
          <p:cNvPr id="15" name="AutoShape 15"/>
          <p:cNvSpPr/>
          <p:nvPr/>
        </p:nvSpPr>
        <p:spPr>
          <a:xfrm>
            <a:off x="2472657" y="3885730"/>
            <a:ext cx="648995" cy="325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16" name="Freeform 16"/>
          <p:cNvSpPr/>
          <p:nvPr/>
        </p:nvSpPr>
        <p:spPr>
          <a:xfrm>
            <a:off x="3121652" y="3563539"/>
            <a:ext cx="650890" cy="650890"/>
          </a:xfrm>
          <a:custGeom>
            <a:avLst/>
            <a:gdLst/>
            <a:ahLst/>
            <a:cxnLst/>
            <a:rect l="l" t="t" r="r" b="b"/>
            <a:pathLst>
              <a:path w="650890" h="650890">
                <a:moveTo>
                  <a:pt x="0" y="0"/>
                </a:moveTo>
                <a:lnTo>
                  <a:pt x="650890" y="0"/>
                </a:lnTo>
                <a:lnTo>
                  <a:pt x="650890" y="650890"/>
                </a:lnTo>
                <a:lnTo>
                  <a:pt x="0" y="65089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7" name="AutoShape 17"/>
          <p:cNvSpPr/>
          <p:nvPr/>
        </p:nvSpPr>
        <p:spPr>
          <a:xfrm>
            <a:off x="3213455" y="3671281"/>
            <a:ext cx="472780" cy="444921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8" name="AutoShape 18"/>
          <p:cNvSpPr/>
          <p:nvPr/>
        </p:nvSpPr>
        <p:spPr>
          <a:xfrm flipH="1">
            <a:off x="3213455" y="3671281"/>
            <a:ext cx="472780" cy="444921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9" name="TextBox 19"/>
          <p:cNvSpPr txBox="1"/>
          <p:nvPr/>
        </p:nvSpPr>
        <p:spPr>
          <a:xfrm>
            <a:off x="3141593" y="3683281"/>
            <a:ext cx="143724" cy="366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37"/>
              </a:lnSpc>
              <a:spcBef>
                <a:spcPct val="0"/>
              </a:spcBef>
            </a:pPr>
            <a:r>
              <a:rPr lang="en-US" sz="216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+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394876" y="3847630"/>
            <a:ext cx="104440" cy="366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37"/>
              </a:lnSpc>
              <a:spcBef>
                <a:spcPct val="0"/>
              </a:spcBef>
            </a:pPr>
            <a:r>
              <a:rPr lang="en-US" sz="216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-</a:t>
            </a:r>
          </a:p>
        </p:txBody>
      </p:sp>
      <p:sp>
        <p:nvSpPr>
          <p:cNvPr id="21" name="AutoShape 21"/>
          <p:cNvSpPr/>
          <p:nvPr/>
        </p:nvSpPr>
        <p:spPr>
          <a:xfrm>
            <a:off x="3772608" y="3905867"/>
            <a:ext cx="40187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22" name="TextBox 22"/>
          <p:cNvSpPr txBox="1"/>
          <p:nvPr/>
        </p:nvSpPr>
        <p:spPr>
          <a:xfrm>
            <a:off x="3879490" y="3438854"/>
            <a:ext cx="158284" cy="3635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37"/>
              </a:lnSpc>
              <a:spcBef>
                <a:spcPct val="0"/>
              </a:spcBef>
            </a:pPr>
            <a:r>
              <a:rPr lang="en-US" sz="216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</a:t>
            </a:r>
          </a:p>
        </p:txBody>
      </p:sp>
      <p:grpSp>
        <p:nvGrpSpPr>
          <p:cNvPr id="23" name="Group 23"/>
          <p:cNvGrpSpPr/>
          <p:nvPr/>
        </p:nvGrpSpPr>
        <p:grpSpPr>
          <a:xfrm>
            <a:off x="4174484" y="3563539"/>
            <a:ext cx="1127534" cy="650890"/>
            <a:chOff x="0" y="0"/>
            <a:chExt cx="431122" cy="248873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431122" cy="248873"/>
            </a:xfrm>
            <a:custGeom>
              <a:avLst/>
              <a:gdLst/>
              <a:ahLst/>
              <a:cxnLst/>
              <a:rect l="l" t="t" r="r" b="b"/>
              <a:pathLst>
                <a:path w="431122" h="248873">
                  <a:moveTo>
                    <a:pt x="0" y="0"/>
                  </a:moveTo>
                  <a:lnTo>
                    <a:pt x="431122" y="0"/>
                  </a:lnTo>
                  <a:lnTo>
                    <a:pt x="431122" y="248873"/>
                  </a:lnTo>
                  <a:lnTo>
                    <a:pt x="0" y="24887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0" y="-38100"/>
              <a:ext cx="431122" cy="2869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4259777" y="3742338"/>
            <a:ext cx="972337" cy="2582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69"/>
              </a:lnSpc>
              <a:spcBef>
                <a:spcPct val="0"/>
              </a:spcBef>
            </a:pPr>
            <a:r>
              <a:rPr lang="en-US" sz="154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Controller</a:t>
            </a:r>
          </a:p>
        </p:txBody>
      </p:sp>
      <p:sp>
        <p:nvSpPr>
          <p:cNvPr id="27" name="AutoShape 27"/>
          <p:cNvSpPr/>
          <p:nvPr/>
        </p:nvSpPr>
        <p:spPr>
          <a:xfrm flipV="1">
            <a:off x="5299304" y="3905867"/>
            <a:ext cx="500551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28" name="TextBox 28"/>
          <p:cNvSpPr txBox="1"/>
          <p:nvPr/>
        </p:nvSpPr>
        <p:spPr>
          <a:xfrm>
            <a:off x="5456365" y="3438854"/>
            <a:ext cx="114653" cy="3635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37"/>
              </a:lnSpc>
              <a:spcBef>
                <a:spcPct val="0"/>
              </a:spcBef>
            </a:pPr>
            <a:r>
              <a:rPr lang="en-US" sz="216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</a:t>
            </a:r>
          </a:p>
        </p:txBody>
      </p:sp>
      <p:sp>
        <p:nvSpPr>
          <p:cNvPr id="29" name="Freeform 29"/>
          <p:cNvSpPr/>
          <p:nvPr/>
        </p:nvSpPr>
        <p:spPr>
          <a:xfrm>
            <a:off x="5787531" y="3561759"/>
            <a:ext cx="650890" cy="650890"/>
          </a:xfrm>
          <a:custGeom>
            <a:avLst/>
            <a:gdLst/>
            <a:ahLst/>
            <a:cxnLst/>
            <a:rect l="l" t="t" r="r" b="b"/>
            <a:pathLst>
              <a:path w="650890" h="650890">
                <a:moveTo>
                  <a:pt x="0" y="0"/>
                </a:moveTo>
                <a:lnTo>
                  <a:pt x="650890" y="0"/>
                </a:lnTo>
                <a:lnTo>
                  <a:pt x="650890" y="650890"/>
                </a:lnTo>
                <a:lnTo>
                  <a:pt x="0" y="65089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30" name="AutoShape 30"/>
          <p:cNvSpPr/>
          <p:nvPr/>
        </p:nvSpPr>
        <p:spPr>
          <a:xfrm>
            <a:off x="5879334" y="3669501"/>
            <a:ext cx="472780" cy="444921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1" name="AutoShape 31"/>
          <p:cNvSpPr/>
          <p:nvPr/>
        </p:nvSpPr>
        <p:spPr>
          <a:xfrm flipH="1">
            <a:off x="5879334" y="3669501"/>
            <a:ext cx="472780" cy="444921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2" name="TextBox 32"/>
          <p:cNvSpPr txBox="1"/>
          <p:nvPr/>
        </p:nvSpPr>
        <p:spPr>
          <a:xfrm>
            <a:off x="5807472" y="3681500"/>
            <a:ext cx="143724" cy="366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37"/>
              </a:lnSpc>
              <a:spcBef>
                <a:spcPct val="0"/>
              </a:spcBef>
            </a:pPr>
            <a:r>
              <a:rPr lang="en-US" sz="216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+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6060755" y="3517151"/>
            <a:ext cx="104440" cy="366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37"/>
              </a:lnSpc>
              <a:spcBef>
                <a:spcPct val="0"/>
              </a:spcBef>
            </a:pPr>
            <a:r>
              <a:rPr lang="en-US" sz="216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-</a:t>
            </a:r>
          </a:p>
        </p:txBody>
      </p:sp>
      <p:sp>
        <p:nvSpPr>
          <p:cNvPr id="34" name="AutoShape 34"/>
          <p:cNvSpPr/>
          <p:nvPr/>
        </p:nvSpPr>
        <p:spPr>
          <a:xfrm flipV="1">
            <a:off x="6438421" y="3883950"/>
            <a:ext cx="637939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35" name="TextBox 35"/>
          <p:cNvSpPr txBox="1"/>
          <p:nvPr/>
        </p:nvSpPr>
        <p:spPr>
          <a:xfrm>
            <a:off x="6674616" y="3438854"/>
            <a:ext cx="168617" cy="3635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37"/>
              </a:lnSpc>
              <a:spcBef>
                <a:spcPct val="0"/>
              </a:spcBef>
            </a:pPr>
            <a:r>
              <a:rPr lang="en-US" sz="216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</a:t>
            </a:r>
          </a:p>
        </p:txBody>
      </p:sp>
      <p:grpSp>
        <p:nvGrpSpPr>
          <p:cNvPr id="36" name="Group 36"/>
          <p:cNvGrpSpPr/>
          <p:nvPr/>
        </p:nvGrpSpPr>
        <p:grpSpPr>
          <a:xfrm>
            <a:off x="7076360" y="3555251"/>
            <a:ext cx="534294" cy="650890"/>
            <a:chOff x="0" y="0"/>
            <a:chExt cx="204292" cy="248873"/>
          </a:xfrm>
        </p:grpSpPr>
        <p:sp>
          <p:nvSpPr>
            <p:cNvPr id="37" name="Freeform 37"/>
            <p:cNvSpPr/>
            <p:nvPr/>
          </p:nvSpPr>
          <p:spPr>
            <a:xfrm>
              <a:off x="0" y="0"/>
              <a:ext cx="204292" cy="248873"/>
            </a:xfrm>
            <a:custGeom>
              <a:avLst/>
              <a:gdLst/>
              <a:ahLst/>
              <a:cxnLst/>
              <a:rect l="l" t="t" r="r" b="b"/>
              <a:pathLst>
                <a:path w="204292" h="248873">
                  <a:moveTo>
                    <a:pt x="0" y="0"/>
                  </a:moveTo>
                  <a:lnTo>
                    <a:pt x="204292" y="0"/>
                  </a:lnTo>
                  <a:lnTo>
                    <a:pt x="204292" y="248873"/>
                  </a:lnTo>
                  <a:lnTo>
                    <a:pt x="0" y="24887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0" y="-38100"/>
              <a:ext cx="204292" cy="2869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39" name="TextBox 39"/>
          <p:cNvSpPr txBox="1"/>
          <p:nvPr/>
        </p:nvSpPr>
        <p:spPr>
          <a:xfrm>
            <a:off x="7217569" y="3688171"/>
            <a:ext cx="189284" cy="3635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37"/>
              </a:lnSpc>
              <a:spcBef>
                <a:spcPct val="0"/>
              </a:spcBef>
            </a:pPr>
            <a:r>
              <a:rPr lang="en-US" sz="216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</a:t>
            </a:r>
          </a:p>
        </p:txBody>
      </p:sp>
      <p:sp>
        <p:nvSpPr>
          <p:cNvPr id="40" name="AutoShape 40"/>
          <p:cNvSpPr/>
          <p:nvPr/>
        </p:nvSpPr>
        <p:spPr>
          <a:xfrm>
            <a:off x="7610654" y="3880696"/>
            <a:ext cx="437960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41" name="Freeform 41"/>
          <p:cNvSpPr/>
          <p:nvPr/>
        </p:nvSpPr>
        <p:spPr>
          <a:xfrm>
            <a:off x="8048614" y="3555251"/>
            <a:ext cx="650890" cy="650890"/>
          </a:xfrm>
          <a:custGeom>
            <a:avLst/>
            <a:gdLst/>
            <a:ahLst/>
            <a:cxnLst/>
            <a:rect l="l" t="t" r="r" b="b"/>
            <a:pathLst>
              <a:path w="650890" h="650890">
                <a:moveTo>
                  <a:pt x="0" y="0"/>
                </a:moveTo>
                <a:lnTo>
                  <a:pt x="650890" y="0"/>
                </a:lnTo>
                <a:lnTo>
                  <a:pt x="650890" y="650890"/>
                </a:lnTo>
                <a:lnTo>
                  <a:pt x="0" y="65089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42" name="AutoShape 42"/>
          <p:cNvSpPr/>
          <p:nvPr/>
        </p:nvSpPr>
        <p:spPr>
          <a:xfrm>
            <a:off x="8140417" y="3662993"/>
            <a:ext cx="472780" cy="444921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3" name="AutoShape 43"/>
          <p:cNvSpPr/>
          <p:nvPr/>
        </p:nvSpPr>
        <p:spPr>
          <a:xfrm flipH="1">
            <a:off x="8140417" y="3662993"/>
            <a:ext cx="472780" cy="444921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4" name="TextBox 44"/>
          <p:cNvSpPr txBox="1"/>
          <p:nvPr/>
        </p:nvSpPr>
        <p:spPr>
          <a:xfrm>
            <a:off x="8068556" y="3674992"/>
            <a:ext cx="143724" cy="366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37"/>
              </a:lnSpc>
              <a:spcBef>
                <a:spcPct val="0"/>
              </a:spcBef>
            </a:pPr>
            <a:r>
              <a:rPr lang="en-US" sz="216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+</a:t>
            </a:r>
          </a:p>
        </p:txBody>
      </p:sp>
      <p:sp>
        <p:nvSpPr>
          <p:cNvPr id="45" name="TextBox 45"/>
          <p:cNvSpPr txBox="1"/>
          <p:nvPr/>
        </p:nvSpPr>
        <p:spPr>
          <a:xfrm>
            <a:off x="8291011" y="3839342"/>
            <a:ext cx="104440" cy="366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37"/>
              </a:lnSpc>
              <a:spcBef>
                <a:spcPct val="0"/>
              </a:spcBef>
            </a:pPr>
            <a:r>
              <a:rPr lang="en-US" sz="216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+</a:t>
            </a:r>
          </a:p>
        </p:txBody>
      </p:sp>
      <p:sp>
        <p:nvSpPr>
          <p:cNvPr id="46" name="AutoShape 46"/>
          <p:cNvSpPr/>
          <p:nvPr/>
        </p:nvSpPr>
        <p:spPr>
          <a:xfrm flipV="1">
            <a:off x="8689864" y="3888984"/>
            <a:ext cx="681842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47" name="TextBox 47"/>
          <p:cNvSpPr txBox="1"/>
          <p:nvPr/>
        </p:nvSpPr>
        <p:spPr>
          <a:xfrm>
            <a:off x="2720746" y="3480366"/>
            <a:ext cx="267601" cy="365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54"/>
              </a:lnSpc>
              <a:spcBef>
                <a:spcPct val="0"/>
              </a:spcBef>
            </a:pPr>
            <a:r>
              <a:rPr lang="en-US" sz="2181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Vs</a:t>
            </a:r>
          </a:p>
        </p:txBody>
      </p:sp>
      <p:pic>
        <p:nvPicPr>
          <p:cNvPr id="48" name="Picture 48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57313" y="3444495"/>
            <a:ext cx="303334" cy="389508"/>
          </a:xfrm>
          <a:prstGeom prst="rect">
            <a:avLst/>
          </a:prstGeom>
        </p:spPr>
      </p:pic>
      <p:grpSp>
        <p:nvGrpSpPr>
          <p:cNvPr id="49" name="Group 49"/>
          <p:cNvGrpSpPr/>
          <p:nvPr/>
        </p:nvGrpSpPr>
        <p:grpSpPr>
          <a:xfrm>
            <a:off x="9391389" y="3551997"/>
            <a:ext cx="534294" cy="650890"/>
            <a:chOff x="0" y="0"/>
            <a:chExt cx="204292" cy="248873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204292" cy="248873"/>
            </a:xfrm>
            <a:custGeom>
              <a:avLst/>
              <a:gdLst/>
              <a:ahLst/>
              <a:cxnLst/>
              <a:rect l="l" t="t" r="r" b="b"/>
              <a:pathLst>
                <a:path w="204292" h="248873">
                  <a:moveTo>
                    <a:pt x="0" y="0"/>
                  </a:moveTo>
                  <a:lnTo>
                    <a:pt x="204292" y="0"/>
                  </a:lnTo>
                  <a:lnTo>
                    <a:pt x="204292" y="248873"/>
                  </a:lnTo>
                  <a:lnTo>
                    <a:pt x="0" y="24887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0" y="-38100"/>
              <a:ext cx="204292" cy="2869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52" name="Picture 5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79816" y="3573307"/>
            <a:ext cx="326239" cy="592250"/>
          </a:xfrm>
          <a:prstGeom prst="rect">
            <a:avLst/>
          </a:prstGeom>
        </p:spPr>
      </p:pic>
      <p:sp>
        <p:nvSpPr>
          <p:cNvPr id="53" name="AutoShape 53"/>
          <p:cNvSpPr/>
          <p:nvPr/>
        </p:nvSpPr>
        <p:spPr>
          <a:xfrm>
            <a:off x="9925684" y="3877442"/>
            <a:ext cx="1213592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54" name="AutoShape 54"/>
          <p:cNvSpPr/>
          <p:nvPr/>
        </p:nvSpPr>
        <p:spPr>
          <a:xfrm flipV="1">
            <a:off x="10232674" y="3877442"/>
            <a:ext cx="0" cy="98996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5" name="AutoShape 55"/>
          <p:cNvSpPr/>
          <p:nvPr/>
        </p:nvSpPr>
        <p:spPr>
          <a:xfrm flipH="1">
            <a:off x="9529170" y="4867402"/>
            <a:ext cx="703504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grpSp>
        <p:nvGrpSpPr>
          <p:cNvPr id="56" name="Group 56"/>
          <p:cNvGrpSpPr/>
          <p:nvPr/>
        </p:nvGrpSpPr>
        <p:grpSpPr>
          <a:xfrm>
            <a:off x="8994875" y="4541957"/>
            <a:ext cx="534294" cy="650890"/>
            <a:chOff x="0" y="0"/>
            <a:chExt cx="712393" cy="867853"/>
          </a:xfrm>
        </p:grpSpPr>
        <p:grpSp>
          <p:nvGrpSpPr>
            <p:cNvPr id="57" name="Group 57"/>
            <p:cNvGrpSpPr/>
            <p:nvPr/>
          </p:nvGrpSpPr>
          <p:grpSpPr>
            <a:xfrm>
              <a:off x="0" y="0"/>
              <a:ext cx="712393" cy="867853"/>
              <a:chOff x="0" y="0"/>
              <a:chExt cx="204292" cy="248873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0" y="0"/>
                <a:ext cx="204292" cy="248873"/>
              </a:xfrm>
              <a:custGeom>
                <a:avLst/>
                <a:gdLst/>
                <a:ahLst/>
                <a:cxnLst/>
                <a:rect l="l" t="t" r="r" b="b"/>
                <a:pathLst>
                  <a:path w="204292" h="248873">
                    <a:moveTo>
                      <a:pt x="0" y="0"/>
                    </a:moveTo>
                    <a:lnTo>
                      <a:pt x="204292" y="0"/>
                    </a:lnTo>
                    <a:lnTo>
                      <a:pt x="204292" y="248873"/>
                    </a:lnTo>
                    <a:lnTo>
                      <a:pt x="0" y="248873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59" name="TextBox 59"/>
              <p:cNvSpPr txBox="1"/>
              <p:nvPr/>
            </p:nvSpPr>
            <p:spPr>
              <a:xfrm>
                <a:off x="0" y="-38100"/>
                <a:ext cx="204292" cy="2869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60" name="TextBox 60"/>
            <p:cNvSpPr txBox="1"/>
            <p:nvPr/>
          </p:nvSpPr>
          <p:spPr>
            <a:xfrm>
              <a:off x="212158" y="178876"/>
              <a:ext cx="246474" cy="4720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37"/>
                </a:lnSpc>
                <a:spcBef>
                  <a:spcPct val="0"/>
                </a:spcBef>
              </a:pPr>
              <a:r>
                <a:rPr lang="en-US" sz="216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A</a:t>
              </a:r>
            </a:p>
          </p:txBody>
        </p:sp>
      </p:grpSp>
      <p:sp>
        <p:nvSpPr>
          <p:cNvPr id="61" name="AutoShape 61"/>
          <p:cNvSpPr/>
          <p:nvPr/>
        </p:nvSpPr>
        <p:spPr>
          <a:xfrm>
            <a:off x="8374059" y="4867402"/>
            <a:ext cx="634921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2" name="AutoShape 62"/>
          <p:cNvSpPr/>
          <p:nvPr/>
        </p:nvSpPr>
        <p:spPr>
          <a:xfrm flipH="1" flipV="1">
            <a:off x="8374059" y="4206141"/>
            <a:ext cx="21393" cy="661261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63" name="AutoShape 63"/>
          <p:cNvSpPr/>
          <p:nvPr/>
        </p:nvSpPr>
        <p:spPr>
          <a:xfrm>
            <a:off x="10441790" y="2873307"/>
            <a:ext cx="0" cy="1004135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4" name="AutoShape 64"/>
          <p:cNvSpPr/>
          <p:nvPr/>
        </p:nvSpPr>
        <p:spPr>
          <a:xfrm flipH="1">
            <a:off x="8613197" y="2873307"/>
            <a:ext cx="1828593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grpSp>
        <p:nvGrpSpPr>
          <p:cNvPr id="65" name="Group 65"/>
          <p:cNvGrpSpPr/>
          <p:nvPr/>
        </p:nvGrpSpPr>
        <p:grpSpPr>
          <a:xfrm>
            <a:off x="8078902" y="2547862"/>
            <a:ext cx="534294" cy="650890"/>
            <a:chOff x="0" y="0"/>
            <a:chExt cx="204292" cy="248873"/>
          </a:xfrm>
        </p:grpSpPr>
        <p:sp>
          <p:nvSpPr>
            <p:cNvPr id="66" name="Freeform 66"/>
            <p:cNvSpPr/>
            <p:nvPr/>
          </p:nvSpPr>
          <p:spPr>
            <a:xfrm>
              <a:off x="0" y="0"/>
              <a:ext cx="204292" cy="248873"/>
            </a:xfrm>
            <a:custGeom>
              <a:avLst/>
              <a:gdLst/>
              <a:ahLst/>
              <a:cxnLst/>
              <a:rect l="l" t="t" r="r" b="b"/>
              <a:pathLst>
                <a:path w="204292" h="248873">
                  <a:moveTo>
                    <a:pt x="0" y="0"/>
                  </a:moveTo>
                  <a:lnTo>
                    <a:pt x="204292" y="0"/>
                  </a:lnTo>
                  <a:lnTo>
                    <a:pt x="204292" y="248873"/>
                  </a:lnTo>
                  <a:lnTo>
                    <a:pt x="0" y="24887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0" y="-38100"/>
              <a:ext cx="204292" cy="2869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68" name="Picture 68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01088" y="2672975"/>
            <a:ext cx="471948" cy="400665"/>
          </a:xfrm>
          <a:prstGeom prst="rect">
            <a:avLst/>
          </a:prstGeom>
        </p:spPr>
      </p:pic>
      <p:sp>
        <p:nvSpPr>
          <p:cNvPr id="69" name="AutoShape 69"/>
          <p:cNvSpPr/>
          <p:nvPr/>
        </p:nvSpPr>
        <p:spPr>
          <a:xfrm>
            <a:off x="6112976" y="2873307"/>
            <a:ext cx="1965927" cy="1312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0" name="AutoShape 70"/>
          <p:cNvSpPr/>
          <p:nvPr/>
        </p:nvSpPr>
        <p:spPr>
          <a:xfrm>
            <a:off x="6112976" y="2886429"/>
            <a:ext cx="0" cy="668822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pic>
        <p:nvPicPr>
          <p:cNvPr id="71" name="Picture 71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542565" y="3598778"/>
            <a:ext cx="286592" cy="237675"/>
          </a:xfrm>
          <a:prstGeom prst="rect">
            <a:avLst/>
          </a:prstGeom>
        </p:spPr>
      </p:pic>
      <p:grpSp>
        <p:nvGrpSpPr>
          <p:cNvPr id="72" name="Group 72"/>
          <p:cNvGrpSpPr/>
          <p:nvPr/>
        </p:nvGrpSpPr>
        <p:grpSpPr>
          <a:xfrm>
            <a:off x="11158958" y="3520247"/>
            <a:ext cx="534294" cy="650890"/>
            <a:chOff x="0" y="0"/>
            <a:chExt cx="712393" cy="867853"/>
          </a:xfrm>
        </p:grpSpPr>
        <p:grpSp>
          <p:nvGrpSpPr>
            <p:cNvPr id="73" name="Group 73"/>
            <p:cNvGrpSpPr/>
            <p:nvPr/>
          </p:nvGrpSpPr>
          <p:grpSpPr>
            <a:xfrm>
              <a:off x="0" y="0"/>
              <a:ext cx="712393" cy="867853"/>
              <a:chOff x="0" y="0"/>
              <a:chExt cx="204292" cy="248873"/>
            </a:xfrm>
          </p:grpSpPr>
          <p:sp>
            <p:nvSpPr>
              <p:cNvPr id="74" name="Freeform 74"/>
              <p:cNvSpPr/>
              <p:nvPr/>
            </p:nvSpPr>
            <p:spPr>
              <a:xfrm>
                <a:off x="0" y="0"/>
                <a:ext cx="204292" cy="248873"/>
              </a:xfrm>
              <a:custGeom>
                <a:avLst/>
                <a:gdLst/>
                <a:ahLst/>
                <a:cxnLst/>
                <a:rect l="l" t="t" r="r" b="b"/>
                <a:pathLst>
                  <a:path w="204292" h="248873">
                    <a:moveTo>
                      <a:pt x="0" y="0"/>
                    </a:moveTo>
                    <a:lnTo>
                      <a:pt x="204292" y="0"/>
                    </a:lnTo>
                    <a:lnTo>
                      <a:pt x="204292" y="248873"/>
                    </a:lnTo>
                    <a:lnTo>
                      <a:pt x="0" y="248873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  <a:ln w="38100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75" name="TextBox 75"/>
              <p:cNvSpPr txBox="1"/>
              <p:nvPr/>
            </p:nvSpPr>
            <p:spPr>
              <a:xfrm>
                <a:off x="0" y="-38100"/>
                <a:ext cx="204292" cy="28697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60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76" name="TextBox 76"/>
            <p:cNvSpPr txBox="1"/>
            <p:nvPr/>
          </p:nvSpPr>
          <p:spPr>
            <a:xfrm>
              <a:off x="212158" y="178876"/>
              <a:ext cx="246474" cy="47200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37"/>
                </a:lnSpc>
                <a:spcBef>
                  <a:spcPct val="0"/>
                </a:spcBef>
              </a:pPr>
              <a:r>
                <a:rPr lang="en-US" sz="216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S</a:t>
              </a:r>
            </a:p>
          </p:txBody>
        </p:sp>
      </p:grpSp>
      <p:sp>
        <p:nvSpPr>
          <p:cNvPr id="77" name="AutoShape 77"/>
          <p:cNvSpPr/>
          <p:nvPr/>
        </p:nvSpPr>
        <p:spPr>
          <a:xfrm>
            <a:off x="11693253" y="3845692"/>
            <a:ext cx="1340932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78" name="AutoShape 78"/>
          <p:cNvSpPr/>
          <p:nvPr/>
        </p:nvSpPr>
        <p:spPr>
          <a:xfrm flipV="1">
            <a:off x="12028893" y="3845692"/>
            <a:ext cx="0" cy="1829296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9" name="AutoShape 79"/>
          <p:cNvSpPr/>
          <p:nvPr/>
        </p:nvSpPr>
        <p:spPr>
          <a:xfrm flipV="1">
            <a:off x="3447097" y="5674988"/>
            <a:ext cx="8581797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0" name="AutoShape 80"/>
          <p:cNvSpPr/>
          <p:nvPr/>
        </p:nvSpPr>
        <p:spPr>
          <a:xfrm flipV="1">
            <a:off x="3447097" y="4214429"/>
            <a:ext cx="0" cy="1460558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81" name="TextBox 81"/>
          <p:cNvSpPr txBox="1"/>
          <p:nvPr/>
        </p:nvSpPr>
        <p:spPr>
          <a:xfrm>
            <a:off x="12382155" y="3362726"/>
            <a:ext cx="114653" cy="3635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37"/>
              </a:lnSpc>
              <a:spcBef>
                <a:spcPct val="0"/>
              </a:spcBef>
            </a:pPr>
            <a:r>
              <a:rPr lang="en-US" sz="216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V</a:t>
            </a:r>
          </a:p>
        </p:txBody>
      </p:sp>
      <p:sp>
        <p:nvSpPr>
          <p:cNvPr id="82" name="TextBox 82"/>
          <p:cNvSpPr txBox="1"/>
          <p:nvPr/>
        </p:nvSpPr>
        <p:spPr>
          <a:xfrm>
            <a:off x="-1512817" y="6021522"/>
            <a:ext cx="10024268" cy="372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reduced block diagram with controller:</a:t>
            </a:r>
          </a:p>
        </p:txBody>
      </p:sp>
      <p:sp>
        <p:nvSpPr>
          <p:cNvPr id="83" name="AutoShape 83"/>
          <p:cNvSpPr/>
          <p:nvPr/>
        </p:nvSpPr>
        <p:spPr>
          <a:xfrm>
            <a:off x="2472731" y="7435219"/>
            <a:ext cx="732771" cy="3674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84" name="Freeform 84"/>
          <p:cNvSpPr/>
          <p:nvPr/>
        </p:nvSpPr>
        <p:spPr>
          <a:xfrm>
            <a:off x="3205503" y="7071438"/>
            <a:ext cx="734911" cy="734911"/>
          </a:xfrm>
          <a:custGeom>
            <a:avLst/>
            <a:gdLst/>
            <a:ahLst/>
            <a:cxnLst/>
            <a:rect l="l" t="t" r="r" b="b"/>
            <a:pathLst>
              <a:path w="734911" h="734911">
                <a:moveTo>
                  <a:pt x="0" y="0"/>
                </a:moveTo>
                <a:lnTo>
                  <a:pt x="734911" y="0"/>
                </a:lnTo>
                <a:lnTo>
                  <a:pt x="734911" y="734911"/>
                </a:lnTo>
                <a:lnTo>
                  <a:pt x="0" y="734911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85" name="AutoShape 85"/>
          <p:cNvSpPr/>
          <p:nvPr/>
        </p:nvSpPr>
        <p:spPr>
          <a:xfrm>
            <a:off x="3309157" y="7193088"/>
            <a:ext cx="533809" cy="502354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6" name="AutoShape 86"/>
          <p:cNvSpPr/>
          <p:nvPr/>
        </p:nvSpPr>
        <p:spPr>
          <a:xfrm flipH="1">
            <a:off x="3309157" y="7193088"/>
            <a:ext cx="533809" cy="502354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7" name="TextBox 87"/>
          <p:cNvSpPr txBox="1"/>
          <p:nvPr/>
        </p:nvSpPr>
        <p:spPr>
          <a:xfrm>
            <a:off x="3228019" y="7211554"/>
            <a:ext cx="162276" cy="409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29"/>
              </a:lnSpc>
              <a:spcBef>
                <a:spcPct val="0"/>
              </a:spcBef>
            </a:pPr>
            <a:r>
              <a:rPr lang="en-US" sz="244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+</a:t>
            </a:r>
          </a:p>
        </p:txBody>
      </p:sp>
      <p:sp>
        <p:nvSpPr>
          <p:cNvPr id="88" name="TextBox 88"/>
          <p:cNvSpPr txBox="1"/>
          <p:nvPr/>
        </p:nvSpPr>
        <p:spPr>
          <a:xfrm>
            <a:off x="3513997" y="7397119"/>
            <a:ext cx="117922" cy="4092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29"/>
              </a:lnSpc>
              <a:spcBef>
                <a:spcPct val="0"/>
              </a:spcBef>
            </a:pPr>
            <a:r>
              <a:rPr lang="en-US" sz="244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-</a:t>
            </a:r>
          </a:p>
        </p:txBody>
      </p:sp>
      <p:sp>
        <p:nvSpPr>
          <p:cNvPr id="89" name="AutoShape 89"/>
          <p:cNvSpPr/>
          <p:nvPr/>
        </p:nvSpPr>
        <p:spPr>
          <a:xfrm>
            <a:off x="3940489" y="7457955"/>
            <a:ext cx="453753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grpSp>
        <p:nvGrpSpPr>
          <p:cNvPr id="90" name="Group 90"/>
          <p:cNvGrpSpPr/>
          <p:nvPr/>
        </p:nvGrpSpPr>
        <p:grpSpPr>
          <a:xfrm>
            <a:off x="4394242" y="7071438"/>
            <a:ext cx="1273084" cy="734911"/>
            <a:chOff x="0" y="0"/>
            <a:chExt cx="431122" cy="248873"/>
          </a:xfrm>
        </p:grpSpPr>
        <p:sp>
          <p:nvSpPr>
            <p:cNvPr id="91" name="Freeform 91"/>
            <p:cNvSpPr/>
            <p:nvPr/>
          </p:nvSpPr>
          <p:spPr>
            <a:xfrm>
              <a:off x="0" y="0"/>
              <a:ext cx="431122" cy="248873"/>
            </a:xfrm>
            <a:custGeom>
              <a:avLst/>
              <a:gdLst/>
              <a:ahLst/>
              <a:cxnLst/>
              <a:rect l="l" t="t" r="r" b="b"/>
              <a:pathLst>
                <a:path w="431122" h="248873">
                  <a:moveTo>
                    <a:pt x="0" y="0"/>
                  </a:moveTo>
                  <a:lnTo>
                    <a:pt x="431122" y="0"/>
                  </a:lnTo>
                  <a:lnTo>
                    <a:pt x="431122" y="248873"/>
                  </a:lnTo>
                  <a:lnTo>
                    <a:pt x="0" y="24887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92" name="TextBox 92"/>
            <p:cNvSpPr txBox="1"/>
            <p:nvPr/>
          </p:nvSpPr>
          <p:spPr>
            <a:xfrm>
              <a:off x="0" y="-38100"/>
              <a:ext cx="431122" cy="28697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93" name="TextBox 93"/>
          <p:cNvSpPr txBox="1"/>
          <p:nvPr/>
        </p:nvSpPr>
        <p:spPr>
          <a:xfrm>
            <a:off x="4490545" y="7277005"/>
            <a:ext cx="1097852" cy="2878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49"/>
              </a:lnSpc>
              <a:spcBef>
                <a:spcPct val="0"/>
              </a:spcBef>
            </a:pPr>
            <a:r>
              <a:rPr lang="en-US" sz="174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Controller</a:t>
            </a:r>
          </a:p>
        </p:txBody>
      </p:sp>
      <p:sp>
        <p:nvSpPr>
          <p:cNvPr id="94" name="AutoShape 94"/>
          <p:cNvSpPr/>
          <p:nvPr/>
        </p:nvSpPr>
        <p:spPr>
          <a:xfrm flipV="1">
            <a:off x="5664261" y="7457955"/>
            <a:ext cx="565166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95" name="TextBox 95"/>
          <p:cNvSpPr txBox="1"/>
          <p:nvPr/>
        </p:nvSpPr>
        <p:spPr>
          <a:xfrm>
            <a:off x="2752846" y="6982446"/>
            <a:ext cx="302145" cy="4075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48"/>
              </a:lnSpc>
              <a:spcBef>
                <a:spcPct val="0"/>
              </a:spcBef>
            </a:pPr>
            <a:r>
              <a:rPr lang="en-US" sz="246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Vs</a:t>
            </a:r>
          </a:p>
        </p:txBody>
      </p:sp>
      <p:sp>
        <p:nvSpPr>
          <p:cNvPr id="96" name="AutoShape 96"/>
          <p:cNvSpPr/>
          <p:nvPr/>
        </p:nvSpPr>
        <p:spPr>
          <a:xfrm>
            <a:off x="12883584" y="7390012"/>
            <a:ext cx="1514028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97" name="AutoShape 97"/>
          <p:cNvSpPr/>
          <p:nvPr/>
        </p:nvSpPr>
        <p:spPr>
          <a:xfrm flipV="1">
            <a:off x="13262552" y="7390012"/>
            <a:ext cx="0" cy="1265373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8" name="AutoShape 98"/>
          <p:cNvSpPr/>
          <p:nvPr/>
        </p:nvSpPr>
        <p:spPr>
          <a:xfrm flipV="1">
            <a:off x="3572958" y="8655385"/>
            <a:ext cx="9689594" cy="0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99" name="AutoShape 99"/>
          <p:cNvSpPr/>
          <p:nvPr/>
        </p:nvSpPr>
        <p:spPr>
          <a:xfrm flipV="1">
            <a:off x="3572958" y="7806349"/>
            <a:ext cx="0" cy="849036"/>
          </a:xfrm>
          <a:prstGeom prst="line">
            <a:avLst/>
          </a:prstGeom>
          <a:ln w="28575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100" name="TextBox 100"/>
          <p:cNvSpPr txBox="1"/>
          <p:nvPr/>
        </p:nvSpPr>
        <p:spPr>
          <a:xfrm>
            <a:off x="13661415" y="6849621"/>
            <a:ext cx="129453" cy="4055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29"/>
              </a:lnSpc>
              <a:spcBef>
                <a:spcPct val="0"/>
              </a:spcBef>
            </a:pPr>
            <a:r>
              <a:rPr lang="en-US" sz="244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V</a:t>
            </a:r>
          </a:p>
        </p:txBody>
      </p:sp>
      <p:grpSp>
        <p:nvGrpSpPr>
          <p:cNvPr id="101" name="Group 101"/>
          <p:cNvGrpSpPr/>
          <p:nvPr/>
        </p:nvGrpSpPr>
        <p:grpSpPr>
          <a:xfrm>
            <a:off x="6251650" y="6860992"/>
            <a:ext cx="6631934" cy="1058040"/>
            <a:chOff x="0" y="0"/>
            <a:chExt cx="578190" cy="92243"/>
          </a:xfrm>
        </p:grpSpPr>
        <p:sp>
          <p:nvSpPr>
            <p:cNvPr id="102" name="Freeform 102"/>
            <p:cNvSpPr/>
            <p:nvPr/>
          </p:nvSpPr>
          <p:spPr>
            <a:xfrm>
              <a:off x="0" y="0"/>
              <a:ext cx="578190" cy="92243"/>
            </a:xfrm>
            <a:custGeom>
              <a:avLst/>
              <a:gdLst/>
              <a:ahLst/>
              <a:cxnLst/>
              <a:rect l="l" t="t" r="r" b="b"/>
              <a:pathLst>
                <a:path w="578190" h="92243">
                  <a:moveTo>
                    <a:pt x="0" y="0"/>
                  </a:moveTo>
                  <a:lnTo>
                    <a:pt x="578190" y="0"/>
                  </a:lnTo>
                  <a:lnTo>
                    <a:pt x="578190" y="92243"/>
                  </a:lnTo>
                  <a:lnTo>
                    <a:pt x="0" y="92243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id="103" name="TextBox 103"/>
            <p:cNvSpPr txBox="1"/>
            <p:nvPr/>
          </p:nvSpPr>
          <p:spPr>
            <a:xfrm>
              <a:off x="0" y="-38100"/>
              <a:ext cx="578190" cy="130343"/>
            </a:xfrm>
            <a:prstGeom prst="rect">
              <a:avLst/>
            </a:prstGeom>
          </p:spPr>
          <p:txBody>
            <a:bodyPr lIns="118636" tIns="118636" rIns="118636" bIns="118636" rtlCol="0" anchor="ctr"/>
            <a:lstStyle/>
            <a:p>
              <a:pPr algn="ctr">
                <a:lnSpc>
                  <a:spcPts val="2660"/>
                </a:lnSpc>
                <a:spcBef>
                  <a:spcPct val="0"/>
                </a:spcBef>
              </a:pPr>
              <a:endParaRPr/>
            </a:p>
          </p:txBody>
        </p:sp>
      </p:grpSp>
      <p:pic>
        <p:nvPicPr>
          <p:cNvPr id="104" name="Picture 104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768655" y="6500591"/>
            <a:ext cx="7573849" cy="186925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439437" y="-2968934"/>
            <a:ext cx="6922219" cy="10911627"/>
          </a:xfrm>
          <a:custGeom>
            <a:avLst/>
            <a:gdLst/>
            <a:ahLst/>
            <a:cxnLst/>
            <a:rect l="l" t="t" r="r" b="b"/>
            <a:pathLst>
              <a:path w="6922219" h="10911627">
                <a:moveTo>
                  <a:pt x="0" y="0"/>
                </a:moveTo>
                <a:lnTo>
                  <a:pt x="6922219" y="0"/>
                </a:lnTo>
                <a:lnTo>
                  <a:pt x="6922219" y="10911627"/>
                </a:lnTo>
                <a:lnTo>
                  <a:pt x="0" y="1091162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r="-61881"/>
            </a:stretch>
          </a:blipFill>
        </p:spPr>
      </p:sp>
      <p:grpSp>
        <p:nvGrpSpPr>
          <p:cNvPr id="3" name="Group 3"/>
          <p:cNvGrpSpPr/>
          <p:nvPr/>
        </p:nvGrpSpPr>
        <p:grpSpPr>
          <a:xfrm rot="-1751933">
            <a:off x="775094" y="4645364"/>
            <a:ext cx="20836847" cy="10993574"/>
            <a:chOff x="0" y="0"/>
            <a:chExt cx="5487894" cy="2895427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5487894" cy="2895427"/>
            </a:xfrm>
            <a:custGeom>
              <a:avLst/>
              <a:gdLst/>
              <a:ahLst/>
              <a:cxnLst/>
              <a:rect l="l" t="t" r="r" b="b"/>
              <a:pathLst>
                <a:path w="5487894" h="2895427">
                  <a:moveTo>
                    <a:pt x="0" y="0"/>
                  </a:moveTo>
                  <a:lnTo>
                    <a:pt x="5487894" y="0"/>
                  </a:lnTo>
                  <a:lnTo>
                    <a:pt x="5487894" y="2895427"/>
                  </a:lnTo>
                  <a:lnTo>
                    <a:pt x="0" y="2895427"/>
                  </a:lnTo>
                  <a:close/>
                </a:path>
              </a:pathLst>
            </a:custGeom>
            <a:solidFill>
              <a:srgbClr val="0B1320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5487894" cy="294305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28700" y="1369120"/>
            <a:ext cx="12757444" cy="37942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1536"/>
              </a:lnSpc>
            </a:pPr>
            <a:r>
              <a:rPr lang="en-US" sz="8240" b="1">
                <a:solidFill>
                  <a:srgbClr val="0B132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System response and Analysis</a:t>
            </a:r>
          </a:p>
          <a:p>
            <a:pPr algn="l">
              <a:lnSpc>
                <a:spcPts val="7000"/>
              </a:lnSpc>
            </a:pPr>
            <a:r>
              <a:rPr lang="en-US" sz="5000" b="1">
                <a:solidFill>
                  <a:srgbClr val="0B132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(without controller)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495340" y="5059883"/>
            <a:ext cx="9792660" cy="470324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0469" lvl="1" indent="-375234" algn="l">
              <a:lnSpc>
                <a:spcPts val="5387"/>
              </a:lnSpc>
              <a:buFont typeface="Arial"/>
              <a:buChar char="•"/>
            </a:pPr>
            <a:r>
              <a:rPr lang="en-US" sz="3476">
                <a:solidFill>
                  <a:srgbClr val="FFFFFF"/>
                </a:solidFill>
                <a:latin typeface="Kollektif"/>
                <a:ea typeface="Kollektif"/>
                <a:cs typeface="Kollektif"/>
                <a:sym typeface="Kollektif"/>
              </a:rPr>
              <a:t>Stability Analysis</a:t>
            </a:r>
          </a:p>
          <a:p>
            <a:pPr marL="750469" lvl="1" indent="-375234" algn="l">
              <a:lnSpc>
                <a:spcPts val="5387"/>
              </a:lnSpc>
              <a:buFont typeface="Arial"/>
              <a:buChar char="•"/>
            </a:pPr>
            <a:r>
              <a:rPr lang="en-US" sz="3476">
                <a:solidFill>
                  <a:srgbClr val="FFFFFF"/>
                </a:solidFill>
                <a:latin typeface="Kollektif"/>
                <a:ea typeface="Kollektif"/>
                <a:cs typeface="Kollektif"/>
                <a:sym typeface="Kollektif"/>
              </a:rPr>
              <a:t>Steady State Error Analysis </a:t>
            </a:r>
          </a:p>
          <a:p>
            <a:pPr marL="750469" lvl="1" indent="-375234" algn="l">
              <a:lnSpc>
                <a:spcPts val="5387"/>
              </a:lnSpc>
              <a:buFont typeface="Arial"/>
              <a:buChar char="•"/>
            </a:pPr>
            <a:r>
              <a:rPr lang="en-US" sz="3476">
                <a:solidFill>
                  <a:srgbClr val="FFFFFF"/>
                </a:solidFill>
                <a:latin typeface="Kollektif"/>
                <a:ea typeface="Kollektif"/>
                <a:cs typeface="Kollektif"/>
                <a:sym typeface="Kollektif"/>
              </a:rPr>
              <a:t>System response for Unit Step Input , Ramp Input, Parabolic Input, Sinusoidal Input</a:t>
            </a:r>
          </a:p>
          <a:p>
            <a:pPr marL="750469" lvl="1" indent="-375234" algn="l">
              <a:lnSpc>
                <a:spcPts val="5387"/>
              </a:lnSpc>
              <a:buFont typeface="Arial"/>
              <a:buChar char="•"/>
            </a:pPr>
            <a:r>
              <a:rPr lang="en-US" sz="3476">
                <a:solidFill>
                  <a:srgbClr val="FFFFFF"/>
                </a:solidFill>
                <a:latin typeface="Kollektif"/>
                <a:ea typeface="Kollektif"/>
                <a:cs typeface="Kollektif"/>
                <a:sym typeface="Kollektif"/>
              </a:rPr>
              <a:t>Bode Plot </a:t>
            </a:r>
          </a:p>
          <a:p>
            <a:pPr marL="750469" lvl="1" indent="-375234" algn="l">
              <a:lnSpc>
                <a:spcPts val="5387"/>
              </a:lnSpc>
              <a:buFont typeface="Arial"/>
              <a:buChar char="•"/>
            </a:pPr>
            <a:r>
              <a:rPr lang="en-US" sz="3476">
                <a:solidFill>
                  <a:srgbClr val="FFFFFF"/>
                </a:solidFill>
                <a:latin typeface="Kollektif"/>
                <a:ea typeface="Kollektif"/>
                <a:cs typeface="Kollektif"/>
                <a:sym typeface="Kollektif"/>
              </a:rPr>
              <a:t>Polar Plot</a:t>
            </a:r>
          </a:p>
          <a:p>
            <a:pPr algn="l">
              <a:lnSpc>
                <a:spcPts val="5387"/>
              </a:lnSpc>
            </a:pPr>
            <a:endParaRPr lang="en-US" sz="3476">
              <a:solidFill>
                <a:srgbClr val="FFFFFF"/>
              </a:solidFill>
              <a:latin typeface="Kollektif"/>
              <a:ea typeface="Kollektif"/>
              <a:cs typeface="Kollektif"/>
              <a:sym typeface="Kollektif"/>
            </a:endParaRPr>
          </a:p>
        </p:txBody>
      </p:sp>
      <p:grpSp>
        <p:nvGrpSpPr>
          <p:cNvPr id="8" name="Group 8"/>
          <p:cNvGrpSpPr/>
          <p:nvPr/>
        </p:nvGrpSpPr>
        <p:grpSpPr>
          <a:xfrm rot="-5400000">
            <a:off x="13683260" y="-4125115"/>
            <a:ext cx="3720768" cy="7555779"/>
            <a:chOff x="0" y="0"/>
            <a:chExt cx="979955" cy="19900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979955" cy="1989999"/>
            </a:xfrm>
            <a:custGeom>
              <a:avLst/>
              <a:gdLst/>
              <a:ahLst/>
              <a:cxnLst/>
              <a:rect l="l" t="t" r="r" b="b"/>
              <a:pathLst>
                <a:path w="979955" h="1989999">
                  <a:moveTo>
                    <a:pt x="0" y="0"/>
                  </a:moveTo>
                  <a:lnTo>
                    <a:pt x="979955" y="0"/>
                  </a:lnTo>
                  <a:lnTo>
                    <a:pt x="979955" y="1989999"/>
                  </a:lnTo>
                  <a:lnTo>
                    <a:pt x="0" y="1989999"/>
                  </a:lnTo>
                  <a:close/>
                </a:path>
              </a:pathLst>
            </a:custGeom>
            <a:solidFill>
              <a:srgbClr val="497183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979955" cy="20376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6774842" y="0"/>
            <a:ext cx="1513158" cy="1513158"/>
          </a:xfrm>
          <a:custGeom>
            <a:avLst/>
            <a:gdLst/>
            <a:ahLst/>
            <a:cxnLst/>
            <a:rect l="l" t="t" r="r" b="b"/>
            <a:pathLst>
              <a:path w="1513158" h="1513158">
                <a:moveTo>
                  <a:pt x="0" y="0"/>
                </a:moveTo>
                <a:lnTo>
                  <a:pt x="1513158" y="0"/>
                </a:lnTo>
                <a:lnTo>
                  <a:pt x="1513158" y="1513158"/>
                </a:lnTo>
                <a:lnTo>
                  <a:pt x="0" y="15131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2020538" y="194604"/>
            <a:ext cx="4754303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Kollektif"/>
                <a:ea typeface="Kollektif"/>
                <a:cs typeface="Kollektif"/>
                <a:sym typeface="Kollektif"/>
              </a:rPr>
              <a:t>Bangladesh University of Engineering and Technology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3155597" y="9467850"/>
            <a:ext cx="4823266" cy="523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FFFFFF"/>
                </a:solidFill>
                <a:latin typeface="Kollektif"/>
                <a:ea typeface="Kollektif"/>
                <a:cs typeface="Kollektif"/>
                <a:sym typeface="Kollektif"/>
              </a:rPr>
              <a:t>ME461: Control Engineering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2841042" y="3457459"/>
            <a:ext cx="13189521" cy="3528197"/>
          </a:xfrm>
          <a:custGeom>
            <a:avLst/>
            <a:gdLst/>
            <a:ahLst/>
            <a:cxnLst/>
            <a:rect l="l" t="t" r="r" b="b"/>
            <a:pathLst>
              <a:path w="13189521" h="3528197">
                <a:moveTo>
                  <a:pt x="0" y="0"/>
                </a:moveTo>
                <a:lnTo>
                  <a:pt x="13189521" y="0"/>
                </a:lnTo>
                <a:lnTo>
                  <a:pt x="13189521" y="3528197"/>
                </a:lnTo>
                <a:lnTo>
                  <a:pt x="0" y="352819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5400000">
            <a:off x="-754796" y="5907924"/>
            <a:ext cx="4632681" cy="5258396"/>
          </a:xfrm>
          <a:custGeom>
            <a:avLst/>
            <a:gdLst/>
            <a:ahLst/>
            <a:cxnLst/>
            <a:rect l="l" t="t" r="r" b="b"/>
            <a:pathLst>
              <a:path w="4632681" h="5258396">
                <a:moveTo>
                  <a:pt x="0" y="0"/>
                </a:moveTo>
                <a:lnTo>
                  <a:pt x="4632681" y="0"/>
                </a:lnTo>
                <a:lnTo>
                  <a:pt x="4632681" y="5258396"/>
                </a:lnTo>
                <a:lnTo>
                  <a:pt x="0" y="52583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8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r="-43679"/>
            </a:stretch>
          </a:blipFill>
        </p:spPr>
      </p:sp>
      <p:sp>
        <p:nvSpPr>
          <p:cNvPr id="4" name="Freeform 4"/>
          <p:cNvSpPr/>
          <p:nvPr/>
        </p:nvSpPr>
        <p:spPr>
          <a:xfrm rot="-5400000" flipH="1" flipV="1">
            <a:off x="13505681" y="-2015115"/>
            <a:ext cx="4340733" cy="6842381"/>
          </a:xfrm>
          <a:custGeom>
            <a:avLst/>
            <a:gdLst/>
            <a:ahLst/>
            <a:cxnLst/>
            <a:rect l="l" t="t" r="r" b="b"/>
            <a:pathLst>
              <a:path w="4340733" h="6842381">
                <a:moveTo>
                  <a:pt x="4340733" y="6842381"/>
                </a:moveTo>
                <a:lnTo>
                  <a:pt x="0" y="6842381"/>
                </a:lnTo>
                <a:lnTo>
                  <a:pt x="0" y="0"/>
                </a:lnTo>
                <a:lnTo>
                  <a:pt x="4340733" y="0"/>
                </a:lnTo>
                <a:lnTo>
                  <a:pt x="4340733" y="6842381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r="-61881"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-534556" y="9185620"/>
            <a:ext cx="19665504" cy="3335684"/>
            <a:chOff x="0" y="0"/>
            <a:chExt cx="5179392" cy="878534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179392" cy="878534"/>
            </a:xfrm>
            <a:custGeom>
              <a:avLst/>
              <a:gdLst/>
              <a:ahLst/>
              <a:cxnLst/>
              <a:rect l="l" t="t" r="r" b="b"/>
              <a:pathLst>
                <a:path w="5179392" h="878534">
                  <a:moveTo>
                    <a:pt x="0" y="0"/>
                  </a:moveTo>
                  <a:lnTo>
                    <a:pt x="5179392" y="0"/>
                  </a:lnTo>
                  <a:lnTo>
                    <a:pt x="5179392" y="878534"/>
                  </a:lnTo>
                  <a:lnTo>
                    <a:pt x="0" y="878534"/>
                  </a:lnTo>
                  <a:close/>
                </a:path>
              </a:pathLst>
            </a:custGeom>
            <a:solidFill>
              <a:srgbClr val="0B13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5179392" cy="9261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 rot="-4483572">
            <a:off x="14461472" y="3930436"/>
            <a:ext cx="9271532" cy="3826079"/>
            <a:chOff x="0" y="0"/>
            <a:chExt cx="2441885" cy="100769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441885" cy="1007691"/>
            </a:xfrm>
            <a:custGeom>
              <a:avLst/>
              <a:gdLst/>
              <a:ahLst/>
              <a:cxnLst/>
              <a:rect l="l" t="t" r="r" b="b"/>
              <a:pathLst>
                <a:path w="2441885" h="1007691">
                  <a:moveTo>
                    <a:pt x="0" y="0"/>
                  </a:moveTo>
                  <a:lnTo>
                    <a:pt x="2441885" y="0"/>
                  </a:lnTo>
                  <a:lnTo>
                    <a:pt x="2441885" y="1007691"/>
                  </a:lnTo>
                  <a:lnTo>
                    <a:pt x="0" y="1007691"/>
                  </a:lnTo>
                  <a:close/>
                </a:path>
              </a:pathLst>
            </a:custGeom>
            <a:solidFill>
              <a:srgbClr val="497183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2441885" cy="10553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6929038" y="154197"/>
            <a:ext cx="1513158" cy="1513158"/>
          </a:xfrm>
          <a:custGeom>
            <a:avLst/>
            <a:gdLst/>
            <a:ahLst/>
            <a:cxnLst/>
            <a:rect l="l" t="t" r="r" b="b"/>
            <a:pathLst>
              <a:path w="1513158" h="1513158">
                <a:moveTo>
                  <a:pt x="0" y="0"/>
                </a:moveTo>
                <a:lnTo>
                  <a:pt x="1513159" y="0"/>
                </a:lnTo>
                <a:lnTo>
                  <a:pt x="1513159" y="1513158"/>
                </a:lnTo>
                <a:lnTo>
                  <a:pt x="0" y="151315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2174735" y="348801"/>
            <a:ext cx="4754303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Kollektif"/>
                <a:ea typeface="Kollektif"/>
                <a:cs typeface="Kollektif"/>
                <a:sym typeface="Kollektif"/>
              </a:rPr>
              <a:t>Bangladesh University of Engineering and Technology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28089" y="376849"/>
            <a:ext cx="7378436" cy="1891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539"/>
              </a:lnSpc>
            </a:pPr>
            <a:r>
              <a:rPr lang="en-US" sz="60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Stability Analysis </a:t>
            </a:r>
          </a:p>
          <a:p>
            <a:pPr algn="ctr">
              <a:lnSpc>
                <a:spcPts val="6580"/>
              </a:lnSpc>
            </a:pPr>
            <a:r>
              <a:rPr lang="en-US" sz="47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( without Controller)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230666" y="2553196"/>
            <a:ext cx="10561954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Block Diagram of the system (without Controller) :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3408204" y="7346107"/>
            <a:ext cx="2326600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Hear, G(s) =</a:t>
            </a:r>
          </a:p>
        </p:txBody>
      </p:sp>
      <p:sp>
        <p:nvSpPr>
          <p:cNvPr id="16" name="AutoShape 16"/>
          <p:cNvSpPr/>
          <p:nvPr/>
        </p:nvSpPr>
        <p:spPr>
          <a:xfrm flipV="1">
            <a:off x="6277795" y="7669639"/>
            <a:ext cx="9458987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7" name="TextBox 17"/>
          <p:cNvSpPr txBox="1"/>
          <p:nvPr/>
        </p:nvSpPr>
        <p:spPr>
          <a:xfrm>
            <a:off x="6687868" y="7035489"/>
            <a:ext cx="7864019" cy="4890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18"/>
              </a:lnSpc>
            </a:pPr>
            <a:r>
              <a:rPr lang="en-US" sz="287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117.52 S2 + 0.054632 S -5678.637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6028585" y="7745839"/>
            <a:ext cx="9708198" cy="4709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65"/>
              </a:lnSpc>
            </a:pPr>
            <a:r>
              <a:rPr lang="en-US" sz="283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S4 + 69.0646 S3 + 1454.811 S2 +9161.434S +16197.299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067654" y="-764291"/>
            <a:ext cx="23231566" cy="13285595"/>
            <a:chOff x="0" y="0"/>
            <a:chExt cx="30975422" cy="17714127"/>
          </a:xfrm>
        </p:grpSpPr>
        <p:sp>
          <p:nvSpPr>
            <p:cNvPr id="3" name="Freeform 3"/>
            <p:cNvSpPr/>
            <p:nvPr/>
          </p:nvSpPr>
          <p:spPr>
            <a:xfrm rot="5400000">
              <a:off x="417144" y="8896286"/>
              <a:ext cx="6176907" cy="7011195"/>
            </a:xfrm>
            <a:custGeom>
              <a:avLst/>
              <a:gdLst/>
              <a:ahLst/>
              <a:cxnLst/>
              <a:rect l="l" t="t" r="r" b="b"/>
              <a:pathLst>
                <a:path w="6176907" h="7011195">
                  <a:moveTo>
                    <a:pt x="0" y="0"/>
                  </a:moveTo>
                  <a:lnTo>
                    <a:pt x="6176907" y="0"/>
                  </a:lnTo>
                  <a:lnTo>
                    <a:pt x="6176907" y="7011195"/>
                  </a:lnTo>
                  <a:lnTo>
                    <a:pt x="0" y="70111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48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r="-43679"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 rot="-5400000" flipH="1" flipV="1">
              <a:off x="19431113" y="-1667765"/>
              <a:ext cx="5787644" cy="9123175"/>
            </a:xfrm>
            <a:custGeom>
              <a:avLst/>
              <a:gdLst/>
              <a:ahLst/>
              <a:cxnLst/>
              <a:rect l="l" t="t" r="r" b="b"/>
              <a:pathLst>
                <a:path w="5787644" h="9123175">
                  <a:moveTo>
                    <a:pt x="5787644" y="9123174"/>
                  </a:moveTo>
                  <a:lnTo>
                    <a:pt x="0" y="9123174"/>
                  </a:lnTo>
                  <a:lnTo>
                    <a:pt x="0" y="0"/>
                  </a:lnTo>
                  <a:lnTo>
                    <a:pt x="5787644" y="0"/>
                  </a:lnTo>
                  <a:lnTo>
                    <a:pt x="5787644" y="9123174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r="-61881"/>
              </a:stretch>
            </a:blipFill>
          </p:spPr>
        </p:sp>
        <p:grpSp>
          <p:nvGrpSpPr>
            <p:cNvPr id="5" name="Group 5"/>
            <p:cNvGrpSpPr/>
            <p:nvPr/>
          </p:nvGrpSpPr>
          <p:grpSpPr>
            <a:xfrm>
              <a:off x="710797" y="13266548"/>
              <a:ext cx="26220673" cy="4447579"/>
              <a:chOff x="0" y="0"/>
              <a:chExt cx="5179392" cy="878534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5179392" cy="878534"/>
              </a:xfrm>
              <a:custGeom>
                <a:avLst/>
                <a:gdLst/>
                <a:ahLst/>
                <a:cxnLst/>
                <a:rect l="l" t="t" r="r" b="b"/>
                <a:pathLst>
                  <a:path w="5179392" h="878534">
                    <a:moveTo>
                      <a:pt x="0" y="0"/>
                    </a:moveTo>
                    <a:lnTo>
                      <a:pt x="5179392" y="0"/>
                    </a:lnTo>
                    <a:lnTo>
                      <a:pt x="5179392" y="878534"/>
                    </a:lnTo>
                    <a:lnTo>
                      <a:pt x="0" y="878534"/>
                    </a:lnTo>
                    <a:close/>
                  </a:path>
                </a:pathLst>
              </a:custGeom>
              <a:solidFill>
                <a:srgbClr val="0B1320"/>
              </a:solidFill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0" y="-47625"/>
                <a:ext cx="5179392" cy="92615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8" name="Group 8"/>
            <p:cNvGrpSpPr/>
            <p:nvPr/>
          </p:nvGrpSpPr>
          <p:grpSpPr>
            <a:xfrm rot="-4483572">
              <a:off x="20705501" y="6259635"/>
              <a:ext cx="12362043" cy="5101438"/>
              <a:chOff x="0" y="0"/>
              <a:chExt cx="2441885" cy="1007692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2441885" cy="1007691"/>
              </a:xfrm>
              <a:custGeom>
                <a:avLst/>
                <a:gdLst/>
                <a:ahLst/>
                <a:cxnLst/>
                <a:rect l="l" t="t" r="r" b="b"/>
                <a:pathLst>
                  <a:path w="2441885" h="1007691">
                    <a:moveTo>
                      <a:pt x="0" y="0"/>
                    </a:moveTo>
                    <a:lnTo>
                      <a:pt x="2441885" y="0"/>
                    </a:lnTo>
                    <a:lnTo>
                      <a:pt x="2441885" y="1007691"/>
                    </a:lnTo>
                    <a:lnTo>
                      <a:pt x="0" y="1007691"/>
                    </a:lnTo>
                    <a:close/>
                  </a:path>
                </a:pathLst>
              </a:custGeom>
              <a:solidFill>
                <a:srgbClr val="497183"/>
              </a:solidFill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-47625"/>
                <a:ext cx="2441885" cy="105531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1" name="Freeform 11"/>
            <p:cNvSpPr/>
            <p:nvPr/>
          </p:nvSpPr>
          <p:spPr>
            <a:xfrm>
              <a:off x="23995589" y="1224650"/>
              <a:ext cx="2017545" cy="2017545"/>
            </a:xfrm>
            <a:custGeom>
              <a:avLst/>
              <a:gdLst/>
              <a:ahLst/>
              <a:cxnLst/>
              <a:rect l="l" t="t" r="r" b="b"/>
              <a:pathLst>
                <a:path w="2017545" h="2017545">
                  <a:moveTo>
                    <a:pt x="0" y="0"/>
                  </a:moveTo>
                  <a:lnTo>
                    <a:pt x="2017545" y="0"/>
                  </a:lnTo>
                  <a:lnTo>
                    <a:pt x="2017545" y="2017545"/>
                  </a:lnTo>
                  <a:lnTo>
                    <a:pt x="0" y="20175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17656518" y="1506348"/>
              <a:ext cx="6339071" cy="138747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3000">
                  <a:solidFill>
                    <a:srgbClr val="000000"/>
                  </a:solidFill>
                  <a:latin typeface="Kollektif"/>
                  <a:ea typeface="Kollektif"/>
                  <a:cs typeface="Kollektif"/>
                  <a:sym typeface="Kollektif"/>
                </a:rPr>
                <a:t>Bangladesh University of Engineering and Technology</a:t>
              </a:r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1553299" y="2871031"/>
            <a:ext cx="6692861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Closed Loop Transfer Function :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693713" y="4203102"/>
            <a:ext cx="2981294" cy="1158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65"/>
              </a:lnSpc>
            </a:pPr>
            <a:r>
              <a:rPr lang="en-US" sz="3332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Gₑ(s) =</a:t>
            </a:r>
          </a:p>
          <a:p>
            <a:pPr algn="ctr">
              <a:lnSpc>
                <a:spcPts val="4665"/>
              </a:lnSpc>
            </a:pPr>
            <a:endParaRPr lang="en-US" sz="3332">
              <a:solidFill>
                <a:srgbClr val="000000"/>
              </a:solidFill>
              <a:latin typeface="Canva Sans"/>
              <a:ea typeface="Canva Sans"/>
              <a:cs typeface="Canva Sans"/>
              <a:sym typeface="Canva Sans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4113246" y="4504785"/>
            <a:ext cx="8625876" cy="0"/>
          </a:xfrm>
          <a:prstGeom prst="line">
            <a:avLst/>
          </a:prstGeom>
          <a:ln w="3810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6" name="TextBox 16"/>
          <p:cNvSpPr txBox="1"/>
          <p:nvPr/>
        </p:nvSpPr>
        <p:spPr>
          <a:xfrm>
            <a:off x="4308480" y="3996668"/>
            <a:ext cx="7864019" cy="4890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18"/>
              </a:lnSpc>
            </a:pPr>
            <a:r>
              <a:rPr lang="en-US" sz="287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117.52 S2 + 0.054632 S -5678.637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693713" y="4546412"/>
            <a:ext cx="13369231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S4 +69.0646S3 +1572.331S2 +1961.488S +10518.662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2442668" y="5897249"/>
            <a:ext cx="7685961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characteristics equation will be : 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182656" y="7269146"/>
            <a:ext cx="13369231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20"/>
              </a:lnSpc>
            </a:pPr>
            <a:r>
              <a:rPr lang="en-US" sz="28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S4 +69.0646S3 +1572.331S2 +1961.488S +10518.662 =0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28089" y="376849"/>
            <a:ext cx="7378436" cy="1891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539"/>
              </a:lnSpc>
            </a:pPr>
            <a:r>
              <a:rPr lang="en-US" sz="60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Stability Analysis </a:t>
            </a:r>
          </a:p>
          <a:p>
            <a:pPr algn="ctr">
              <a:lnSpc>
                <a:spcPts val="6580"/>
              </a:lnSpc>
            </a:pPr>
            <a:r>
              <a:rPr lang="en-US" sz="47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( without Controller)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754796" y="5907924"/>
            <a:ext cx="4632681" cy="5258396"/>
          </a:xfrm>
          <a:custGeom>
            <a:avLst/>
            <a:gdLst/>
            <a:ahLst/>
            <a:cxnLst/>
            <a:rect l="l" t="t" r="r" b="b"/>
            <a:pathLst>
              <a:path w="4632681" h="5258396">
                <a:moveTo>
                  <a:pt x="0" y="0"/>
                </a:moveTo>
                <a:lnTo>
                  <a:pt x="4632681" y="0"/>
                </a:lnTo>
                <a:lnTo>
                  <a:pt x="4632681" y="5258396"/>
                </a:lnTo>
                <a:lnTo>
                  <a:pt x="0" y="52583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r="-43679"/>
            </a:stretch>
          </a:blipFill>
        </p:spPr>
      </p:sp>
      <p:sp>
        <p:nvSpPr>
          <p:cNvPr id="3" name="Freeform 3"/>
          <p:cNvSpPr/>
          <p:nvPr/>
        </p:nvSpPr>
        <p:spPr>
          <a:xfrm rot="-5400000" flipH="1" flipV="1">
            <a:off x="13505681" y="-2015115"/>
            <a:ext cx="4340733" cy="6842381"/>
          </a:xfrm>
          <a:custGeom>
            <a:avLst/>
            <a:gdLst/>
            <a:ahLst/>
            <a:cxnLst/>
            <a:rect l="l" t="t" r="r" b="b"/>
            <a:pathLst>
              <a:path w="4340733" h="6842381">
                <a:moveTo>
                  <a:pt x="4340733" y="6842381"/>
                </a:moveTo>
                <a:lnTo>
                  <a:pt x="0" y="6842381"/>
                </a:lnTo>
                <a:lnTo>
                  <a:pt x="0" y="0"/>
                </a:lnTo>
                <a:lnTo>
                  <a:pt x="4340733" y="0"/>
                </a:lnTo>
                <a:lnTo>
                  <a:pt x="4340733" y="6842381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r="-61881"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-534556" y="9185620"/>
            <a:ext cx="19665504" cy="3335684"/>
            <a:chOff x="0" y="0"/>
            <a:chExt cx="5179392" cy="878534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179392" cy="878534"/>
            </a:xfrm>
            <a:custGeom>
              <a:avLst/>
              <a:gdLst/>
              <a:ahLst/>
              <a:cxnLst/>
              <a:rect l="l" t="t" r="r" b="b"/>
              <a:pathLst>
                <a:path w="5179392" h="878534">
                  <a:moveTo>
                    <a:pt x="0" y="0"/>
                  </a:moveTo>
                  <a:lnTo>
                    <a:pt x="5179392" y="0"/>
                  </a:lnTo>
                  <a:lnTo>
                    <a:pt x="5179392" y="878534"/>
                  </a:lnTo>
                  <a:lnTo>
                    <a:pt x="0" y="878534"/>
                  </a:lnTo>
                  <a:close/>
                </a:path>
              </a:pathLst>
            </a:custGeom>
            <a:solidFill>
              <a:srgbClr val="0B1320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5179392" cy="92615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 rot="-4483572">
            <a:off x="14461472" y="3930436"/>
            <a:ext cx="9271532" cy="3826079"/>
            <a:chOff x="0" y="0"/>
            <a:chExt cx="2441885" cy="100769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441885" cy="1007691"/>
            </a:xfrm>
            <a:custGeom>
              <a:avLst/>
              <a:gdLst/>
              <a:ahLst/>
              <a:cxnLst/>
              <a:rect l="l" t="t" r="r" b="b"/>
              <a:pathLst>
                <a:path w="2441885" h="1007691">
                  <a:moveTo>
                    <a:pt x="0" y="0"/>
                  </a:moveTo>
                  <a:lnTo>
                    <a:pt x="2441885" y="0"/>
                  </a:lnTo>
                  <a:lnTo>
                    <a:pt x="2441885" y="1007691"/>
                  </a:lnTo>
                  <a:lnTo>
                    <a:pt x="0" y="1007691"/>
                  </a:lnTo>
                  <a:close/>
                </a:path>
              </a:pathLst>
            </a:custGeom>
            <a:solidFill>
              <a:srgbClr val="497183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2441885" cy="105531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16929038" y="154197"/>
            <a:ext cx="1513158" cy="1513158"/>
          </a:xfrm>
          <a:custGeom>
            <a:avLst/>
            <a:gdLst/>
            <a:ahLst/>
            <a:cxnLst/>
            <a:rect l="l" t="t" r="r" b="b"/>
            <a:pathLst>
              <a:path w="1513158" h="1513158">
                <a:moveTo>
                  <a:pt x="0" y="0"/>
                </a:moveTo>
                <a:lnTo>
                  <a:pt x="1513159" y="0"/>
                </a:lnTo>
                <a:lnTo>
                  <a:pt x="1513159" y="1513158"/>
                </a:lnTo>
                <a:lnTo>
                  <a:pt x="0" y="151315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2990476" y="3576442"/>
            <a:ext cx="11117531" cy="4040018"/>
          </a:xfrm>
          <a:custGeom>
            <a:avLst/>
            <a:gdLst/>
            <a:ahLst/>
            <a:cxnLst/>
            <a:rect l="l" t="t" r="r" b="b"/>
            <a:pathLst>
              <a:path w="11117531" h="4040018">
                <a:moveTo>
                  <a:pt x="0" y="0"/>
                </a:moveTo>
                <a:lnTo>
                  <a:pt x="11117531" y="0"/>
                </a:lnTo>
                <a:lnTo>
                  <a:pt x="11117531" y="4040018"/>
                </a:lnTo>
                <a:lnTo>
                  <a:pt x="0" y="404001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7049471" y="2505331"/>
            <a:ext cx="2999542" cy="12693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460"/>
              </a:lnSpc>
            </a:pPr>
            <a:r>
              <a:rPr lang="en-US" sz="39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Routh Table </a:t>
            </a:r>
          </a:p>
          <a:p>
            <a:pPr algn="ctr">
              <a:lnSpc>
                <a:spcPts val="4760"/>
              </a:lnSpc>
            </a:pPr>
            <a:r>
              <a:rPr lang="en-US" sz="34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2174735" y="348801"/>
            <a:ext cx="4754303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Kollektif"/>
                <a:ea typeface="Kollektif"/>
                <a:cs typeface="Kollektif"/>
                <a:sym typeface="Kollektif"/>
              </a:rPr>
              <a:t>Bangladesh University of Engineering and Technology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788384" y="8130810"/>
            <a:ext cx="12711232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There is no sign change at this table. So, the system is stable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27917" y="376849"/>
            <a:ext cx="7378779" cy="18916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539"/>
              </a:lnSpc>
            </a:pPr>
            <a:r>
              <a:rPr lang="en-US" sz="60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Stability Analysis </a:t>
            </a:r>
          </a:p>
          <a:p>
            <a:pPr algn="ctr">
              <a:lnSpc>
                <a:spcPts val="6580"/>
              </a:lnSpc>
            </a:pPr>
            <a:r>
              <a:rPr lang="en-US" sz="47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(without Controller)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725988" y="5936932"/>
            <a:ext cx="4632681" cy="5258396"/>
          </a:xfrm>
          <a:custGeom>
            <a:avLst/>
            <a:gdLst/>
            <a:ahLst/>
            <a:cxnLst/>
            <a:rect l="l" t="t" r="r" b="b"/>
            <a:pathLst>
              <a:path w="4632681" h="5258396">
                <a:moveTo>
                  <a:pt x="0" y="0"/>
                </a:moveTo>
                <a:lnTo>
                  <a:pt x="4632681" y="0"/>
                </a:lnTo>
                <a:lnTo>
                  <a:pt x="4632681" y="5258396"/>
                </a:lnTo>
                <a:lnTo>
                  <a:pt x="0" y="525839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r="-43679"/>
            </a:stretch>
          </a:blipFill>
        </p:spPr>
      </p:sp>
      <p:sp>
        <p:nvSpPr>
          <p:cNvPr id="3" name="Freeform 3"/>
          <p:cNvSpPr/>
          <p:nvPr/>
        </p:nvSpPr>
        <p:spPr>
          <a:xfrm rot="-5400000" flipH="1" flipV="1">
            <a:off x="14843854" y="-2110951"/>
            <a:ext cx="5375133" cy="8472926"/>
          </a:xfrm>
          <a:custGeom>
            <a:avLst/>
            <a:gdLst/>
            <a:ahLst/>
            <a:cxnLst/>
            <a:rect l="l" t="t" r="r" b="b"/>
            <a:pathLst>
              <a:path w="5375133" h="8472926">
                <a:moveTo>
                  <a:pt x="5375133" y="8472926"/>
                </a:moveTo>
                <a:lnTo>
                  <a:pt x="0" y="8472926"/>
                </a:lnTo>
                <a:lnTo>
                  <a:pt x="0" y="0"/>
                </a:lnTo>
                <a:lnTo>
                  <a:pt x="5375133" y="0"/>
                </a:lnTo>
                <a:lnTo>
                  <a:pt x="5375133" y="8472926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r="-61881"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0" y="9111317"/>
            <a:ext cx="19665504" cy="3608240"/>
            <a:chOff x="0" y="0"/>
            <a:chExt cx="5179392" cy="95031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179392" cy="950318"/>
            </a:xfrm>
            <a:custGeom>
              <a:avLst/>
              <a:gdLst/>
              <a:ahLst/>
              <a:cxnLst/>
              <a:rect l="l" t="t" r="r" b="b"/>
              <a:pathLst>
                <a:path w="5179392" h="950318">
                  <a:moveTo>
                    <a:pt x="0" y="0"/>
                  </a:moveTo>
                  <a:lnTo>
                    <a:pt x="5179392" y="0"/>
                  </a:lnTo>
                  <a:lnTo>
                    <a:pt x="5179392" y="950318"/>
                  </a:lnTo>
                  <a:lnTo>
                    <a:pt x="0" y="950318"/>
                  </a:lnTo>
                  <a:close/>
                </a:path>
              </a:pathLst>
            </a:custGeom>
            <a:solidFill>
              <a:srgbClr val="0B1320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5179392" cy="9979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 rot="-4483572">
            <a:off x="13949186" y="3241666"/>
            <a:ext cx="10370812" cy="3768132"/>
            <a:chOff x="0" y="0"/>
            <a:chExt cx="2731407" cy="99243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31407" cy="992430"/>
            </a:xfrm>
            <a:custGeom>
              <a:avLst/>
              <a:gdLst/>
              <a:ahLst/>
              <a:cxnLst/>
              <a:rect l="l" t="t" r="r" b="b"/>
              <a:pathLst>
                <a:path w="2731407" h="992430">
                  <a:moveTo>
                    <a:pt x="0" y="0"/>
                  </a:moveTo>
                  <a:lnTo>
                    <a:pt x="2731407" y="0"/>
                  </a:lnTo>
                  <a:lnTo>
                    <a:pt x="2731407" y="992430"/>
                  </a:lnTo>
                  <a:lnTo>
                    <a:pt x="0" y="992430"/>
                  </a:lnTo>
                  <a:close/>
                </a:path>
              </a:pathLst>
            </a:custGeom>
            <a:solidFill>
              <a:srgbClr val="497183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2731407" cy="10400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16774842" y="66084"/>
            <a:ext cx="1513158" cy="1513158"/>
          </a:xfrm>
          <a:custGeom>
            <a:avLst/>
            <a:gdLst/>
            <a:ahLst/>
            <a:cxnLst/>
            <a:rect l="l" t="t" r="r" b="b"/>
            <a:pathLst>
              <a:path w="1513158" h="1513158">
                <a:moveTo>
                  <a:pt x="0" y="0"/>
                </a:moveTo>
                <a:lnTo>
                  <a:pt x="1513158" y="0"/>
                </a:lnTo>
                <a:lnTo>
                  <a:pt x="1513158" y="1513159"/>
                </a:lnTo>
                <a:lnTo>
                  <a:pt x="0" y="151315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2154570" y="3225994"/>
            <a:ext cx="11141715" cy="2605013"/>
          </a:xfrm>
          <a:custGeom>
            <a:avLst/>
            <a:gdLst/>
            <a:ahLst/>
            <a:cxnLst/>
            <a:rect l="l" t="t" r="r" b="b"/>
            <a:pathLst>
              <a:path w="11141715" h="2605013">
                <a:moveTo>
                  <a:pt x="0" y="0"/>
                </a:moveTo>
                <a:lnTo>
                  <a:pt x="11141715" y="0"/>
                </a:lnTo>
                <a:lnTo>
                  <a:pt x="11141715" y="2605013"/>
                </a:lnTo>
                <a:lnTo>
                  <a:pt x="0" y="2605013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198" b="-198"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1796727" y="5992932"/>
            <a:ext cx="9357338" cy="1135764"/>
          </a:xfrm>
          <a:custGeom>
            <a:avLst/>
            <a:gdLst/>
            <a:ahLst/>
            <a:cxnLst/>
            <a:rect l="l" t="t" r="r" b="b"/>
            <a:pathLst>
              <a:path w="9357338" h="1135764">
                <a:moveTo>
                  <a:pt x="0" y="0"/>
                </a:moveTo>
                <a:lnTo>
                  <a:pt x="9357338" y="0"/>
                </a:lnTo>
                <a:lnTo>
                  <a:pt x="9357338" y="1135764"/>
                </a:lnTo>
                <a:lnTo>
                  <a:pt x="0" y="113576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11910398" y="260689"/>
            <a:ext cx="4754303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Kollektif"/>
                <a:ea typeface="Kollektif"/>
                <a:cs typeface="Kollektif"/>
                <a:sym typeface="Kollektif"/>
              </a:rPr>
              <a:t>Bangladesh University of Engineering and Technology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49758" y="461983"/>
            <a:ext cx="10367676" cy="1642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59"/>
              </a:lnSpc>
            </a:pPr>
            <a:r>
              <a:rPr lang="en-US" sz="53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Steady State Error Analysis </a:t>
            </a:r>
          </a:p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(without Controller)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59813" y="2484989"/>
            <a:ext cx="4910733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ctr">
              <a:lnSpc>
                <a:spcPts val="4759"/>
              </a:lnSpc>
              <a:buFont typeface="Arial"/>
              <a:buChar char="•"/>
            </a:pPr>
            <a:r>
              <a:rPr lang="en-US" sz="3399" u="sng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For Unit Step Input :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748491" y="6180931"/>
            <a:ext cx="7710842" cy="2406669"/>
          </a:xfrm>
          <a:custGeom>
            <a:avLst/>
            <a:gdLst/>
            <a:ahLst/>
            <a:cxnLst/>
            <a:rect l="l" t="t" r="r" b="b"/>
            <a:pathLst>
              <a:path w="7710842" h="2406669">
                <a:moveTo>
                  <a:pt x="0" y="0"/>
                </a:moveTo>
                <a:lnTo>
                  <a:pt x="7710842" y="0"/>
                </a:lnTo>
                <a:lnTo>
                  <a:pt x="7710842" y="2406670"/>
                </a:lnTo>
                <a:lnTo>
                  <a:pt x="0" y="24066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5400000">
            <a:off x="-725988" y="5936932"/>
            <a:ext cx="4632681" cy="5258396"/>
          </a:xfrm>
          <a:custGeom>
            <a:avLst/>
            <a:gdLst/>
            <a:ahLst/>
            <a:cxnLst/>
            <a:rect l="l" t="t" r="r" b="b"/>
            <a:pathLst>
              <a:path w="4632681" h="5258396">
                <a:moveTo>
                  <a:pt x="0" y="0"/>
                </a:moveTo>
                <a:lnTo>
                  <a:pt x="4632681" y="0"/>
                </a:lnTo>
                <a:lnTo>
                  <a:pt x="4632681" y="5258396"/>
                </a:lnTo>
                <a:lnTo>
                  <a:pt x="0" y="525839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48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r="-43679"/>
            </a:stretch>
          </a:blipFill>
        </p:spPr>
      </p:sp>
      <p:sp>
        <p:nvSpPr>
          <p:cNvPr id="4" name="Freeform 4"/>
          <p:cNvSpPr/>
          <p:nvPr/>
        </p:nvSpPr>
        <p:spPr>
          <a:xfrm rot="-5400000" flipH="1" flipV="1">
            <a:off x="14843854" y="-2110951"/>
            <a:ext cx="5375133" cy="8472926"/>
          </a:xfrm>
          <a:custGeom>
            <a:avLst/>
            <a:gdLst/>
            <a:ahLst/>
            <a:cxnLst/>
            <a:rect l="l" t="t" r="r" b="b"/>
            <a:pathLst>
              <a:path w="5375133" h="8472926">
                <a:moveTo>
                  <a:pt x="5375133" y="8472926"/>
                </a:moveTo>
                <a:lnTo>
                  <a:pt x="0" y="8472926"/>
                </a:lnTo>
                <a:lnTo>
                  <a:pt x="0" y="0"/>
                </a:lnTo>
                <a:lnTo>
                  <a:pt x="5375133" y="0"/>
                </a:lnTo>
                <a:lnTo>
                  <a:pt x="5375133" y="8472926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r="-61881"/>
            </a:stretch>
          </a:blipFill>
        </p:spPr>
      </p:sp>
      <p:grpSp>
        <p:nvGrpSpPr>
          <p:cNvPr id="5" name="Group 5"/>
          <p:cNvGrpSpPr/>
          <p:nvPr/>
        </p:nvGrpSpPr>
        <p:grpSpPr>
          <a:xfrm>
            <a:off x="0" y="9111317"/>
            <a:ext cx="19665504" cy="3608240"/>
            <a:chOff x="0" y="0"/>
            <a:chExt cx="5179392" cy="95031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179392" cy="950318"/>
            </a:xfrm>
            <a:custGeom>
              <a:avLst/>
              <a:gdLst/>
              <a:ahLst/>
              <a:cxnLst/>
              <a:rect l="l" t="t" r="r" b="b"/>
              <a:pathLst>
                <a:path w="5179392" h="950318">
                  <a:moveTo>
                    <a:pt x="0" y="0"/>
                  </a:moveTo>
                  <a:lnTo>
                    <a:pt x="5179392" y="0"/>
                  </a:lnTo>
                  <a:lnTo>
                    <a:pt x="5179392" y="950318"/>
                  </a:lnTo>
                  <a:lnTo>
                    <a:pt x="0" y="950318"/>
                  </a:lnTo>
                  <a:close/>
                </a:path>
              </a:pathLst>
            </a:custGeom>
            <a:solidFill>
              <a:srgbClr val="0B13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5179392" cy="9979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 rot="-4483572">
            <a:off x="13949186" y="3241666"/>
            <a:ext cx="10370812" cy="3768132"/>
            <a:chOff x="0" y="0"/>
            <a:chExt cx="2731407" cy="99243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2731407" cy="992430"/>
            </a:xfrm>
            <a:custGeom>
              <a:avLst/>
              <a:gdLst/>
              <a:ahLst/>
              <a:cxnLst/>
              <a:rect l="l" t="t" r="r" b="b"/>
              <a:pathLst>
                <a:path w="2731407" h="992430">
                  <a:moveTo>
                    <a:pt x="0" y="0"/>
                  </a:moveTo>
                  <a:lnTo>
                    <a:pt x="2731407" y="0"/>
                  </a:lnTo>
                  <a:lnTo>
                    <a:pt x="2731407" y="992430"/>
                  </a:lnTo>
                  <a:lnTo>
                    <a:pt x="0" y="992430"/>
                  </a:lnTo>
                  <a:close/>
                </a:path>
              </a:pathLst>
            </a:custGeom>
            <a:solidFill>
              <a:srgbClr val="497183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47625"/>
              <a:ext cx="2731407" cy="10400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6774842" y="66084"/>
            <a:ext cx="1513158" cy="1513158"/>
          </a:xfrm>
          <a:custGeom>
            <a:avLst/>
            <a:gdLst/>
            <a:ahLst/>
            <a:cxnLst/>
            <a:rect l="l" t="t" r="r" b="b"/>
            <a:pathLst>
              <a:path w="1513158" h="1513158">
                <a:moveTo>
                  <a:pt x="0" y="0"/>
                </a:moveTo>
                <a:lnTo>
                  <a:pt x="1513158" y="0"/>
                </a:lnTo>
                <a:lnTo>
                  <a:pt x="1513158" y="1513159"/>
                </a:lnTo>
                <a:lnTo>
                  <a:pt x="0" y="151315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1910398" y="260689"/>
            <a:ext cx="4754303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Kollektif"/>
                <a:ea typeface="Kollektif"/>
                <a:cs typeface="Kollektif"/>
                <a:sym typeface="Kollektif"/>
              </a:rPr>
              <a:t>Bangladesh University of Engineering and Technology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601576" y="5076825"/>
            <a:ext cx="4915019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ctr">
              <a:lnSpc>
                <a:spcPts val="4759"/>
              </a:lnSpc>
              <a:buFont typeface="Arial"/>
              <a:buChar char="•"/>
            </a:pPr>
            <a:r>
              <a:rPr lang="en-US" sz="3399" u="sng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For Parabolic Input :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349758" y="461983"/>
            <a:ext cx="10367676" cy="1642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59"/>
              </a:lnSpc>
            </a:pPr>
            <a:r>
              <a:rPr lang="en-US" sz="53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Steady State Error Analysis </a:t>
            </a:r>
          </a:p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(without Controller)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590352" y="2247565"/>
            <a:ext cx="4277678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34059" lvl="1" indent="-367030" algn="ctr">
              <a:lnSpc>
                <a:spcPts val="4759"/>
              </a:lnSpc>
              <a:buFont typeface="Arial"/>
              <a:buChar char="•"/>
            </a:pPr>
            <a:r>
              <a:rPr lang="en-US" sz="3399" u="sng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For Ramp Input : </a:t>
            </a:r>
          </a:p>
        </p:txBody>
      </p:sp>
      <p:sp>
        <p:nvSpPr>
          <p:cNvPr id="16" name="Freeform 16"/>
          <p:cNvSpPr/>
          <p:nvPr/>
        </p:nvSpPr>
        <p:spPr>
          <a:xfrm>
            <a:off x="4748491" y="3037505"/>
            <a:ext cx="6264557" cy="1899669"/>
          </a:xfrm>
          <a:custGeom>
            <a:avLst/>
            <a:gdLst/>
            <a:ahLst/>
            <a:cxnLst/>
            <a:rect l="l" t="t" r="r" b="b"/>
            <a:pathLst>
              <a:path w="6264557" h="1899669">
                <a:moveTo>
                  <a:pt x="0" y="0"/>
                </a:moveTo>
                <a:lnTo>
                  <a:pt x="6264558" y="0"/>
                </a:lnTo>
                <a:lnTo>
                  <a:pt x="6264558" y="1899669"/>
                </a:lnTo>
                <a:lnTo>
                  <a:pt x="0" y="189966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748430" y="5678763"/>
            <a:ext cx="4632681" cy="5258396"/>
          </a:xfrm>
          <a:custGeom>
            <a:avLst/>
            <a:gdLst/>
            <a:ahLst/>
            <a:cxnLst/>
            <a:rect l="l" t="t" r="r" b="b"/>
            <a:pathLst>
              <a:path w="4632681" h="5258396">
                <a:moveTo>
                  <a:pt x="0" y="0"/>
                </a:moveTo>
                <a:lnTo>
                  <a:pt x="4632681" y="0"/>
                </a:lnTo>
                <a:lnTo>
                  <a:pt x="4632681" y="5258397"/>
                </a:lnTo>
                <a:lnTo>
                  <a:pt x="0" y="52583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r="-43679"/>
            </a:stretch>
          </a:blipFill>
        </p:spPr>
      </p:sp>
      <p:sp>
        <p:nvSpPr>
          <p:cNvPr id="3" name="Freeform 3"/>
          <p:cNvSpPr/>
          <p:nvPr/>
        </p:nvSpPr>
        <p:spPr>
          <a:xfrm rot="-5400000" flipH="1" flipV="1">
            <a:off x="14843854" y="-2110951"/>
            <a:ext cx="5375133" cy="8472926"/>
          </a:xfrm>
          <a:custGeom>
            <a:avLst/>
            <a:gdLst/>
            <a:ahLst/>
            <a:cxnLst/>
            <a:rect l="l" t="t" r="r" b="b"/>
            <a:pathLst>
              <a:path w="5375133" h="8472926">
                <a:moveTo>
                  <a:pt x="5375133" y="8472926"/>
                </a:moveTo>
                <a:lnTo>
                  <a:pt x="0" y="8472926"/>
                </a:lnTo>
                <a:lnTo>
                  <a:pt x="0" y="0"/>
                </a:lnTo>
                <a:lnTo>
                  <a:pt x="5375133" y="0"/>
                </a:lnTo>
                <a:lnTo>
                  <a:pt x="5375133" y="8472926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r="-61881"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0" y="9111317"/>
            <a:ext cx="19665504" cy="3608240"/>
            <a:chOff x="0" y="0"/>
            <a:chExt cx="5179392" cy="95031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179392" cy="950318"/>
            </a:xfrm>
            <a:custGeom>
              <a:avLst/>
              <a:gdLst/>
              <a:ahLst/>
              <a:cxnLst/>
              <a:rect l="l" t="t" r="r" b="b"/>
              <a:pathLst>
                <a:path w="5179392" h="950318">
                  <a:moveTo>
                    <a:pt x="0" y="0"/>
                  </a:moveTo>
                  <a:lnTo>
                    <a:pt x="5179392" y="0"/>
                  </a:lnTo>
                  <a:lnTo>
                    <a:pt x="5179392" y="950318"/>
                  </a:lnTo>
                  <a:lnTo>
                    <a:pt x="0" y="950318"/>
                  </a:lnTo>
                  <a:close/>
                </a:path>
              </a:pathLst>
            </a:custGeom>
            <a:solidFill>
              <a:srgbClr val="0B1320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5179392" cy="9979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 rot="-4483572">
            <a:off x="13949186" y="3271605"/>
            <a:ext cx="10370812" cy="3768132"/>
            <a:chOff x="0" y="0"/>
            <a:chExt cx="2731407" cy="99243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31407" cy="992430"/>
            </a:xfrm>
            <a:custGeom>
              <a:avLst/>
              <a:gdLst/>
              <a:ahLst/>
              <a:cxnLst/>
              <a:rect l="l" t="t" r="r" b="b"/>
              <a:pathLst>
                <a:path w="2731407" h="992430">
                  <a:moveTo>
                    <a:pt x="0" y="0"/>
                  </a:moveTo>
                  <a:lnTo>
                    <a:pt x="2731407" y="0"/>
                  </a:lnTo>
                  <a:lnTo>
                    <a:pt x="2731407" y="992430"/>
                  </a:lnTo>
                  <a:lnTo>
                    <a:pt x="0" y="992430"/>
                  </a:lnTo>
                  <a:close/>
                </a:path>
              </a:pathLst>
            </a:custGeom>
            <a:solidFill>
              <a:srgbClr val="497183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2731407" cy="10400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16774842" y="66084"/>
            <a:ext cx="1513158" cy="1513158"/>
          </a:xfrm>
          <a:custGeom>
            <a:avLst/>
            <a:gdLst/>
            <a:ahLst/>
            <a:cxnLst/>
            <a:rect l="l" t="t" r="r" b="b"/>
            <a:pathLst>
              <a:path w="1513158" h="1513158">
                <a:moveTo>
                  <a:pt x="0" y="0"/>
                </a:moveTo>
                <a:lnTo>
                  <a:pt x="1513158" y="0"/>
                </a:lnTo>
                <a:lnTo>
                  <a:pt x="1513158" y="1513159"/>
                </a:lnTo>
                <a:lnTo>
                  <a:pt x="0" y="151315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3220222" y="2642352"/>
            <a:ext cx="11847556" cy="5923778"/>
          </a:xfrm>
          <a:custGeom>
            <a:avLst/>
            <a:gdLst/>
            <a:ahLst/>
            <a:cxnLst/>
            <a:rect l="l" t="t" r="r" b="b"/>
            <a:pathLst>
              <a:path w="11847556" h="5923778">
                <a:moveTo>
                  <a:pt x="0" y="0"/>
                </a:moveTo>
                <a:lnTo>
                  <a:pt x="11847556" y="0"/>
                </a:lnTo>
                <a:lnTo>
                  <a:pt x="11847556" y="5923778"/>
                </a:lnTo>
                <a:lnTo>
                  <a:pt x="0" y="592377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1910398" y="260689"/>
            <a:ext cx="4754303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Kollektif"/>
                <a:ea typeface="Kollektif"/>
                <a:cs typeface="Kollektif"/>
                <a:sym typeface="Kollektif"/>
              </a:rPr>
              <a:t>Bangladesh University of Engineering and Technology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63056" y="385562"/>
            <a:ext cx="7113270" cy="1713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39"/>
              </a:lnSpc>
            </a:pPr>
            <a:r>
              <a:rPr lang="en-US" sz="55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System Responses </a:t>
            </a:r>
          </a:p>
          <a:p>
            <a:pPr algn="ctr">
              <a:lnSpc>
                <a:spcPts val="5880"/>
              </a:lnSpc>
            </a:pPr>
            <a:r>
              <a:rPr lang="en-US" sz="42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(without Controller)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924800" y="1801979"/>
            <a:ext cx="3463413" cy="5803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Unit Step Input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748430" y="5678763"/>
            <a:ext cx="4632681" cy="5258396"/>
          </a:xfrm>
          <a:custGeom>
            <a:avLst/>
            <a:gdLst/>
            <a:ahLst/>
            <a:cxnLst/>
            <a:rect l="l" t="t" r="r" b="b"/>
            <a:pathLst>
              <a:path w="4632681" h="5258396">
                <a:moveTo>
                  <a:pt x="0" y="0"/>
                </a:moveTo>
                <a:lnTo>
                  <a:pt x="4632681" y="0"/>
                </a:lnTo>
                <a:lnTo>
                  <a:pt x="4632681" y="5258397"/>
                </a:lnTo>
                <a:lnTo>
                  <a:pt x="0" y="52583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r="-43679"/>
            </a:stretch>
          </a:blipFill>
        </p:spPr>
      </p:sp>
      <p:sp>
        <p:nvSpPr>
          <p:cNvPr id="3" name="Freeform 3"/>
          <p:cNvSpPr/>
          <p:nvPr/>
        </p:nvSpPr>
        <p:spPr>
          <a:xfrm rot="-5400000" flipH="1" flipV="1">
            <a:off x="14843854" y="-2110951"/>
            <a:ext cx="5375133" cy="8472926"/>
          </a:xfrm>
          <a:custGeom>
            <a:avLst/>
            <a:gdLst/>
            <a:ahLst/>
            <a:cxnLst/>
            <a:rect l="l" t="t" r="r" b="b"/>
            <a:pathLst>
              <a:path w="5375133" h="8472926">
                <a:moveTo>
                  <a:pt x="5375133" y="8472926"/>
                </a:moveTo>
                <a:lnTo>
                  <a:pt x="0" y="8472926"/>
                </a:lnTo>
                <a:lnTo>
                  <a:pt x="0" y="0"/>
                </a:lnTo>
                <a:lnTo>
                  <a:pt x="5375133" y="0"/>
                </a:lnTo>
                <a:lnTo>
                  <a:pt x="5375133" y="8472926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r="-61881"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0" y="9111317"/>
            <a:ext cx="19665504" cy="3608240"/>
            <a:chOff x="0" y="0"/>
            <a:chExt cx="5179392" cy="95031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179392" cy="950318"/>
            </a:xfrm>
            <a:custGeom>
              <a:avLst/>
              <a:gdLst/>
              <a:ahLst/>
              <a:cxnLst/>
              <a:rect l="l" t="t" r="r" b="b"/>
              <a:pathLst>
                <a:path w="5179392" h="950318">
                  <a:moveTo>
                    <a:pt x="0" y="0"/>
                  </a:moveTo>
                  <a:lnTo>
                    <a:pt x="5179392" y="0"/>
                  </a:lnTo>
                  <a:lnTo>
                    <a:pt x="5179392" y="950318"/>
                  </a:lnTo>
                  <a:lnTo>
                    <a:pt x="0" y="950318"/>
                  </a:lnTo>
                  <a:close/>
                </a:path>
              </a:pathLst>
            </a:custGeom>
            <a:solidFill>
              <a:srgbClr val="0B1320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5179392" cy="9979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 rot="-4483572">
            <a:off x="13949186" y="3241666"/>
            <a:ext cx="10370812" cy="3768132"/>
            <a:chOff x="0" y="0"/>
            <a:chExt cx="2731407" cy="99243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31407" cy="992430"/>
            </a:xfrm>
            <a:custGeom>
              <a:avLst/>
              <a:gdLst/>
              <a:ahLst/>
              <a:cxnLst/>
              <a:rect l="l" t="t" r="r" b="b"/>
              <a:pathLst>
                <a:path w="2731407" h="992430">
                  <a:moveTo>
                    <a:pt x="0" y="0"/>
                  </a:moveTo>
                  <a:lnTo>
                    <a:pt x="2731407" y="0"/>
                  </a:lnTo>
                  <a:lnTo>
                    <a:pt x="2731407" y="992430"/>
                  </a:lnTo>
                  <a:lnTo>
                    <a:pt x="0" y="992430"/>
                  </a:lnTo>
                  <a:close/>
                </a:path>
              </a:pathLst>
            </a:custGeom>
            <a:solidFill>
              <a:srgbClr val="497183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2731407" cy="10400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16774842" y="66084"/>
            <a:ext cx="1513158" cy="1513158"/>
          </a:xfrm>
          <a:custGeom>
            <a:avLst/>
            <a:gdLst/>
            <a:ahLst/>
            <a:cxnLst/>
            <a:rect l="l" t="t" r="r" b="b"/>
            <a:pathLst>
              <a:path w="1513158" h="1513158">
                <a:moveTo>
                  <a:pt x="0" y="0"/>
                </a:moveTo>
                <a:lnTo>
                  <a:pt x="1513158" y="0"/>
                </a:lnTo>
                <a:lnTo>
                  <a:pt x="1513158" y="1513159"/>
                </a:lnTo>
                <a:lnTo>
                  <a:pt x="0" y="151315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3004135" y="2581029"/>
            <a:ext cx="12064288" cy="6032144"/>
          </a:xfrm>
          <a:custGeom>
            <a:avLst/>
            <a:gdLst/>
            <a:ahLst/>
            <a:cxnLst/>
            <a:rect l="l" t="t" r="r" b="b"/>
            <a:pathLst>
              <a:path w="12064288" h="6032144">
                <a:moveTo>
                  <a:pt x="0" y="0"/>
                </a:moveTo>
                <a:lnTo>
                  <a:pt x="12064287" y="0"/>
                </a:lnTo>
                <a:lnTo>
                  <a:pt x="12064287" y="6032144"/>
                </a:lnTo>
                <a:lnTo>
                  <a:pt x="0" y="603214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1910398" y="260689"/>
            <a:ext cx="4754303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Kollektif"/>
                <a:ea typeface="Kollektif"/>
                <a:cs typeface="Kollektif"/>
                <a:sym typeface="Kollektif"/>
              </a:rPr>
              <a:t>Bangladesh University of Engineering and Technology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273769" y="1801979"/>
            <a:ext cx="2457688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Ramp Input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40474" y="385562"/>
            <a:ext cx="7113270" cy="1713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39"/>
              </a:lnSpc>
            </a:pPr>
            <a:r>
              <a:rPr lang="en-US" sz="55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System Responses </a:t>
            </a:r>
          </a:p>
          <a:p>
            <a:pPr algn="ctr">
              <a:lnSpc>
                <a:spcPts val="5880"/>
              </a:lnSpc>
            </a:pPr>
            <a:r>
              <a:rPr lang="en-US" sz="42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(without Controller)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748430" y="5678763"/>
            <a:ext cx="4632681" cy="5258396"/>
          </a:xfrm>
          <a:custGeom>
            <a:avLst/>
            <a:gdLst/>
            <a:ahLst/>
            <a:cxnLst/>
            <a:rect l="l" t="t" r="r" b="b"/>
            <a:pathLst>
              <a:path w="4632681" h="5258396">
                <a:moveTo>
                  <a:pt x="0" y="0"/>
                </a:moveTo>
                <a:lnTo>
                  <a:pt x="4632681" y="0"/>
                </a:lnTo>
                <a:lnTo>
                  <a:pt x="4632681" y="5258397"/>
                </a:lnTo>
                <a:lnTo>
                  <a:pt x="0" y="52583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r="-43679"/>
            </a:stretch>
          </a:blipFill>
        </p:spPr>
      </p:sp>
      <p:sp>
        <p:nvSpPr>
          <p:cNvPr id="3" name="Freeform 3"/>
          <p:cNvSpPr/>
          <p:nvPr/>
        </p:nvSpPr>
        <p:spPr>
          <a:xfrm rot="-5400000" flipH="1" flipV="1">
            <a:off x="14843854" y="-2110951"/>
            <a:ext cx="5375133" cy="8472926"/>
          </a:xfrm>
          <a:custGeom>
            <a:avLst/>
            <a:gdLst/>
            <a:ahLst/>
            <a:cxnLst/>
            <a:rect l="l" t="t" r="r" b="b"/>
            <a:pathLst>
              <a:path w="5375133" h="8472926">
                <a:moveTo>
                  <a:pt x="5375133" y="8472926"/>
                </a:moveTo>
                <a:lnTo>
                  <a:pt x="0" y="8472926"/>
                </a:lnTo>
                <a:lnTo>
                  <a:pt x="0" y="0"/>
                </a:lnTo>
                <a:lnTo>
                  <a:pt x="5375133" y="0"/>
                </a:lnTo>
                <a:lnTo>
                  <a:pt x="5375133" y="8472926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r="-61881"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0" y="9111317"/>
            <a:ext cx="19665504" cy="3608240"/>
            <a:chOff x="0" y="0"/>
            <a:chExt cx="5179392" cy="95031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179392" cy="950318"/>
            </a:xfrm>
            <a:custGeom>
              <a:avLst/>
              <a:gdLst/>
              <a:ahLst/>
              <a:cxnLst/>
              <a:rect l="l" t="t" r="r" b="b"/>
              <a:pathLst>
                <a:path w="5179392" h="950318">
                  <a:moveTo>
                    <a:pt x="0" y="0"/>
                  </a:moveTo>
                  <a:lnTo>
                    <a:pt x="5179392" y="0"/>
                  </a:lnTo>
                  <a:lnTo>
                    <a:pt x="5179392" y="950318"/>
                  </a:lnTo>
                  <a:lnTo>
                    <a:pt x="0" y="950318"/>
                  </a:lnTo>
                  <a:close/>
                </a:path>
              </a:pathLst>
            </a:custGeom>
            <a:solidFill>
              <a:srgbClr val="0B1320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5179392" cy="9979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 rot="-4483572">
            <a:off x="13949186" y="3241666"/>
            <a:ext cx="10370812" cy="3768132"/>
            <a:chOff x="0" y="0"/>
            <a:chExt cx="2731407" cy="99243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31407" cy="992430"/>
            </a:xfrm>
            <a:custGeom>
              <a:avLst/>
              <a:gdLst/>
              <a:ahLst/>
              <a:cxnLst/>
              <a:rect l="l" t="t" r="r" b="b"/>
              <a:pathLst>
                <a:path w="2731407" h="992430">
                  <a:moveTo>
                    <a:pt x="0" y="0"/>
                  </a:moveTo>
                  <a:lnTo>
                    <a:pt x="2731407" y="0"/>
                  </a:lnTo>
                  <a:lnTo>
                    <a:pt x="2731407" y="992430"/>
                  </a:lnTo>
                  <a:lnTo>
                    <a:pt x="0" y="992430"/>
                  </a:lnTo>
                  <a:close/>
                </a:path>
              </a:pathLst>
            </a:custGeom>
            <a:solidFill>
              <a:srgbClr val="497183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2731407" cy="10400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16774842" y="66084"/>
            <a:ext cx="1513158" cy="1513158"/>
          </a:xfrm>
          <a:custGeom>
            <a:avLst/>
            <a:gdLst/>
            <a:ahLst/>
            <a:cxnLst/>
            <a:rect l="l" t="t" r="r" b="b"/>
            <a:pathLst>
              <a:path w="1513158" h="1513158">
                <a:moveTo>
                  <a:pt x="0" y="0"/>
                </a:moveTo>
                <a:lnTo>
                  <a:pt x="1513158" y="0"/>
                </a:lnTo>
                <a:lnTo>
                  <a:pt x="1513158" y="1513159"/>
                </a:lnTo>
                <a:lnTo>
                  <a:pt x="0" y="151315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2954762" y="2545617"/>
            <a:ext cx="12082241" cy="6041121"/>
          </a:xfrm>
          <a:custGeom>
            <a:avLst/>
            <a:gdLst/>
            <a:ahLst/>
            <a:cxnLst/>
            <a:rect l="l" t="t" r="r" b="b"/>
            <a:pathLst>
              <a:path w="12082241" h="6041121">
                <a:moveTo>
                  <a:pt x="0" y="0"/>
                </a:moveTo>
                <a:lnTo>
                  <a:pt x="12082241" y="0"/>
                </a:lnTo>
                <a:lnTo>
                  <a:pt x="12082241" y="6041120"/>
                </a:lnTo>
                <a:lnTo>
                  <a:pt x="0" y="604112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1910398" y="260689"/>
            <a:ext cx="4754303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Kollektif"/>
                <a:ea typeface="Kollektif"/>
                <a:cs typeface="Kollektif"/>
                <a:sym typeface="Kollektif"/>
              </a:rPr>
              <a:t>Bangladesh University of Engineering and Technology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753744" y="1801979"/>
            <a:ext cx="3363653" cy="5803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Parabolic Input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40474" y="385562"/>
            <a:ext cx="7113270" cy="1713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39"/>
              </a:lnSpc>
            </a:pPr>
            <a:r>
              <a:rPr lang="en-US" sz="55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System Responses </a:t>
            </a:r>
          </a:p>
          <a:p>
            <a:pPr algn="ctr">
              <a:lnSpc>
                <a:spcPts val="5880"/>
              </a:lnSpc>
            </a:pPr>
            <a:r>
              <a:rPr lang="en-US" sz="42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(without Controller)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748430" y="5678763"/>
            <a:ext cx="4632681" cy="5258396"/>
          </a:xfrm>
          <a:custGeom>
            <a:avLst/>
            <a:gdLst/>
            <a:ahLst/>
            <a:cxnLst/>
            <a:rect l="l" t="t" r="r" b="b"/>
            <a:pathLst>
              <a:path w="4632681" h="5258396">
                <a:moveTo>
                  <a:pt x="0" y="0"/>
                </a:moveTo>
                <a:lnTo>
                  <a:pt x="4632681" y="0"/>
                </a:lnTo>
                <a:lnTo>
                  <a:pt x="4632681" y="5258397"/>
                </a:lnTo>
                <a:lnTo>
                  <a:pt x="0" y="52583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r="-43679"/>
            </a:stretch>
          </a:blipFill>
        </p:spPr>
      </p:sp>
      <p:sp>
        <p:nvSpPr>
          <p:cNvPr id="3" name="Freeform 3"/>
          <p:cNvSpPr/>
          <p:nvPr/>
        </p:nvSpPr>
        <p:spPr>
          <a:xfrm rot="-5400000" flipH="1" flipV="1">
            <a:off x="14843854" y="-2110951"/>
            <a:ext cx="5375133" cy="8472926"/>
          </a:xfrm>
          <a:custGeom>
            <a:avLst/>
            <a:gdLst/>
            <a:ahLst/>
            <a:cxnLst/>
            <a:rect l="l" t="t" r="r" b="b"/>
            <a:pathLst>
              <a:path w="5375133" h="8472926">
                <a:moveTo>
                  <a:pt x="5375133" y="8472926"/>
                </a:moveTo>
                <a:lnTo>
                  <a:pt x="0" y="8472926"/>
                </a:lnTo>
                <a:lnTo>
                  <a:pt x="0" y="0"/>
                </a:lnTo>
                <a:lnTo>
                  <a:pt x="5375133" y="0"/>
                </a:lnTo>
                <a:lnTo>
                  <a:pt x="5375133" y="8472926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r="-61881"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0" y="9111317"/>
            <a:ext cx="19665504" cy="3608240"/>
            <a:chOff x="0" y="0"/>
            <a:chExt cx="5179392" cy="95031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179392" cy="950318"/>
            </a:xfrm>
            <a:custGeom>
              <a:avLst/>
              <a:gdLst/>
              <a:ahLst/>
              <a:cxnLst/>
              <a:rect l="l" t="t" r="r" b="b"/>
              <a:pathLst>
                <a:path w="5179392" h="950318">
                  <a:moveTo>
                    <a:pt x="0" y="0"/>
                  </a:moveTo>
                  <a:lnTo>
                    <a:pt x="5179392" y="0"/>
                  </a:lnTo>
                  <a:lnTo>
                    <a:pt x="5179392" y="950318"/>
                  </a:lnTo>
                  <a:lnTo>
                    <a:pt x="0" y="950318"/>
                  </a:lnTo>
                  <a:close/>
                </a:path>
              </a:pathLst>
            </a:custGeom>
            <a:solidFill>
              <a:srgbClr val="0B1320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5179392" cy="9979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 rot="-4483572">
            <a:off x="13949186" y="3241666"/>
            <a:ext cx="10370812" cy="3768132"/>
            <a:chOff x="0" y="0"/>
            <a:chExt cx="2731407" cy="99243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31407" cy="992430"/>
            </a:xfrm>
            <a:custGeom>
              <a:avLst/>
              <a:gdLst/>
              <a:ahLst/>
              <a:cxnLst/>
              <a:rect l="l" t="t" r="r" b="b"/>
              <a:pathLst>
                <a:path w="2731407" h="992430">
                  <a:moveTo>
                    <a:pt x="0" y="0"/>
                  </a:moveTo>
                  <a:lnTo>
                    <a:pt x="2731407" y="0"/>
                  </a:lnTo>
                  <a:lnTo>
                    <a:pt x="2731407" y="992430"/>
                  </a:lnTo>
                  <a:lnTo>
                    <a:pt x="0" y="992430"/>
                  </a:lnTo>
                  <a:close/>
                </a:path>
              </a:pathLst>
            </a:custGeom>
            <a:solidFill>
              <a:srgbClr val="497183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2731407" cy="10400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16774842" y="66084"/>
            <a:ext cx="1513158" cy="1513158"/>
          </a:xfrm>
          <a:custGeom>
            <a:avLst/>
            <a:gdLst/>
            <a:ahLst/>
            <a:cxnLst/>
            <a:rect l="l" t="t" r="r" b="b"/>
            <a:pathLst>
              <a:path w="1513158" h="1513158">
                <a:moveTo>
                  <a:pt x="0" y="0"/>
                </a:moveTo>
                <a:lnTo>
                  <a:pt x="1513158" y="0"/>
                </a:lnTo>
                <a:lnTo>
                  <a:pt x="1513158" y="1513159"/>
                </a:lnTo>
                <a:lnTo>
                  <a:pt x="0" y="151315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2916869" y="2651674"/>
            <a:ext cx="10378089" cy="5453857"/>
          </a:xfrm>
          <a:custGeom>
            <a:avLst/>
            <a:gdLst/>
            <a:ahLst/>
            <a:cxnLst/>
            <a:rect l="l" t="t" r="r" b="b"/>
            <a:pathLst>
              <a:path w="10378089" h="5453857">
                <a:moveTo>
                  <a:pt x="0" y="0"/>
                </a:moveTo>
                <a:lnTo>
                  <a:pt x="10378089" y="0"/>
                </a:lnTo>
                <a:lnTo>
                  <a:pt x="10378089" y="5453857"/>
                </a:lnTo>
                <a:lnTo>
                  <a:pt x="0" y="545385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r="-13271" b="-20973"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1910398" y="260689"/>
            <a:ext cx="4754303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Kollektif"/>
                <a:ea typeface="Kollektif"/>
                <a:cs typeface="Kollektif"/>
                <a:sym typeface="Kollektif"/>
              </a:rPr>
              <a:t>Bangladesh University of Engineering and Technology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781386" y="1801979"/>
            <a:ext cx="3442454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Sinusoidal Input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40474" y="385562"/>
            <a:ext cx="7113270" cy="17138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39"/>
              </a:lnSpc>
            </a:pPr>
            <a:r>
              <a:rPr lang="en-US" sz="55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System Responses </a:t>
            </a:r>
          </a:p>
          <a:p>
            <a:pPr algn="ctr">
              <a:lnSpc>
                <a:spcPts val="5880"/>
              </a:lnSpc>
            </a:pPr>
            <a:r>
              <a:rPr lang="en-US" sz="42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(without Controller)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748430" y="5678763"/>
            <a:ext cx="4632681" cy="5258396"/>
          </a:xfrm>
          <a:custGeom>
            <a:avLst/>
            <a:gdLst/>
            <a:ahLst/>
            <a:cxnLst/>
            <a:rect l="l" t="t" r="r" b="b"/>
            <a:pathLst>
              <a:path w="4632681" h="5258396">
                <a:moveTo>
                  <a:pt x="0" y="0"/>
                </a:moveTo>
                <a:lnTo>
                  <a:pt x="4632681" y="0"/>
                </a:lnTo>
                <a:lnTo>
                  <a:pt x="4632681" y="5258397"/>
                </a:lnTo>
                <a:lnTo>
                  <a:pt x="0" y="52583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r="-43679"/>
            </a:stretch>
          </a:blipFill>
        </p:spPr>
      </p:sp>
      <p:sp>
        <p:nvSpPr>
          <p:cNvPr id="3" name="Freeform 3"/>
          <p:cNvSpPr/>
          <p:nvPr/>
        </p:nvSpPr>
        <p:spPr>
          <a:xfrm rot="-5400000" flipH="1" flipV="1">
            <a:off x="14843854" y="-2110951"/>
            <a:ext cx="5375133" cy="8472926"/>
          </a:xfrm>
          <a:custGeom>
            <a:avLst/>
            <a:gdLst/>
            <a:ahLst/>
            <a:cxnLst/>
            <a:rect l="l" t="t" r="r" b="b"/>
            <a:pathLst>
              <a:path w="5375133" h="8472926">
                <a:moveTo>
                  <a:pt x="5375133" y="8472926"/>
                </a:moveTo>
                <a:lnTo>
                  <a:pt x="0" y="8472926"/>
                </a:lnTo>
                <a:lnTo>
                  <a:pt x="0" y="0"/>
                </a:lnTo>
                <a:lnTo>
                  <a:pt x="5375133" y="0"/>
                </a:lnTo>
                <a:lnTo>
                  <a:pt x="5375133" y="8472926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r="-61881"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0" y="9111317"/>
            <a:ext cx="19665504" cy="3608240"/>
            <a:chOff x="0" y="0"/>
            <a:chExt cx="5179392" cy="95031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179392" cy="950318"/>
            </a:xfrm>
            <a:custGeom>
              <a:avLst/>
              <a:gdLst/>
              <a:ahLst/>
              <a:cxnLst/>
              <a:rect l="l" t="t" r="r" b="b"/>
              <a:pathLst>
                <a:path w="5179392" h="950318">
                  <a:moveTo>
                    <a:pt x="0" y="0"/>
                  </a:moveTo>
                  <a:lnTo>
                    <a:pt x="5179392" y="0"/>
                  </a:lnTo>
                  <a:lnTo>
                    <a:pt x="5179392" y="950318"/>
                  </a:lnTo>
                  <a:lnTo>
                    <a:pt x="0" y="950318"/>
                  </a:lnTo>
                  <a:close/>
                </a:path>
              </a:pathLst>
            </a:custGeom>
            <a:solidFill>
              <a:srgbClr val="0B1320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5179392" cy="9979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 rot="-4483572">
            <a:off x="13949186" y="3241666"/>
            <a:ext cx="10370812" cy="3768132"/>
            <a:chOff x="0" y="0"/>
            <a:chExt cx="2731407" cy="99243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31407" cy="992430"/>
            </a:xfrm>
            <a:custGeom>
              <a:avLst/>
              <a:gdLst/>
              <a:ahLst/>
              <a:cxnLst/>
              <a:rect l="l" t="t" r="r" b="b"/>
              <a:pathLst>
                <a:path w="2731407" h="992430">
                  <a:moveTo>
                    <a:pt x="0" y="0"/>
                  </a:moveTo>
                  <a:lnTo>
                    <a:pt x="2731407" y="0"/>
                  </a:lnTo>
                  <a:lnTo>
                    <a:pt x="2731407" y="992430"/>
                  </a:lnTo>
                  <a:lnTo>
                    <a:pt x="0" y="992430"/>
                  </a:lnTo>
                  <a:close/>
                </a:path>
              </a:pathLst>
            </a:custGeom>
            <a:solidFill>
              <a:srgbClr val="497183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2731407" cy="10400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16774842" y="66084"/>
            <a:ext cx="1513158" cy="1513158"/>
          </a:xfrm>
          <a:custGeom>
            <a:avLst/>
            <a:gdLst/>
            <a:ahLst/>
            <a:cxnLst/>
            <a:rect l="l" t="t" r="r" b="b"/>
            <a:pathLst>
              <a:path w="1513158" h="1513158">
                <a:moveTo>
                  <a:pt x="0" y="0"/>
                </a:moveTo>
                <a:lnTo>
                  <a:pt x="1513158" y="0"/>
                </a:lnTo>
                <a:lnTo>
                  <a:pt x="1513158" y="1513159"/>
                </a:lnTo>
                <a:lnTo>
                  <a:pt x="0" y="151315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3367695" y="2594494"/>
            <a:ext cx="11714192" cy="5857096"/>
          </a:xfrm>
          <a:custGeom>
            <a:avLst/>
            <a:gdLst/>
            <a:ahLst/>
            <a:cxnLst/>
            <a:rect l="l" t="t" r="r" b="b"/>
            <a:pathLst>
              <a:path w="11714192" h="5857096">
                <a:moveTo>
                  <a:pt x="0" y="0"/>
                </a:moveTo>
                <a:lnTo>
                  <a:pt x="11714192" y="0"/>
                </a:lnTo>
                <a:lnTo>
                  <a:pt x="11714192" y="5857096"/>
                </a:lnTo>
                <a:lnTo>
                  <a:pt x="0" y="585709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1910398" y="260689"/>
            <a:ext cx="4754303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Kollektif"/>
                <a:ea typeface="Kollektif"/>
                <a:cs typeface="Kollektif"/>
                <a:sym typeface="Kollektif"/>
              </a:rPr>
              <a:t>Bangladesh University of Engineering and Technology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30299" y="456732"/>
            <a:ext cx="5547304" cy="16934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699"/>
              </a:lnSpc>
            </a:pPr>
            <a:r>
              <a:rPr lang="en-US" sz="5499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Bode Plot </a:t>
            </a:r>
          </a:p>
          <a:p>
            <a:pPr algn="ctr">
              <a:lnSpc>
                <a:spcPts val="5740"/>
              </a:lnSpc>
            </a:pPr>
            <a:r>
              <a:rPr lang="en-US" sz="4100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(without Controller)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305800" y="1801979"/>
            <a:ext cx="2328620" cy="5803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Magnitude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748430" y="5678763"/>
            <a:ext cx="4632681" cy="5258396"/>
          </a:xfrm>
          <a:custGeom>
            <a:avLst/>
            <a:gdLst/>
            <a:ahLst/>
            <a:cxnLst/>
            <a:rect l="l" t="t" r="r" b="b"/>
            <a:pathLst>
              <a:path w="4632681" h="5258396">
                <a:moveTo>
                  <a:pt x="0" y="0"/>
                </a:moveTo>
                <a:lnTo>
                  <a:pt x="4632681" y="0"/>
                </a:lnTo>
                <a:lnTo>
                  <a:pt x="4632681" y="5258397"/>
                </a:lnTo>
                <a:lnTo>
                  <a:pt x="0" y="52583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r="-43679"/>
            </a:stretch>
          </a:blipFill>
        </p:spPr>
      </p:sp>
      <p:sp>
        <p:nvSpPr>
          <p:cNvPr id="3" name="Freeform 3"/>
          <p:cNvSpPr/>
          <p:nvPr/>
        </p:nvSpPr>
        <p:spPr>
          <a:xfrm rot="-5400000" flipH="1" flipV="1">
            <a:off x="14843854" y="-2110951"/>
            <a:ext cx="5375133" cy="8472926"/>
          </a:xfrm>
          <a:custGeom>
            <a:avLst/>
            <a:gdLst/>
            <a:ahLst/>
            <a:cxnLst/>
            <a:rect l="l" t="t" r="r" b="b"/>
            <a:pathLst>
              <a:path w="5375133" h="8472926">
                <a:moveTo>
                  <a:pt x="5375133" y="8472926"/>
                </a:moveTo>
                <a:lnTo>
                  <a:pt x="0" y="8472926"/>
                </a:lnTo>
                <a:lnTo>
                  <a:pt x="0" y="0"/>
                </a:lnTo>
                <a:lnTo>
                  <a:pt x="5375133" y="0"/>
                </a:lnTo>
                <a:lnTo>
                  <a:pt x="5375133" y="8472926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r="-61881"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0" y="9111317"/>
            <a:ext cx="19665504" cy="3608240"/>
            <a:chOff x="0" y="0"/>
            <a:chExt cx="5179392" cy="95031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179392" cy="950318"/>
            </a:xfrm>
            <a:custGeom>
              <a:avLst/>
              <a:gdLst/>
              <a:ahLst/>
              <a:cxnLst/>
              <a:rect l="l" t="t" r="r" b="b"/>
              <a:pathLst>
                <a:path w="5179392" h="950318">
                  <a:moveTo>
                    <a:pt x="0" y="0"/>
                  </a:moveTo>
                  <a:lnTo>
                    <a:pt x="5179392" y="0"/>
                  </a:lnTo>
                  <a:lnTo>
                    <a:pt x="5179392" y="950318"/>
                  </a:lnTo>
                  <a:lnTo>
                    <a:pt x="0" y="950318"/>
                  </a:lnTo>
                  <a:close/>
                </a:path>
              </a:pathLst>
            </a:custGeom>
            <a:solidFill>
              <a:srgbClr val="0B1320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5179392" cy="9979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 rot="-4483572">
            <a:off x="13949186" y="3241666"/>
            <a:ext cx="10370812" cy="3768132"/>
            <a:chOff x="0" y="0"/>
            <a:chExt cx="2731407" cy="99243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31407" cy="992430"/>
            </a:xfrm>
            <a:custGeom>
              <a:avLst/>
              <a:gdLst/>
              <a:ahLst/>
              <a:cxnLst/>
              <a:rect l="l" t="t" r="r" b="b"/>
              <a:pathLst>
                <a:path w="2731407" h="992430">
                  <a:moveTo>
                    <a:pt x="0" y="0"/>
                  </a:moveTo>
                  <a:lnTo>
                    <a:pt x="2731407" y="0"/>
                  </a:lnTo>
                  <a:lnTo>
                    <a:pt x="2731407" y="992430"/>
                  </a:lnTo>
                  <a:lnTo>
                    <a:pt x="0" y="992430"/>
                  </a:lnTo>
                  <a:close/>
                </a:path>
              </a:pathLst>
            </a:custGeom>
            <a:solidFill>
              <a:srgbClr val="497183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2731407" cy="10400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16774842" y="66084"/>
            <a:ext cx="1513158" cy="1513158"/>
          </a:xfrm>
          <a:custGeom>
            <a:avLst/>
            <a:gdLst/>
            <a:ahLst/>
            <a:cxnLst/>
            <a:rect l="l" t="t" r="r" b="b"/>
            <a:pathLst>
              <a:path w="1513158" h="1513158">
                <a:moveTo>
                  <a:pt x="0" y="0"/>
                </a:moveTo>
                <a:lnTo>
                  <a:pt x="1513158" y="0"/>
                </a:lnTo>
                <a:lnTo>
                  <a:pt x="1513158" y="1513159"/>
                </a:lnTo>
                <a:lnTo>
                  <a:pt x="0" y="151315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3210601" y="2590501"/>
            <a:ext cx="11866798" cy="5933399"/>
          </a:xfrm>
          <a:custGeom>
            <a:avLst/>
            <a:gdLst/>
            <a:ahLst/>
            <a:cxnLst/>
            <a:rect l="l" t="t" r="r" b="b"/>
            <a:pathLst>
              <a:path w="11866798" h="5933399">
                <a:moveTo>
                  <a:pt x="0" y="0"/>
                </a:moveTo>
                <a:lnTo>
                  <a:pt x="11866798" y="0"/>
                </a:lnTo>
                <a:lnTo>
                  <a:pt x="11866798" y="5933399"/>
                </a:lnTo>
                <a:lnTo>
                  <a:pt x="0" y="593339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1910398" y="260689"/>
            <a:ext cx="4754303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Kollektif"/>
                <a:ea typeface="Kollektif"/>
                <a:cs typeface="Kollektif"/>
                <a:sym typeface="Kollektif"/>
              </a:rPr>
              <a:t>Bangladesh University of Engineering and Technology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869379" y="1801979"/>
            <a:ext cx="1266468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59"/>
              </a:lnSpc>
            </a:pPr>
            <a:r>
              <a:rPr lang="en-US" sz="33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Phase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30298" y="456732"/>
            <a:ext cx="5646701" cy="169341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7699"/>
              </a:lnSpc>
            </a:pPr>
            <a:r>
              <a:rPr lang="en-US" sz="5499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Bode Plot </a:t>
            </a:r>
          </a:p>
          <a:p>
            <a:pPr algn="ctr">
              <a:lnSpc>
                <a:spcPts val="5740"/>
              </a:lnSpc>
            </a:pPr>
            <a:r>
              <a:rPr lang="en-US" sz="4100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(without Controller)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748430" y="5678763"/>
            <a:ext cx="4632681" cy="5258396"/>
          </a:xfrm>
          <a:custGeom>
            <a:avLst/>
            <a:gdLst/>
            <a:ahLst/>
            <a:cxnLst/>
            <a:rect l="l" t="t" r="r" b="b"/>
            <a:pathLst>
              <a:path w="4632681" h="5258396">
                <a:moveTo>
                  <a:pt x="0" y="0"/>
                </a:moveTo>
                <a:lnTo>
                  <a:pt x="4632681" y="0"/>
                </a:lnTo>
                <a:lnTo>
                  <a:pt x="4632681" y="5258397"/>
                </a:lnTo>
                <a:lnTo>
                  <a:pt x="0" y="52583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8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r="-43679"/>
            </a:stretch>
          </a:blipFill>
        </p:spPr>
      </p:sp>
      <p:sp>
        <p:nvSpPr>
          <p:cNvPr id="3" name="Freeform 3"/>
          <p:cNvSpPr/>
          <p:nvPr/>
        </p:nvSpPr>
        <p:spPr>
          <a:xfrm rot="-5400000" flipH="1" flipV="1">
            <a:off x="14843854" y="-2110951"/>
            <a:ext cx="5375133" cy="8472926"/>
          </a:xfrm>
          <a:custGeom>
            <a:avLst/>
            <a:gdLst/>
            <a:ahLst/>
            <a:cxnLst/>
            <a:rect l="l" t="t" r="r" b="b"/>
            <a:pathLst>
              <a:path w="5375133" h="8472926">
                <a:moveTo>
                  <a:pt x="5375133" y="8472926"/>
                </a:moveTo>
                <a:lnTo>
                  <a:pt x="0" y="8472926"/>
                </a:lnTo>
                <a:lnTo>
                  <a:pt x="0" y="0"/>
                </a:lnTo>
                <a:lnTo>
                  <a:pt x="5375133" y="0"/>
                </a:lnTo>
                <a:lnTo>
                  <a:pt x="5375133" y="8472926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r="-61881"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0" y="9111317"/>
            <a:ext cx="19665504" cy="3608240"/>
            <a:chOff x="0" y="0"/>
            <a:chExt cx="5179392" cy="950318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179392" cy="950318"/>
            </a:xfrm>
            <a:custGeom>
              <a:avLst/>
              <a:gdLst/>
              <a:ahLst/>
              <a:cxnLst/>
              <a:rect l="l" t="t" r="r" b="b"/>
              <a:pathLst>
                <a:path w="5179392" h="950318">
                  <a:moveTo>
                    <a:pt x="0" y="0"/>
                  </a:moveTo>
                  <a:lnTo>
                    <a:pt x="5179392" y="0"/>
                  </a:lnTo>
                  <a:lnTo>
                    <a:pt x="5179392" y="950318"/>
                  </a:lnTo>
                  <a:lnTo>
                    <a:pt x="0" y="950318"/>
                  </a:lnTo>
                  <a:close/>
                </a:path>
              </a:pathLst>
            </a:custGeom>
            <a:solidFill>
              <a:srgbClr val="0B1320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5179392" cy="99794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 rot="-4483572">
            <a:off x="13949186" y="3241666"/>
            <a:ext cx="10370812" cy="3768132"/>
            <a:chOff x="0" y="0"/>
            <a:chExt cx="2731407" cy="99243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2731407" cy="992430"/>
            </a:xfrm>
            <a:custGeom>
              <a:avLst/>
              <a:gdLst/>
              <a:ahLst/>
              <a:cxnLst/>
              <a:rect l="l" t="t" r="r" b="b"/>
              <a:pathLst>
                <a:path w="2731407" h="992430">
                  <a:moveTo>
                    <a:pt x="0" y="0"/>
                  </a:moveTo>
                  <a:lnTo>
                    <a:pt x="2731407" y="0"/>
                  </a:lnTo>
                  <a:lnTo>
                    <a:pt x="2731407" y="992430"/>
                  </a:lnTo>
                  <a:lnTo>
                    <a:pt x="0" y="992430"/>
                  </a:lnTo>
                  <a:close/>
                </a:path>
              </a:pathLst>
            </a:custGeom>
            <a:solidFill>
              <a:srgbClr val="497183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0" y="-47625"/>
              <a:ext cx="2731407" cy="104005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0" name="Freeform 10"/>
          <p:cNvSpPr/>
          <p:nvPr/>
        </p:nvSpPr>
        <p:spPr>
          <a:xfrm>
            <a:off x="16774842" y="66084"/>
            <a:ext cx="1513158" cy="1513158"/>
          </a:xfrm>
          <a:custGeom>
            <a:avLst/>
            <a:gdLst/>
            <a:ahLst/>
            <a:cxnLst/>
            <a:rect l="l" t="t" r="r" b="b"/>
            <a:pathLst>
              <a:path w="1513158" h="1513158">
                <a:moveTo>
                  <a:pt x="0" y="0"/>
                </a:moveTo>
                <a:lnTo>
                  <a:pt x="1513158" y="0"/>
                </a:lnTo>
                <a:lnTo>
                  <a:pt x="1513158" y="1513159"/>
                </a:lnTo>
                <a:lnTo>
                  <a:pt x="0" y="151315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4197108" y="2225528"/>
            <a:ext cx="8586888" cy="6440166"/>
          </a:xfrm>
          <a:custGeom>
            <a:avLst/>
            <a:gdLst/>
            <a:ahLst/>
            <a:cxnLst/>
            <a:rect l="l" t="t" r="r" b="b"/>
            <a:pathLst>
              <a:path w="8586888" h="6440166">
                <a:moveTo>
                  <a:pt x="0" y="0"/>
                </a:moveTo>
                <a:lnTo>
                  <a:pt x="8586888" y="0"/>
                </a:lnTo>
                <a:lnTo>
                  <a:pt x="8586888" y="6440166"/>
                </a:lnTo>
                <a:lnTo>
                  <a:pt x="0" y="644016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11910398" y="260689"/>
            <a:ext cx="4754303" cy="105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000000"/>
                </a:solidFill>
                <a:latin typeface="Kollektif"/>
                <a:ea typeface="Kollektif"/>
                <a:cs typeface="Kollektif"/>
                <a:sym typeface="Kollektif"/>
              </a:rPr>
              <a:t>Bangladesh University of Engineering and Technology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56021" y="172720"/>
            <a:ext cx="5711693" cy="1749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979"/>
              </a:lnSpc>
            </a:pPr>
            <a:r>
              <a:rPr lang="en-US" sz="5699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Polar Plot </a:t>
            </a:r>
          </a:p>
          <a:p>
            <a:pPr algn="ctr">
              <a:lnSpc>
                <a:spcPts val="6020"/>
              </a:lnSpc>
            </a:pPr>
            <a:r>
              <a:rPr lang="en-US" sz="430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(without Controller)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067654" y="-764291"/>
            <a:ext cx="23231566" cy="13285595"/>
            <a:chOff x="0" y="0"/>
            <a:chExt cx="30975422" cy="17714127"/>
          </a:xfrm>
        </p:grpSpPr>
        <p:sp>
          <p:nvSpPr>
            <p:cNvPr id="3" name="Freeform 3"/>
            <p:cNvSpPr/>
            <p:nvPr/>
          </p:nvSpPr>
          <p:spPr>
            <a:xfrm rot="5400000">
              <a:off x="417144" y="8896286"/>
              <a:ext cx="6176907" cy="7011195"/>
            </a:xfrm>
            <a:custGeom>
              <a:avLst/>
              <a:gdLst/>
              <a:ahLst/>
              <a:cxnLst/>
              <a:rect l="l" t="t" r="r" b="b"/>
              <a:pathLst>
                <a:path w="6176907" h="7011195">
                  <a:moveTo>
                    <a:pt x="0" y="0"/>
                  </a:moveTo>
                  <a:lnTo>
                    <a:pt x="6176907" y="0"/>
                  </a:lnTo>
                  <a:lnTo>
                    <a:pt x="6176907" y="7011195"/>
                  </a:lnTo>
                  <a:lnTo>
                    <a:pt x="0" y="70111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48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r="-43679"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 rot="-5400000" flipH="1" flipV="1">
              <a:off x="19431113" y="-1667765"/>
              <a:ext cx="5787644" cy="9123175"/>
            </a:xfrm>
            <a:custGeom>
              <a:avLst/>
              <a:gdLst/>
              <a:ahLst/>
              <a:cxnLst/>
              <a:rect l="l" t="t" r="r" b="b"/>
              <a:pathLst>
                <a:path w="5787644" h="9123175">
                  <a:moveTo>
                    <a:pt x="5787644" y="9123174"/>
                  </a:moveTo>
                  <a:lnTo>
                    <a:pt x="0" y="9123174"/>
                  </a:lnTo>
                  <a:lnTo>
                    <a:pt x="0" y="0"/>
                  </a:lnTo>
                  <a:lnTo>
                    <a:pt x="5787644" y="0"/>
                  </a:lnTo>
                  <a:lnTo>
                    <a:pt x="5787644" y="9123174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r="-61881"/>
              </a:stretch>
            </a:blipFill>
          </p:spPr>
        </p:sp>
        <p:grpSp>
          <p:nvGrpSpPr>
            <p:cNvPr id="5" name="Group 5"/>
            <p:cNvGrpSpPr/>
            <p:nvPr/>
          </p:nvGrpSpPr>
          <p:grpSpPr>
            <a:xfrm>
              <a:off x="710797" y="13266548"/>
              <a:ext cx="26220673" cy="4447579"/>
              <a:chOff x="0" y="0"/>
              <a:chExt cx="5179392" cy="878534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5179392" cy="878534"/>
              </a:xfrm>
              <a:custGeom>
                <a:avLst/>
                <a:gdLst/>
                <a:ahLst/>
                <a:cxnLst/>
                <a:rect l="l" t="t" r="r" b="b"/>
                <a:pathLst>
                  <a:path w="5179392" h="878534">
                    <a:moveTo>
                      <a:pt x="0" y="0"/>
                    </a:moveTo>
                    <a:lnTo>
                      <a:pt x="5179392" y="0"/>
                    </a:lnTo>
                    <a:lnTo>
                      <a:pt x="5179392" y="878534"/>
                    </a:lnTo>
                    <a:lnTo>
                      <a:pt x="0" y="878534"/>
                    </a:lnTo>
                    <a:close/>
                  </a:path>
                </a:pathLst>
              </a:custGeom>
              <a:solidFill>
                <a:srgbClr val="0B1320"/>
              </a:solidFill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0" y="-47625"/>
                <a:ext cx="5179392" cy="92615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8" name="Group 8"/>
            <p:cNvGrpSpPr/>
            <p:nvPr/>
          </p:nvGrpSpPr>
          <p:grpSpPr>
            <a:xfrm rot="-4483572">
              <a:off x="20705501" y="6259635"/>
              <a:ext cx="12362043" cy="5101438"/>
              <a:chOff x="0" y="0"/>
              <a:chExt cx="2441885" cy="1007692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2441885" cy="1007691"/>
              </a:xfrm>
              <a:custGeom>
                <a:avLst/>
                <a:gdLst/>
                <a:ahLst/>
                <a:cxnLst/>
                <a:rect l="l" t="t" r="r" b="b"/>
                <a:pathLst>
                  <a:path w="2441885" h="1007691">
                    <a:moveTo>
                      <a:pt x="0" y="0"/>
                    </a:moveTo>
                    <a:lnTo>
                      <a:pt x="2441885" y="0"/>
                    </a:lnTo>
                    <a:lnTo>
                      <a:pt x="2441885" y="1007691"/>
                    </a:lnTo>
                    <a:lnTo>
                      <a:pt x="0" y="1007691"/>
                    </a:lnTo>
                    <a:close/>
                  </a:path>
                </a:pathLst>
              </a:custGeom>
              <a:solidFill>
                <a:srgbClr val="497183"/>
              </a:solidFill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-47625"/>
                <a:ext cx="2441885" cy="105531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1" name="Freeform 11"/>
            <p:cNvSpPr/>
            <p:nvPr/>
          </p:nvSpPr>
          <p:spPr>
            <a:xfrm>
              <a:off x="23995589" y="1224650"/>
              <a:ext cx="2017545" cy="2017545"/>
            </a:xfrm>
            <a:custGeom>
              <a:avLst/>
              <a:gdLst/>
              <a:ahLst/>
              <a:cxnLst/>
              <a:rect l="l" t="t" r="r" b="b"/>
              <a:pathLst>
                <a:path w="2017545" h="2017545">
                  <a:moveTo>
                    <a:pt x="0" y="0"/>
                  </a:moveTo>
                  <a:lnTo>
                    <a:pt x="2017545" y="0"/>
                  </a:lnTo>
                  <a:lnTo>
                    <a:pt x="2017545" y="2017545"/>
                  </a:lnTo>
                  <a:lnTo>
                    <a:pt x="0" y="20175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17656518" y="1506348"/>
              <a:ext cx="6339071" cy="138747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3000">
                  <a:solidFill>
                    <a:srgbClr val="000000"/>
                  </a:solidFill>
                  <a:latin typeface="Kollektif"/>
                  <a:ea typeface="Kollektif"/>
                  <a:cs typeface="Kollektif"/>
                  <a:sym typeface="Kollektif"/>
                </a:rPr>
                <a:t>Bangladesh University of Engineering and Technology</a:t>
              </a:r>
            </a:p>
          </p:txBody>
        </p:sp>
      </p:grpSp>
      <p:sp>
        <p:nvSpPr>
          <p:cNvPr id="13" name="Freeform 13"/>
          <p:cNvSpPr/>
          <p:nvPr/>
        </p:nvSpPr>
        <p:spPr>
          <a:xfrm>
            <a:off x="1028700" y="2515946"/>
            <a:ext cx="11027285" cy="415833"/>
          </a:xfrm>
          <a:custGeom>
            <a:avLst/>
            <a:gdLst/>
            <a:ahLst/>
            <a:cxnLst/>
            <a:rect l="l" t="t" r="r" b="b"/>
            <a:pathLst>
              <a:path w="11027285" h="415833">
                <a:moveTo>
                  <a:pt x="0" y="0"/>
                </a:moveTo>
                <a:lnTo>
                  <a:pt x="11027285" y="0"/>
                </a:lnTo>
                <a:lnTo>
                  <a:pt x="11027285" y="415834"/>
                </a:lnTo>
                <a:lnTo>
                  <a:pt x="0" y="41583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3216392" y="3214197"/>
            <a:ext cx="8495692" cy="1303124"/>
          </a:xfrm>
          <a:custGeom>
            <a:avLst/>
            <a:gdLst/>
            <a:ahLst/>
            <a:cxnLst/>
            <a:rect l="l" t="t" r="r" b="b"/>
            <a:pathLst>
              <a:path w="8495692" h="1303124">
                <a:moveTo>
                  <a:pt x="0" y="0"/>
                </a:moveTo>
                <a:lnTo>
                  <a:pt x="8495692" y="0"/>
                </a:lnTo>
                <a:lnTo>
                  <a:pt x="8495692" y="1303124"/>
                </a:lnTo>
                <a:lnTo>
                  <a:pt x="0" y="130312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028700" y="5434408"/>
            <a:ext cx="3908071" cy="444099"/>
          </a:xfrm>
          <a:custGeom>
            <a:avLst/>
            <a:gdLst/>
            <a:ahLst/>
            <a:cxnLst/>
            <a:rect l="l" t="t" r="r" b="b"/>
            <a:pathLst>
              <a:path w="3908071" h="444099">
                <a:moveTo>
                  <a:pt x="0" y="0"/>
                </a:moveTo>
                <a:lnTo>
                  <a:pt x="3908071" y="0"/>
                </a:lnTo>
                <a:lnTo>
                  <a:pt x="3908071" y="444099"/>
                </a:lnTo>
                <a:lnTo>
                  <a:pt x="0" y="44409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6722444" y="5063561"/>
            <a:ext cx="9246521" cy="3543059"/>
          </a:xfrm>
          <a:custGeom>
            <a:avLst/>
            <a:gdLst/>
            <a:ahLst/>
            <a:cxnLst/>
            <a:rect l="l" t="t" r="r" b="b"/>
            <a:pathLst>
              <a:path w="9246521" h="3543059">
                <a:moveTo>
                  <a:pt x="0" y="0"/>
                </a:moveTo>
                <a:lnTo>
                  <a:pt x="9246521" y="0"/>
                </a:lnTo>
                <a:lnTo>
                  <a:pt x="9246521" y="3543059"/>
                </a:lnTo>
                <a:lnTo>
                  <a:pt x="0" y="3543059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1924222" y="6093414"/>
            <a:ext cx="3788168" cy="458568"/>
          </a:xfrm>
          <a:custGeom>
            <a:avLst/>
            <a:gdLst/>
            <a:ahLst/>
            <a:cxnLst/>
            <a:rect l="l" t="t" r="r" b="b"/>
            <a:pathLst>
              <a:path w="3788168" h="458568">
                <a:moveTo>
                  <a:pt x="0" y="0"/>
                </a:moveTo>
                <a:lnTo>
                  <a:pt x="3788168" y="0"/>
                </a:lnTo>
                <a:lnTo>
                  <a:pt x="3788168" y="458568"/>
                </a:lnTo>
                <a:lnTo>
                  <a:pt x="0" y="45856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924222" y="6619641"/>
            <a:ext cx="4015198" cy="430899"/>
          </a:xfrm>
          <a:custGeom>
            <a:avLst/>
            <a:gdLst/>
            <a:ahLst/>
            <a:cxnLst/>
            <a:rect l="l" t="t" r="r" b="b"/>
            <a:pathLst>
              <a:path w="4015198" h="430899">
                <a:moveTo>
                  <a:pt x="0" y="0"/>
                </a:moveTo>
                <a:lnTo>
                  <a:pt x="4015198" y="0"/>
                </a:lnTo>
                <a:lnTo>
                  <a:pt x="4015198" y="430899"/>
                </a:lnTo>
                <a:lnTo>
                  <a:pt x="0" y="430899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1924222" y="7117215"/>
            <a:ext cx="4101467" cy="1015601"/>
          </a:xfrm>
          <a:custGeom>
            <a:avLst/>
            <a:gdLst/>
            <a:ahLst/>
            <a:cxnLst/>
            <a:rect l="l" t="t" r="r" b="b"/>
            <a:pathLst>
              <a:path w="4101467" h="1015601">
                <a:moveTo>
                  <a:pt x="0" y="0"/>
                </a:moveTo>
                <a:lnTo>
                  <a:pt x="4101467" y="0"/>
                </a:lnTo>
                <a:lnTo>
                  <a:pt x="4101467" y="1015601"/>
                </a:lnTo>
                <a:lnTo>
                  <a:pt x="0" y="1015601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20" name="TextBox 20"/>
          <p:cNvSpPr txBox="1"/>
          <p:nvPr/>
        </p:nvSpPr>
        <p:spPr>
          <a:xfrm>
            <a:off x="1028700" y="401222"/>
            <a:ext cx="4511214" cy="1131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373"/>
              </a:lnSpc>
            </a:pPr>
            <a:r>
              <a:rPr lang="en-US" sz="6695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PID Tuning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028700" y="1456153"/>
            <a:ext cx="8648700" cy="6794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 dirty="0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Using Ziegler–Nichols tuning rules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4029962">
            <a:off x="6480616" y="2079282"/>
            <a:ext cx="16195854" cy="10199318"/>
            <a:chOff x="0" y="0"/>
            <a:chExt cx="4265575" cy="26862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65575" cy="2686240"/>
            </a:xfrm>
            <a:custGeom>
              <a:avLst/>
              <a:gdLst/>
              <a:ahLst/>
              <a:cxnLst/>
              <a:rect l="l" t="t" r="r" b="b"/>
              <a:pathLst>
                <a:path w="4265575" h="2686240">
                  <a:moveTo>
                    <a:pt x="0" y="0"/>
                  </a:moveTo>
                  <a:lnTo>
                    <a:pt x="4265575" y="0"/>
                  </a:lnTo>
                  <a:lnTo>
                    <a:pt x="4265575" y="2686240"/>
                  </a:lnTo>
                  <a:lnTo>
                    <a:pt x="0" y="2686240"/>
                  </a:lnTo>
                  <a:close/>
                </a:path>
              </a:pathLst>
            </a:custGeom>
            <a:solidFill>
              <a:srgbClr val="0B132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265575" cy="27338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-4007976" flipH="1" flipV="1">
            <a:off x="16198149" y="7578422"/>
            <a:ext cx="4754343" cy="7494363"/>
          </a:xfrm>
          <a:custGeom>
            <a:avLst/>
            <a:gdLst/>
            <a:ahLst/>
            <a:cxnLst/>
            <a:rect l="l" t="t" r="r" b="b"/>
            <a:pathLst>
              <a:path w="4754343" h="7494363">
                <a:moveTo>
                  <a:pt x="4754343" y="7494362"/>
                </a:moveTo>
                <a:lnTo>
                  <a:pt x="0" y="7494362"/>
                </a:lnTo>
                <a:lnTo>
                  <a:pt x="0" y="0"/>
                </a:lnTo>
                <a:lnTo>
                  <a:pt x="4754343" y="0"/>
                </a:lnTo>
                <a:lnTo>
                  <a:pt x="4754343" y="7494362"/>
                </a:lnTo>
                <a:close/>
              </a:path>
            </a:pathLst>
          </a:custGeom>
          <a:blipFill>
            <a:blip r:embed="rId2">
              <a:alphaModFix amt="6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r="-61881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1429647" y="3481420"/>
            <a:ext cx="6334237" cy="4790937"/>
          </a:xfrm>
          <a:custGeom>
            <a:avLst/>
            <a:gdLst/>
            <a:ahLst/>
            <a:cxnLst/>
            <a:rect l="l" t="t" r="r" b="b"/>
            <a:pathLst>
              <a:path w="6334237" h="4790937">
                <a:moveTo>
                  <a:pt x="0" y="0"/>
                </a:moveTo>
                <a:lnTo>
                  <a:pt x="6334237" y="0"/>
                </a:lnTo>
                <a:lnTo>
                  <a:pt x="6334237" y="4790937"/>
                </a:lnTo>
                <a:lnTo>
                  <a:pt x="0" y="479093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511091" y="2748678"/>
            <a:ext cx="8851824" cy="6638868"/>
          </a:xfrm>
          <a:custGeom>
            <a:avLst/>
            <a:gdLst/>
            <a:ahLst/>
            <a:cxnLst/>
            <a:rect l="l" t="t" r="r" b="b"/>
            <a:pathLst>
              <a:path w="8851824" h="6638868">
                <a:moveTo>
                  <a:pt x="0" y="0"/>
                </a:moveTo>
                <a:lnTo>
                  <a:pt x="8851824" y="0"/>
                </a:lnTo>
                <a:lnTo>
                  <a:pt x="8851824" y="6638868"/>
                </a:lnTo>
                <a:lnTo>
                  <a:pt x="0" y="663886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028700" y="704929"/>
            <a:ext cx="10987128" cy="1089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33"/>
              </a:lnSpc>
            </a:pPr>
            <a:r>
              <a:rPr lang="en-US" sz="8299" b="1">
                <a:solidFill>
                  <a:srgbClr val="0B132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PID Tuning Results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2028239"/>
            <a:ext cx="9816606" cy="530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3999" b="1">
                <a:solidFill>
                  <a:srgbClr val="0B132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Using Ziegler–Nichols tuning rules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1910695" y="8773842"/>
            <a:ext cx="6267462" cy="1513158"/>
            <a:chOff x="0" y="0"/>
            <a:chExt cx="8356616" cy="2017545"/>
          </a:xfrm>
        </p:grpSpPr>
        <p:sp>
          <p:nvSpPr>
            <p:cNvPr id="11" name="Freeform 11"/>
            <p:cNvSpPr/>
            <p:nvPr/>
          </p:nvSpPr>
          <p:spPr>
            <a:xfrm>
              <a:off x="6339071" y="0"/>
              <a:ext cx="2017545" cy="2017545"/>
            </a:xfrm>
            <a:custGeom>
              <a:avLst/>
              <a:gdLst/>
              <a:ahLst/>
              <a:cxnLst/>
              <a:rect l="l" t="t" r="r" b="b"/>
              <a:pathLst>
                <a:path w="2017545" h="2017545">
                  <a:moveTo>
                    <a:pt x="0" y="0"/>
                  </a:moveTo>
                  <a:lnTo>
                    <a:pt x="2017545" y="0"/>
                  </a:lnTo>
                  <a:lnTo>
                    <a:pt x="2017545" y="2017545"/>
                  </a:lnTo>
                  <a:lnTo>
                    <a:pt x="0" y="20175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0" y="281698"/>
              <a:ext cx="6339071" cy="138747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3000">
                  <a:solidFill>
                    <a:srgbClr val="FFFFFF"/>
                  </a:solidFill>
                  <a:latin typeface="Kollektif"/>
                  <a:ea typeface="Kollektif"/>
                  <a:cs typeface="Kollektif"/>
                  <a:sym typeface="Kollektif"/>
                </a:rPr>
                <a:t>Bangladesh University of Engineering and Technology</a:t>
              </a:r>
            </a:p>
          </p:txBody>
        </p:sp>
      </p:grp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9261838">
            <a:off x="16550890" y="-1756052"/>
            <a:ext cx="3580560" cy="10320476"/>
            <a:chOff x="0" y="0"/>
            <a:chExt cx="943028" cy="271815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43028" cy="2718150"/>
            </a:xfrm>
            <a:custGeom>
              <a:avLst/>
              <a:gdLst/>
              <a:ahLst/>
              <a:cxnLst/>
              <a:rect l="l" t="t" r="r" b="b"/>
              <a:pathLst>
                <a:path w="943028" h="2718150">
                  <a:moveTo>
                    <a:pt x="0" y="0"/>
                  </a:moveTo>
                  <a:lnTo>
                    <a:pt x="943028" y="0"/>
                  </a:lnTo>
                  <a:lnTo>
                    <a:pt x="943028" y="2718150"/>
                  </a:lnTo>
                  <a:lnTo>
                    <a:pt x="0" y="2718150"/>
                  </a:lnTo>
                  <a:close/>
                </a:path>
              </a:pathLst>
            </a:custGeom>
            <a:solidFill>
              <a:srgbClr val="497183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943028" cy="2765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8914360">
            <a:off x="12913453" y="-3144056"/>
            <a:ext cx="8093176" cy="5501063"/>
            <a:chOff x="0" y="0"/>
            <a:chExt cx="2131536" cy="144884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31536" cy="1448840"/>
            </a:xfrm>
            <a:custGeom>
              <a:avLst/>
              <a:gdLst/>
              <a:ahLst/>
              <a:cxnLst/>
              <a:rect l="l" t="t" r="r" b="b"/>
              <a:pathLst>
                <a:path w="2131536" h="1448840">
                  <a:moveTo>
                    <a:pt x="0" y="0"/>
                  </a:moveTo>
                  <a:lnTo>
                    <a:pt x="2131536" y="0"/>
                  </a:lnTo>
                  <a:lnTo>
                    <a:pt x="2131536" y="1448840"/>
                  </a:lnTo>
                  <a:lnTo>
                    <a:pt x="0" y="1448840"/>
                  </a:lnTo>
                  <a:close/>
                </a:path>
              </a:pathLst>
            </a:custGeom>
            <a:solidFill>
              <a:srgbClr val="0B13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2131536" cy="14964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 rot="-2880474" flipH="1" flipV="1">
            <a:off x="15626704" y="-2423186"/>
            <a:ext cx="4379678" cy="6903771"/>
          </a:xfrm>
          <a:custGeom>
            <a:avLst/>
            <a:gdLst/>
            <a:ahLst/>
            <a:cxnLst/>
            <a:rect l="l" t="t" r="r" b="b"/>
            <a:pathLst>
              <a:path w="4379678" h="6903771">
                <a:moveTo>
                  <a:pt x="4379678" y="6903772"/>
                </a:moveTo>
                <a:lnTo>
                  <a:pt x="0" y="6903772"/>
                </a:lnTo>
                <a:lnTo>
                  <a:pt x="0" y="0"/>
                </a:lnTo>
                <a:lnTo>
                  <a:pt x="4379678" y="0"/>
                </a:lnTo>
                <a:lnTo>
                  <a:pt x="4379678" y="6903772"/>
                </a:lnTo>
                <a:close/>
              </a:path>
            </a:pathLst>
          </a:custGeom>
          <a:blipFill>
            <a:blip r:embed="rId2">
              <a:alphaModFix amt="6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r="-61881"/>
            </a:stretch>
          </a:blipFill>
        </p:spPr>
      </p:sp>
      <p:graphicFrame>
        <p:nvGraphicFramePr>
          <p:cNvPr id="9" name="Table 9"/>
          <p:cNvGraphicFramePr>
            <a:graphicFrameLocks noGrp="1"/>
          </p:cNvGraphicFramePr>
          <p:nvPr/>
        </p:nvGraphicFramePr>
        <p:xfrm>
          <a:off x="467137" y="1855470"/>
          <a:ext cx="15819725" cy="8131150"/>
        </p:xfrm>
        <a:graphic>
          <a:graphicData uri="http://schemas.openxmlformats.org/drawingml/2006/table">
            <a:tbl>
              <a:tblPr/>
              <a:tblGrid>
                <a:gridCol w="518875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42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889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320638"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1">
                          <a:solidFill>
                            <a:srgbClr val="000000"/>
                          </a:solidFill>
                          <a:latin typeface="Cooper BT Bold"/>
                          <a:ea typeface="Cooper BT Bold"/>
                          <a:cs typeface="Cooper BT Bold"/>
                          <a:sym typeface="Cooper BT Bold"/>
                        </a:rPr>
                        <a:t>Paper</a:t>
                      </a:r>
                      <a:endParaRPr lang="en-US" sz="1100"/>
                    </a:p>
                    <a:p>
                      <a:pPr algn="ctr">
                        <a:lnSpc>
                          <a:spcPts val="3499"/>
                        </a:lnSpc>
                      </a:pPr>
                      <a:r>
                        <a:rPr lang="en-US" sz="2499" b="1">
                          <a:solidFill>
                            <a:srgbClr val="000000"/>
                          </a:solidFill>
                          <a:latin typeface="Cooper BT Bold"/>
                          <a:ea typeface="Cooper BT Bold"/>
                          <a:cs typeface="Cooper BT Bold"/>
                          <a:sym typeface="Cooper BT Bold"/>
                        </a:rPr>
                        <a:t>  Reference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1">
                          <a:solidFill>
                            <a:srgbClr val="000000"/>
                          </a:solidFill>
                          <a:latin typeface="Cooper BT Bold"/>
                          <a:ea typeface="Cooper BT Bold"/>
                          <a:cs typeface="Cooper BT Bold"/>
                          <a:sym typeface="Cooper BT Bold"/>
                        </a:rPr>
                        <a:t>PID Tuning Algorithm Used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3499"/>
                        </a:lnSpc>
                        <a:defRPr/>
                      </a:pPr>
                      <a:r>
                        <a:rPr lang="en-US" sz="2499" b="1">
                          <a:solidFill>
                            <a:srgbClr val="000000"/>
                          </a:solidFill>
                          <a:latin typeface="Cooper BT Bold"/>
                          <a:ea typeface="Cooper BT Bold"/>
                          <a:cs typeface="Cooper BT Bold"/>
                          <a:sym typeface="Cooper BT Bold"/>
                        </a:rPr>
                        <a:t>Comments and Findings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62043">
                <a:tc>
                  <a:txBody>
                    <a:bodyPr/>
                    <a:lstStyle/>
                    <a:p>
                      <a:pPr algn="l">
                        <a:lnSpc>
                          <a:spcPts val="2519"/>
                        </a:lnSpc>
                        <a:defRPr/>
                      </a:pPr>
                      <a:r>
                        <a:rPr lang="en-US" sz="1799">
                          <a:solidFill>
                            <a:srgbClr val="000000"/>
                          </a:solidFill>
                          <a:latin typeface="Cooper BT Light"/>
                          <a:ea typeface="Cooper BT Light"/>
                          <a:cs typeface="Cooper BT Light"/>
                          <a:sym typeface="Cooper BT Light"/>
                        </a:rPr>
                        <a:t>Kumar et al. (2012) - "Tuning of PID Controller of Inverted Pendulum Using Genetic Algorithm"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Cooper BT Light"/>
                          <a:ea typeface="Cooper BT Light"/>
                          <a:cs typeface="Cooper BT Light"/>
                          <a:sym typeface="Cooper BT Light"/>
                        </a:rPr>
                        <a:t>Genetic</a:t>
                      </a:r>
                      <a:endParaRPr lang="en-US" sz="1100"/>
                    </a:p>
                    <a:p>
                      <a:pPr algn="ctr">
                        <a:lnSpc>
                          <a:spcPts val="2799"/>
                        </a:lnSpc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Cooper BT Light"/>
                          <a:ea typeface="Cooper BT Light"/>
                          <a:cs typeface="Cooper BT Light"/>
                          <a:sym typeface="Cooper BT Light"/>
                        </a:rPr>
                        <a:t>  Algorithm (GA)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ooper BT Light"/>
                          <a:ea typeface="Cooper BT Light"/>
                          <a:cs typeface="Cooper BT Light"/>
                          <a:sym typeface="Cooper BT Light"/>
                        </a:rPr>
                        <a:t>Similar to our work as it uses GA-based PID tuning on an inverted pendulum system, which is analogous to a two-wheeled self-balancing robot.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56549"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ooper BT Light"/>
                          <a:ea typeface="Cooper BT Light"/>
                          <a:cs typeface="Cooper BT Light"/>
                          <a:sym typeface="Cooper BT Light"/>
                        </a:rPr>
                        <a:t>Olmez et al. (2022) - "Clonal selection algorithm-based control for two-wheeled self-balancing mobile robot"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Cooper BT Light"/>
                          <a:ea typeface="Cooper BT Light"/>
                          <a:cs typeface="Cooper BT Light"/>
                          <a:sym typeface="Cooper BT Light"/>
                        </a:rPr>
                        <a:t>Clonal</a:t>
                      </a:r>
                      <a:endParaRPr lang="en-US" sz="1100"/>
                    </a:p>
                    <a:p>
                      <a:pPr algn="ctr">
                        <a:lnSpc>
                          <a:spcPts val="2799"/>
                        </a:lnSpc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Cooper BT Light"/>
                          <a:ea typeface="Cooper BT Light"/>
                          <a:cs typeface="Cooper BT Light"/>
                          <a:sym typeface="Cooper BT Light"/>
                        </a:rPr>
                        <a:t>  Selection Algorithm (CSA), PSO, ABC, DE, GoldSa-II, Cuckoo Search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ooper BT Light"/>
                          <a:ea typeface="Cooper BT Light"/>
                          <a:cs typeface="Cooper BT Light"/>
                          <a:sym typeface="Cooper BT Light"/>
                        </a:rPr>
                        <a:t>Directly relevant as it involves a two-wheeled self-balancing robot and demonstrates the comparative effectiveness of metaheuristic optimization methods for PID tuning.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11930"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ooper BT Light"/>
                          <a:ea typeface="Cooper BT Light"/>
                          <a:cs typeface="Cooper BT Light"/>
                          <a:sym typeface="Cooper BT Light"/>
                        </a:rPr>
                        <a:t>Hassanzadeh &amp; Mobayen (2011) -</a:t>
                      </a:r>
                      <a:endParaRPr lang="en-US" sz="1100"/>
                    </a:p>
                    <a:p>
                      <a:pPr algn="l">
                        <a:lnSpc>
                          <a:spcPts val="2520"/>
                        </a:lnSpc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ooper BT Light"/>
                          <a:ea typeface="Cooper BT Light"/>
                          <a:cs typeface="Cooper BT Light"/>
                          <a:sym typeface="Cooper BT Light"/>
                        </a:rPr>
                        <a:t>  "Controller Design for Rotary Inverted Pendulum System Using</a:t>
                      </a:r>
                    </a:p>
                    <a:p>
                      <a:pPr algn="l">
                        <a:lnSpc>
                          <a:spcPts val="2520"/>
                        </a:lnSpc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ooper BT Light"/>
                          <a:ea typeface="Cooper BT Light"/>
                          <a:cs typeface="Cooper BT Light"/>
                          <a:sym typeface="Cooper BT Light"/>
                        </a:rPr>
                        <a:t>  Evolutionary Algorithms"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Cooper BT Light"/>
                          <a:ea typeface="Cooper BT Light"/>
                          <a:cs typeface="Cooper BT Light"/>
                          <a:sym typeface="Cooper BT Light"/>
                        </a:rPr>
                        <a:t>GA,</a:t>
                      </a:r>
                      <a:endParaRPr lang="en-US" sz="1100"/>
                    </a:p>
                    <a:p>
                      <a:pPr algn="ctr">
                        <a:lnSpc>
                          <a:spcPts val="2799"/>
                        </a:lnSpc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Cooper BT Light"/>
                          <a:ea typeface="Cooper BT Light"/>
                          <a:cs typeface="Cooper BT Light"/>
                          <a:sym typeface="Cooper BT Light"/>
                        </a:rPr>
                        <a:t>  PSO, ACO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ooper BT Light"/>
                          <a:ea typeface="Cooper BT Light"/>
                          <a:cs typeface="Cooper BT Light"/>
                          <a:sym typeface="Cooper BT Light"/>
                        </a:rPr>
                        <a:t>Relevant as it tests multiple PID tuning methods, giving insights into algorithm effectiveness for balancing tasks similar to our two-wheeled robot scenario.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79990">
                <a:tc>
                  <a:txBody>
                    <a:bodyPr/>
                    <a:lstStyle/>
                    <a:p>
                      <a:pPr algn="l">
                        <a:lnSpc>
                          <a:spcPts val="2520"/>
                        </a:lnSpc>
                        <a:defRPr/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ooper BT Light"/>
                          <a:ea typeface="Cooper BT Light"/>
                          <a:cs typeface="Cooper BT Light"/>
                          <a:sym typeface="Cooper BT Light"/>
                        </a:rPr>
                        <a:t>Yetayew &amp; Tesfaye (2024) -</a:t>
                      </a:r>
                      <a:endParaRPr lang="en-US" sz="1100"/>
                    </a:p>
                    <a:p>
                      <a:pPr algn="l">
                        <a:lnSpc>
                          <a:spcPts val="2520"/>
                        </a:lnSpc>
                      </a:pPr>
                      <a:r>
                        <a:rPr lang="en-US" sz="1800">
                          <a:solidFill>
                            <a:srgbClr val="000000"/>
                          </a:solidFill>
                          <a:latin typeface="Cooper BT Light"/>
                          <a:ea typeface="Cooper BT Light"/>
                          <a:cs typeface="Cooper BT Light"/>
                          <a:sym typeface="Cooper BT Light"/>
                        </a:rPr>
                        <a:t>  "A Comparative Analysis of Metaheuristic Algorithms Tuned Supper Twisting Sliding Mode Control of a Self-balancing Segway"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799"/>
                        </a:lnSpc>
                        <a:defRPr/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Cooper BT Light"/>
                          <a:ea typeface="Cooper BT Light"/>
                          <a:cs typeface="Cooper BT Light"/>
                          <a:sym typeface="Cooper BT Light"/>
                        </a:rPr>
                        <a:t>GWO,</a:t>
                      </a:r>
                      <a:endParaRPr lang="en-US" sz="1100"/>
                    </a:p>
                    <a:p>
                      <a:pPr algn="ctr">
                        <a:lnSpc>
                          <a:spcPts val="2799"/>
                        </a:lnSpc>
                      </a:pPr>
                      <a:r>
                        <a:rPr lang="en-US" sz="1999">
                          <a:solidFill>
                            <a:srgbClr val="000000"/>
                          </a:solidFill>
                          <a:latin typeface="Cooper BT Light"/>
                          <a:ea typeface="Cooper BT Light"/>
                          <a:cs typeface="Cooper BT Light"/>
                          <a:sym typeface="Cooper BT Light"/>
                        </a:rPr>
                        <a:t>  GA, PSO</a:t>
                      </a:r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ts val="2659"/>
                        </a:lnSpc>
                        <a:defRPr/>
                      </a:pPr>
                      <a:r>
                        <a:rPr lang="en-US" sz="1899">
                          <a:solidFill>
                            <a:srgbClr val="000000"/>
                          </a:solidFill>
                          <a:latin typeface="Cooper BT Light"/>
                          <a:ea typeface="Cooper BT Light"/>
                          <a:cs typeface="Cooper BT Light"/>
                          <a:sym typeface="Cooper BT Light"/>
                        </a:rPr>
                        <a:t>Highly relevant; directly involves a two-wheeled self-balancing Segway system and compares multiple PID tuning algorithms, closely aligned with our project's goals.</a:t>
                      </a:r>
                      <a:endParaRPr lang="en-US" sz="1100"/>
                    </a:p>
                  </a:txBody>
                  <a:tcPr marL="190500" marR="190500" marT="190500" marB="190500" anchor="ctr">
                    <a:lnL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Box 10"/>
          <p:cNvSpPr txBox="1"/>
          <p:nvPr/>
        </p:nvSpPr>
        <p:spPr>
          <a:xfrm>
            <a:off x="270471" y="325755"/>
            <a:ext cx="12106302" cy="15297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6000" b="1">
                <a:solidFill>
                  <a:srgbClr val="0B132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Summary of Recent Research using different algorithms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1067654" y="-764291"/>
            <a:ext cx="23231566" cy="13285595"/>
            <a:chOff x="0" y="0"/>
            <a:chExt cx="30975422" cy="17714127"/>
          </a:xfrm>
        </p:grpSpPr>
        <p:sp>
          <p:nvSpPr>
            <p:cNvPr id="3" name="Freeform 3"/>
            <p:cNvSpPr/>
            <p:nvPr/>
          </p:nvSpPr>
          <p:spPr>
            <a:xfrm rot="5400000">
              <a:off x="417144" y="8896286"/>
              <a:ext cx="6176907" cy="7011195"/>
            </a:xfrm>
            <a:custGeom>
              <a:avLst/>
              <a:gdLst/>
              <a:ahLst/>
              <a:cxnLst/>
              <a:rect l="l" t="t" r="r" b="b"/>
              <a:pathLst>
                <a:path w="6176907" h="7011195">
                  <a:moveTo>
                    <a:pt x="0" y="0"/>
                  </a:moveTo>
                  <a:lnTo>
                    <a:pt x="6176907" y="0"/>
                  </a:lnTo>
                  <a:lnTo>
                    <a:pt x="6176907" y="7011195"/>
                  </a:lnTo>
                  <a:lnTo>
                    <a:pt x="0" y="701119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48000"/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 r="-43679"/>
              </a:stretch>
            </a:blipFill>
          </p:spPr>
        </p:sp>
        <p:sp>
          <p:nvSpPr>
            <p:cNvPr id="4" name="Freeform 4"/>
            <p:cNvSpPr/>
            <p:nvPr/>
          </p:nvSpPr>
          <p:spPr>
            <a:xfrm rot="-5400000" flipH="1" flipV="1">
              <a:off x="19431113" y="-1667765"/>
              <a:ext cx="5787644" cy="9123175"/>
            </a:xfrm>
            <a:custGeom>
              <a:avLst/>
              <a:gdLst/>
              <a:ahLst/>
              <a:cxnLst/>
              <a:rect l="l" t="t" r="r" b="b"/>
              <a:pathLst>
                <a:path w="5787644" h="9123175">
                  <a:moveTo>
                    <a:pt x="5787644" y="9123174"/>
                  </a:moveTo>
                  <a:lnTo>
                    <a:pt x="0" y="9123174"/>
                  </a:lnTo>
                  <a:lnTo>
                    <a:pt x="0" y="0"/>
                  </a:lnTo>
                  <a:lnTo>
                    <a:pt x="5787644" y="0"/>
                  </a:lnTo>
                  <a:lnTo>
                    <a:pt x="5787644" y="9123174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 r="-61881"/>
              </a:stretch>
            </a:blipFill>
          </p:spPr>
        </p:sp>
        <p:grpSp>
          <p:nvGrpSpPr>
            <p:cNvPr id="5" name="Group 5"/>
            <p:cNvGrpSpPr/>
            <p:nvPr/>
          </p:nvGrpSpPr>
          <p:grpSpPr>
            <a:xfrm>
              <a:off x="710797" y="13266548"/>
              <a:ext cx="26220673" cy="4447579"/>
              <a:chOff x="0" y="0"/>
              <a:chExt cx="5179392" cy="878534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5179392" cy="878534"/>
              </a:xfrm>
              <a:custGeom>
                <a:avLst/>
                <a:gdLst/>
                <a:ahLst/>
                <a:cxnLst/>
                <a:rect l="l" t="t" r="r" b="b"/>
                <a:pathLst>
                  <a:path w="5179392" h="878534">
                    <a:moveTo>
                      <a:pt x="0" y="0"/>
                    </a:moveTo>
                    <a:lnTo>
                      <a:pt x="5179392" y="0"/>
                    </a:lnTo>
                    <a:lnTo>
                      <a:pt x="5179392" y="878534"/>
                    </a:lnTo>
                    <a:lnTo>
                      <a:pt x="0" y="878534"/>
                    </a:lnTo>
                    <a:close/>
                  </a:path>
                </a:pathLst>
              </a:custGeom>
              <a:solidFill>
                <a:srgbClr val="0B1320"/>
              </a:solidFill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0" y="-47625"/>
                <a:ext cx="5179392" cy="926159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grpSp>
          <p:nvGrpSpPr>
            <p:cNvPr id="8" name="Group 8"/>
            <p:cNvGrpSpPr/>
            <p:nvPr/>
          </p:nvGrpSpPr>
          <p:grpSpPr>
            <a:xfrm rot="-4483572">
              <a:off x="20705501" y="6259635"/>
              <a:ext cx="12362043" cy="5101438"/>
              <a:chOff x="0" y="0"/>
              <a:chExt cx="2441885" cy="1007692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2441885" cy="1007691"/>
              </a:xfrm>
              <a:custGeom>
                <a:avLst/>
                <a:gdLst/>
                <a:ahLst/>
                <a:cxnLst/>
                <a:rect l="l" t="t" r="r" b="b"/>
                <a:pathLst>
                  <a:path w="2441885" h="1007691">
                    <a:moveTo>
                      <a:pt x="0" y="0"/>
                    </a:moveTo>
                    <a:lnTo>
                      <a:pt x="2441885" y="0"/>
                    </a:lnTo>
                    <a:lnTo>
                      <a:pt x="2441885" y="1007691"/>
                    </a:lnTo>
                    <a:lnTo>
                      <a:pt x="0" y="1007691"/>
                    </a:lnTo>
                    <a:close/>
                  </a:path>
                </a:pathLst>
              </a:custGeom>
              <a:solidFill>
                <a:srgbClr val="497183"/>
              </a:solidFill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-47625"/>
                <a:ext cx="2441885" cy="1055317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1" name="Freeform 11"/>
            <p:cNvSpPr/>
            <p:nvPr/>
          </p:nvSpPr>
          <p:spPr>
            <a:xfrm>
              <a:off x="23995589" y="1224650"/>
              <a:ext cx="2017545" cy="2017545"/>
            </a:xfrm>
            <a:custGeom>
              <a:avLst/>
              <a:gdLst/>
              <a:ahLst/>
              <a:cxnLst/>
              <a:rect l="l" t="t" r="r" b="b"/>
              <a:pathLst>
                <a:path w="2017545" h="2017545">
                  <a:moveTo>
                    <a:pt x="0" y="0"/>
                  </a:moveTo>
                  <a:lnTo>
                    <a:pt x="2017545" y="0"/>
                  </a:lnTo>
                  <a:lnTo>
                    <a:pt x="2017545" y="2017545"/>
                  </a:lnTo>
                  <a:lnTo>
                    <a:pt x="0" y="20175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17656518" y="1506348"/>
              <a:ext cx="6339071" cy="138747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3000">
                  <a:solidFill>
                    <a:srgbClr val="000000"/>
                  </a:solidFill>
                  <a:latin typeface="Kollektif"/>
                  <a:ea typeface="Kollektif"/>
                  <a:cs typeface="Kollektif"/>
                  <a:sym typeface="Kollektif"/>
                </a:rPr>
                <a:t>Bangladesh University of Engineering and Technology</a:t>
              </a:r>
            </a:p>
          </p:txBody>
        </p:sp>
      </p:grpSp>
      <p:sp>
        <p:nvSpPr>
          <p:cNvPr id="13" name="Freeform 13"/>
          <p:cNvSpPr/>
          <p:nvPr/>
        </p:nvSpPr>
        <p:spPr>
          <a:xfrm>
            <a:off x="7026338" y="2313056"/>
            <a:ext cx="4235323" cy="6356958"/>
          </a:xfrm>
          <a:custGeom>
            <a:avLst/>
            <a:gdLst/>
            <a:ahLst/>
            <a:cxnLst/>
            <a:rect l="l" t="t" r="r" b="b"/>
            <a:pathLst>
              <a:path w="4235323" h="6356958">
                <a:moveTo>
                  <a:pt x="0" y="0"/>
                </a:moveTo>
                <a:lnTo>
                  <a:pt x="4235324" y="0"/>
                </a:lnTo>
                <a:lnTo>
                  <a:pt x="4235324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>
            <a:off x="12083947" y="2824425"/>
            <a:ext cx="4572555" cy="293650"/>
          </a:xfrm>
          <a:custGeom>
            <a:avLst/>
            <a:gdLst/>
            <a:ahLst/>
            <a:cxnLst/>
            <a:rect l="l" t="t" r="r" b="b"/>
            <a:pathLst>
              <a:path w="4572555" h="293650">
                <a:moveTo>
                  <a:pt x="0" y="0"/>
                </a:moveTo>
                <a:lnTo>
                  <a:pt x="4572555" y="0"/>
                </a:lnTo>
                <a:lnTo>
                  <a:pt x="4572555" y="293650"/>
                </a:lnTo>
                <a:lnTo>
                  <a:pt x="0" y="29365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>
            <a:off x="12083947" y="3118075"/>
            <a:ext cx="4572555" cy="4259366"/>
          </a:xfrm>
          <a:custGeom>
            <a:avLst/>
            <a:gdLst/>
            <a:ahLst/>
            <a:cxnLst/>
            <a:rect l="l" t="t" r="r" b="b"/>
            <a:pathLst>
              <a:path w="4572555" h="4259366">
                <a:moveTo>
                  <a:pt x="0" y="0"/>
                </a:moveTo>
                <a:lnTo>
                  <a:pt x="4572555" y="0"/>
                </a:lnTo>
                <a:lnTo>
                  <a:pt x="4572555" y="4259367"/>
                </a:lnTo>
                <a:lnTo>
                  <a:pt x="0" y="4259367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509397" y="3004879"/>
            <a:ext cx="4483876" cy="292716"/>
          </a:xfrm>
          <a:custGeom>
            <a:avLst/>
            <a:gdLst/>
            <a:ahLst/>
            <a:cxnLst/>
            <a:rect l="l" t="t" r="r" b="b"/>
            <a:pathLst>
              <a:path w="4483876" h="292716">
                <a:moveTo>
                  <a:pt x="0" y="0"/>
                </a:moveTo>
                <a:lnTo>
                  <a:pt x="4483877" y="0"/>
                </a:lnTo>
                <a:lnTo>
                  <a:pt x="4483877" y="292716"/>
                </a:lnTo>
                <a:lnTo>
                  <a:pt x="0" y="29271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2630367" y="3430945"/>
            <a:ext cx="2241938" cy="752134"/>
          </a:xfrm>
          <a:custGeom>
            <a:avLst/>
            <a:gdLst/>
            <a:ahLst/>
            <a:cxnLst/>
            <a:rect l="l" t="t" r="r" b="b"/>
            <a:pathLst>
              <a:path w="2241938" h="752134">
                <a:moveTo>
                  <a:pt x="0" y="0"/>
                </a:moveTo>
                <a:lnTo>
                  <a:pt x="2241938" y="0"/>
                </a:lnTo>
                <a:lnTo>
                  <a:pt x="2241938" y="752134"/>
                </a:lnTo>
                <a:lnTo>
                  <a:pt x="0" y="752134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/>
            </a:stretch>
          </a:blipFill>
        </p:spPr>
      </p:sp>
      <p:sp>
        <p:nvSpPr>
          <p:cNvPr id="18" name="Freeform 18"/>
          <p:cNvSpPr/>
          <p:nvPr/>
        </p:nvSpPr>
        <p:spPr>
          <a:xfrm>
            <a:off x="1155108" y="4842678"/>
            <a:ext cx="5192455" cy="300822"/>
          </a:xfrm>
          <a:custGeom>
            <a:avLst/>
            <a:gdLst/>
            <a:ahLst/>
            <a:cxnLst/>
            <a:rect l="l" t="t" r="r" b="b"/>
            <a:pathLst>
              <a:path w="5192455" h="300822">
                <a:moveTo>
                  <a:pt x="0" y="0"/>
                </a:moveTo>
                <a:lnTo>
                  <a:pt x="5192455" y="0"/>
                </a:lnTo>
                <a:lnTo>
                  <a:pt x="5192455" y="300822"/>
                </a:lnTo>
                <a:lnTo>
                  <a:pt x="0" y="300822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/>
            </a:stretch>
          </a:blipFill>
        </p:spPr>
      </p:sp>
      <p:sp>
        <p:nvSpPr>
          <p:cNvPr id="19" name="Freeform 19"/>
          <p:cNvSpPr/>
          <p:nvPr/>
        </p:nvSpPr>
        <p:spPr>
          <a:xfrm>
            <a:off x="2630367" y="5280551"/>
            <a:ext cx="2241938" cy="681252"/>
          </a:xfrm>
          <a:custGeom>
            <a:avLst/>
            <a:gdLst/>
            <a:ahLst/>
            <a:cxnLst/>
            <a:rect l="l" t="t" r="r" b="b"/>
            <a:pathLst>
              <a:path w="2241938" h="681252">
                <a:moveTo>
                  <a:pt x="0" y="0"/>
                </a:moveTo>
                <a:lnTo>
                  <a:pt x="2241938" y="0"/>
                </a:lnTo>
                <a:lnTo>
                  <a:pt x="2241938" y="681252"/>
                </a:lnTo>
                <a:lnTo>
                  <a:pt x="0" y="68125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</p:sp>
      <p:sp>
        <p:nvSpPr>
          <p:cNvPr id="20" name="AutoShape 20"/>
          <p:cNvSpPr/>
          <p:nvPr/>
        </p:nvSpPr>
        <p:spPr>
          <a:xfrm flipH="1" flipV="1">
            <a:off x="5993274" y="3297595"/>
            <a:ext cx="2205218" cy="509417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21" name="AutoShape 21"/>
          <p:cNvSpPr/>
          <p:nvPr/>
        </p:nvSpPr>
        <p:spPr>
          <a:xfrm flipH="1">
            <a:off x="6347563" y="3994776"/>
            <a:ext cx="1850929" cy="847902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triangle" w="lg" len="med"/>
          </a:ln>
        </p:spPr>
      </p:sp>
      <p:sp>
        <p:nvSpPr>
          <p:cNvPr id="22" name="TextBox 22"/>
          <p:cNvSpPr txBox="1"/>
          <p:nvPr/>
        </p:nvSpPr>
        <p:spPr>
          <a:xfrm>
            <a:off x="1028700" y="401222"/>
            <a:ext cx="4511214" cy="1131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373"/>
              </a:lnSpc>
            </a:pPr>
            <a:r>
              <a:rPr lang="en-US" sz="6695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PID Tuning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28700" y="1456153"/>
            <a:ext cx="9663946" cy="679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599"/>
              </a:lnSpc>
              <a:spcBef>
                <a:spcPct val="0"/>
              </a:spcBef>
            </a:pPr>
            <a:r>
              <a:rPr lang="en-US" sz="39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Using CSA (Clonal Selection Algorithm)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10115578" y="3895787"/>
            <a:ext cx="487016" cy="3528520"/>
            <a:chOff x="0" y="0"/>
            <a:chExt cx="649355" cy="4704694"/>
          </a:xfrm>
        </p:grpSpPr>
        <p:sp>
          <p:nvSpPr>
            <p:cNvPr id="25" name="AutoShape 25"/>
            <p:cNvSpPr/>
            <p:nvPr/>
          </p:nvSpPr>
          <p:spPr>
            <a:xfrm flipV="1">
              <a:off x="636655" y="12700"/>
              <a:ext cx="0" cy="4691994"/>
            </a:xfrm>
            <a:prstGeom prst="line">
              <a:avLst/>
            </a:prstGeom>
            <a:ln w="25400" cap="rnd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6" name="AutoShape 26"/>
            <p:cNvSpPr/>
            <p:nvPr/>
          </p:nvSpPr>
          <p:spPr>
            <a:xfrm flipH="1">
              <a:off x="0" y="12700"/>
              <a:ext cx="649355" cy="0"/>
            </a:xfrm>
            <a:prstGeom prst="line">
              <a:avLst/>
            </a:prstGeom>
            <a:ln w="25400" cap="flat">
              <a:solidFill>
                <a:srgbClr val="000000"/>
              </a:solidFill>
              <a:prstDash val="solid"/>
              <a:headEnd type="none" w="sm" len="sm"/>
              <a:tailEnd type="triangle" w="lg" len="med"/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10502265" y="7381875"/>
            <a:ext cx="227647" cy="1311592"/>
            <a:chOff x="0" y="0"/>
            <a:chExt cx="303530" cy="1748790"/>
          </a:xfrm>
        </p:grpSpPr>
        <p:sp>
          <p:nvSpPr>
            <p:cNvPr id="28" name="Freeform 28"/>
            <p:cNvSpPr/>
            <p:nvPr/>
          </p:nvSpPr>
          <p:spPr>
            <a:xfrm>
              <a:off x="44450" y="48260"/>
              <a:ext cx="231140" cy="1651000"/>
            </a:xfrm>
            <a:custGeom>
              <a:avLst/>
              <a:gdLst/>
              <a:ahLst/>
              <a:cxnLst/>
              <a:rect l="l" t="t" r="r" b="b"/>
              <a:pathLst>
                <a:path w="231140" h="1651000">
                  <a:moveTo>
                    <a:pt x="15240" y="1572260"/>
                  </a:moveTo>
                  <a:cubicBezTo>
                    <a:pt x="8890" y="472440"/>
                    <a:pt x="0" y="195580"/>
                    <a:pt x="27940" y="92710"/>
                  </a:cubicBezTo>
                  <a:cubicBezTo>
                    <a:pt x="38100" y="54610"/>
                    <a:pt x="49530" y="33020"/>
                    <a:pt x="67310" y="19050"/>
                  </a:cubicBezTo>
                  <a:cubicBezTo>
                    <a:pt x="82550" y="6350"/>
                    <a:pt x="104140" y="0"/>
                    <a:pt x="123190" y="2540"/>
                  </a:cubicBezTo>
                  <a:cubicBezTo>
                    <a:pt x="146050" y="6350"/>
                    <a:pt x="181610" y="27940"/>
                    <a:pt x="194310" y="46990"/>
                  </a:cubicBezTo>
                  <a:cubicBezTo>
                    <a:pt x="205740" y="62230"/>
                    <a:pt x="210820" y="83820"/>
                    <a:pt x="207010" y="102870"/>
                  </a:cubicBezTo>
                  <a:cubicBezTo>
                    <a:pt x="203200" y="125730"/>
                    <a:pt x="179070" y="160020"/>
                    <a:pt x="160020" y="172720"/>
                  </a:cubicBezTo>
                  <a:cubicBezTo>
                    <a:pt x="143510" y="182880"/>
                    <a:pt x="120650" y="184150"/>
                    <a:pt x="102870" y="181610"/>
                  </a:cubicBezTo>
                  <a:cubicBezTo>
                    <a:pt x="85090" y="179070"/>
                    <a:pt x="64770" y="170180"/>
                    <a:pt x="52070" y="154940"/>
                  </a:cubicBezTo>
                  <a:cubicBezTo>
                    <a:pt x="38100" y="135890"/>
                    <a:pt x="26670" y="96520"/>
                    <a:pt x="30480" y="73660"/>
                  </a:cubicBezTo>
                  <a:cubicBezTo>
                    <a:pt x="33020" y="54610"/>
                    <a:pt x="45720" y="35560"/>
                    <a:pt x="59690" y="24130"/>
                  </a:cubicBezTo>
                  <a:cubicBezTo>
                    <a:pt x="73660" y="12700"/>
                    <a:pt x="95250" y="3810"/>
                    <a:pt x="113030" y="2540"/>
                  </a:cubicBezTo>
                  <a:cubicBezTo>
                    <a:pt x="130810" y="2540"/>
                    <a:pt x="153670" y="6350"/>
                    <a:pt x="168910" y="19050"/>
                  </a:cubicBezTo>
                  <a:cubicBezTo>
                    <a:pt x="186690" y="33020"/>
                    <a:pt x="199390" y="54610"/>
                    <a:pt x="208280" y="92710"/>
                  </a:cubicBezTo>
                  <a:cubicBezTo>
                    <a:pt x="231140" y="195580"/>
                    <a:pt x="186690" y="472440"/>
                    <a:pt x="180340" y="692150"/>
                  </a:cubicBezTo>
                  <a:cubicBezTo>
                    <a:pt x="172720" y="961390"/>
                    <a:pt x="204470" y="1482090"/>
                    <a:pt x="168910" y="1590040"/>
                  </a:cubicBezTo>
                  <a:cubicBezTo>
                    <a:pt x="161290" y="1617980"/>
                    <a:pt x="152400" y="1625600"/>
                    <a:pt x="138430" y="1635760"/>
                  </a:cubicBezTo>
                  <a:cubicBezTo>
                    <a:pt x="123190" y="1645920"/>
                    <a:pt x="101600" y="1651000"/>
                    <a:pt x="83820" y="1649730"/>
                  </a:cubicBezTo>
                  <a:cubicBezTo>
                    <a:pt x="67310" y="1647190"/>
                    <a:pt x="46990" y="1635760"/>
                    <a:pt x="35560" y="1623060"/>
                  </a:cubicBezTo>
                  <a:cubicBezTo>
                    <a:pt x="24130" y="1610360"/>
                    <a:pt x="15240" y="1572260"/>
                    <a:pt x="15240" y="1572260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29" name="Group 29"/>
          <p:cNvGrpSpPr/>
          <p:nvPr/>
        </p:nvGrpSpPr>
        <p:grpSpPr>
          <a:xfrm>
            <a:off x="10507028" y="8499157"/>
            <a:ext cx="188595" cy="184785"/>
            <a:chOff x="0" y="0"/>
            <a:chExt cx="251460" cy="246380"/>
          </a:xfrm>
        </p:grpSpPr>
        <p:sp>
          <p:nvSpPr>
            <p:cNvPr id="30" name="Freeform 30"/>
            <p:cNvSpPr/>
            <p:nvPr/>
          </p:nvSpPr>
          <p:spPr>
            <a:xfrm>
              <a:off x="49530" y="49530"/>
              <a:ext cx="149860" cy="151130"/>
            </a:xfrm>
            <a:custGeom>
              <a:avLst/>
              <a:gdLst/>
              <a:ahLst/>
              <a:cxnLst/>
              <a:rect l="l" t="t" r="r" b="b"/>
              <a:pathLst>
                <a:path w="149860" h="151130">
                  <a:moveTo>
                    <a:pt x="149860" y="53340"/>
                  </a:moveTo>
                  <a:cubicBezTo>
                    <a:pt x="130810" y="134620"/>
                    <a:pt x="121920" y="140970"/>
                    <a:pt x="109220" y="146050"/>
                  </a:cubicBezTo>
                  <a:cubicBezTo>
                    <a:pt x="91440" y="151130"/>
                    <a:pt x="54610" y="148590"/>
                    <a:pt x="38100" y="140970"/>
                  </a:cubicBezTo>
                  <a:cubicBezTo>
                    <a:pt x="25400" y="135890"/>
                    <a:pt x="17780" y="125730"/>
                    <a:pt x="12700" y="115570"/>
                  </a:cubicBezTo>
                  <a:cubicBezTo>
                    <a:pt x="6350" y="105410"/>
                    <a:pt x="0" y="93980"/>
                    <a:pt x="1270" y="80010"/>
                  </a:cubicBezTo>
                  <a:cubicBezTo>
                    <a:pt x="2540" y="62230"/>
                    <a:pt x="17780" y="29210"/>
                    <a:pt x="30480" y="16510"/>
                  </a:cubicBezTo>
                  <a:cubicBezTo>
                    <a:pt x="39370" y="6350"/>
                    <a:pt x="50800" y="1270"/>
                    <a:pt x="63500" y="1270"/>
                  </a:cubicBezTo>
                  <a:cubicBezTo>
                    <a:pt x="82550" y="0"/>
                    <a:pt x="130810" y="21590"/>
                    <a:pt x="130810" y="21590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31" name="Group 31"/>
          <p:cNvGrpSpPr/>
          <p:nvPr/>
        </p:nvGrpSpPr>
        <p:grpSpPr>
          <a:xfrm>
            <a:off x="10499407" y="8499157"/>
            <a:ext cx="188595" cy="184785"/>
            <a:chOff x="0" y="0"/>
            <a:chExt cx="251460" cy="246380"/>
          </a:xfrm>
        </p:grpSpPr>
        <p:sp>
          <p:nvSpPr>
            <p:cNvPr id="32" name="Freeform 32"/>
            <p:cNvSpPr/>
            <p:nvPr/>
          </p:nvSpPr>
          <p:spPr>
            <a:xfrm>
              <a:off x="50800" y="49530"/>
              <a:ext cx="149860" cy="151130"/>
            </a:xfrm>
            <a:custGeom>
              <a:avLst/>
              <a:gdLst/>
              <a:ahLst/>
              <a:cxnLst/>
              <a:rect l="l" t="t" r="r" b="b"/>
              <a:pathLst>
                <a:path w="149860" h="151130">
                  <a:moveTo>
                    <a:pt x="149860" y="53340"/>
                  </a:moveTo>
                  <a:cubicBezTo>
                    <a:pt x="129540" y="134620"/>
                    <a:pt x="120650" y="140970"/>
                    <a:pt x="107950" y="146050"/>
                  </a:cubicBezTo>
                  <a:cubicBezTo>
                    <a:pt x="90170" y="151130"/>
                    <a:pt x="54610" y="148590"/>
                    <a:pt x="36830" y="140970"/>
                  </a:cubicBezTo>
                  <a:cubicBezTo>
                    <a:pt x="25400" y="135890"/>
                    <a:pt x="17780" y="125730"/>
                    <a:pt x="11430" y="115570"/>
                  </a:cubicBezTo>
                  <a:cubicBezTo>
                    <a:pt x="5080" y="105410"/>
                    <a:pt x="0" y="93980"/>
                    <a:pt x="0" y="80010"/>
                  </a:cubicBezTo>
                  <a:cubicBezTo>
                    <a:pt x="1270" y="62230"/>
                    <a:pt x="16510" y="29210"/>
                    <a:pt x="29210" y="16510"/>
                  </a:cubicBezTo>
                  <a:cubicBezTo>
                    <a:pt x="39370" y="6350"/>
                    <a:pt x="49530" y="1270"/>
                    <a:pt x="63500" y="1270"/>
                  </a:cubicBezTo>
                  <a:cubicBezTo>
                    <a:pt x="81280" y="0"/>
                    <a:pt x="130810" y="21590"/>
                    <a:pt x="130810" y="21590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33" name="Group 33"/>
          <p:cNvGrpSpPr/>
          <p:nvPr/>
        </p:nvGrpSpPr>
        <p:grpSpPr>
          <a:xfrm>
            <a:off x="10499407" y="8502968"/>
            <a:ext cx="188595" cy="184785"/>
            <a:chOff x="0" y="0"/>
            <a:chExt cx="251460" cy="246380"/>
          </a:xfrm>
        </p:grpSpPr>
        <p:sp>
          <p:nvSpPr>
            <p:cNvPr id="34" name="Freeform 34"/>
            <p:cNvSpPr/>
            <p:nvPr/>
          </p:nvSpPr>
          <p:spPr>
            <a:xfrm>
              <a:off x="50800" y="49530"/>
              <a:ext cx="149860" cy="151130"/>
            </a:xfrm>
            <a:custGeom>
              <a:avLst/>
              <a:gdLst/>
              <a:ahLst/>
              <a:cxnLst/>
              <a:rect l="l" t="t" r="r" b="b"/>
              <a:pathLst>
                <a:path w="149860" h="151130">
                  <a:moveTo>
                    <a:pt x="149860" y="53340"/>
                  </a:moveTo>
                  <a:cubicBezTo>
                    <a:pt x="129540" y="134620"/>
                    <a:pt x="120650" y="140970"/>
                    <a:pt x="107950" y="144780"/>
                  </a:cubicBezTo>
                  <a:cubicBezTo>
                    <a:pt x="90170" y="151130"/>
                    <a:pt x="54610" y="148590"/>
                    <a:pt x="36830" y="140970"/>
                  </a:cubicBezTo>
                  <a:cubicBezTo>
                    <a:pt x="25400" y="135890"/>
                    <a:pt x="17780" y="125730"/>
                    <a:pt x="11430" y="115570"/>
                  </a:cubicBezTo>
                  <a:cubicBezTo>
                    <a:pt x="5080" y="105410"/>
                    <a:pt x="0" y="93980"/>
                    <a:pt x="0" y="80010"/>
                  </a:cubicBezTo>
                  <a:cubicBezTo>
                    <a:pt x="1270" y="62230"/>
                    <a:pt x="16510" y="29210"/>
                    <a:pt x="29210" y="15240"/>
                  </a:cubicBezTo>
                  <a:cubicBezTo>
                    <a:pt x="39370" y="6350"/>
                    <a:pt x="49530" y="1270"/>
                    <a:pt x="63500" y="1270"/>
                  </a:cubicBezTo>
                  <a:cubicBezTo>
                    <a:pt x="81280" y="0"/>
                    <a:pt x="130810" y="21590"/>
                    <a:pt x="130810" y="21590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35" name="Group 35"/>
          <p:cNvGrpSpPr/>
          <p:nvPr/>
        </p:nvGrpSpPr>
        <p:grpSpPr>
          <a:xfrm>
            <a:off x="10499407" y="8451532"/>
            <a:ext cx="200025" cy="240983"/>
            <a:chOff x="0" y="0"/>
            <a:chExt cx="266700" cy="321310"/>
          </a:xfrm>
        </p:grpSpPr>
        <p:sp>
          <p:nvSpPr>
            <p:cNvPr id="36" name="Freeform 36"/>
            <p:cNvSpPr/>
            <p:nvPr/>
          </p:nvSpPr>
          <p:spPr>
            <a:xfrm>
              <a:off x="50800" y="45720"/>
              <a:ext cx="166370" cy="227330"/>
            </a:xfrm>
            <a:custGeom>
              <a:avLst/>
              <a:gdLst/>
              <a:ahLst/>
              <a:cxnLst/>
              <a:rect l="l" t="t" r="r" b="b"/>
              <a:pathLst>
                <a:path w="166370" h="227330">
                  <a:moveTo>
                    <a:pt x="0" y="140970"/>
                  </a:moveTo>
                  <a:cubicBezTo>
                    <a:pt x="25400" y="31750"/>
                    <a:pt x="48260" y="8890"/>
                    <a:pt x="68580" y="5080"/>
                  </a:cubicBezTo>
                  <a:cubicBezTo>
                    <a:pt x="90170" y="0"/>
                    <a:pt x="123190" y="8890"/>
                    <a:pt x="139700" y="22860"/>
                  </a:cubicBezTo>
                  <a:cubicBezTo>
                    <a:pt x="154940" y="38100"/>
                    <a:pt x="166370" y="71120"/>
                    <a:pt x="163830" y="92710"/>
                  </a:cubicBezTo>
                  <a:cubicBezTo>
                    <a:pt x="160020" y="113030"/>
                    <a:pt x="139700" y="140970"/>
                    <a:pt x="119380" y="151130"/>
                  </a:cubicBezTo>
                  <a:cubicBezTo>
                    <a:pt x="100330" y="160020"/>
                    <a:pt x="64770" y="156210"/>
                    <a:pt x="46990" y="147320"/>
                  </a:cubicBezTo>
                  <a:cubicBezTo>
                    <a:pt x="31750" y="140970"/>
                    <a:pt x="20320" y="124460"/>
                    <a:pt x="13970" y="110490"/>
                  </a:cubicBezTo>
                  <a:cubicBezTo>
                    <a:pt x="8890" y="95250"/>
                    <a:pt x="5080" y="76200"/>
                    <a:pt x="11430" y="60960"/>
                  </a:cubicBezTo>
                  <a:cubicBezTo>
                    <a:pt x="17780" y="41910"/>
                    <a:pt x="41910" y="15240"/>
                    <a:pt x="60960" y="6350"/>
                  </a:cubicBezTo>
                  <a:cubicBezTo>
                    <a:pt x="76200" y="0"/>
                    <a:pt x="95250" y="1270"/>
                    <a:pt x="110490" y="6350"/>
                  </a:cubicBezTo>
                  <a:cubicBezTo>
                    <a:pt x="125730" y="11430"/>
                    <a:pt x="140970" y="22860"/>
                    <a:pt x="149860" y="35560"/>
                  </a:cubicBezTo>
                  <a:cubicBezTo>
                    <a:pt x="158750" y="49530"/>
                    <a:pt x="162560" y="64770"/>
                    <a:pt x="163830" y="83820"/>
                  </a:cubicBezTo>
                  <a:cubicBezTo>
                    <a:pt x="165100" y="109220"/>
                    <a:pt x="160020" y="151130"/>
                    <a:pt x="149860" y="173990"/>
                  </a:cubicBezTo>
                  <a:cubicBezTo>
                    <a:pt x="140970" y="191770"/>
                    <a:pt x="128270" y="207010"/>
                    <a:pt x="114300" y="215900"/>
                  </a:cubicBezTo>
                  <a:cubicBezTo>
                    <a:pt x="99060" y="223520"/>
                    <a:pt x="76200" y="227330"/>
                    <a:pt x="59690" y="223520"/>
                  </a:cubicBezTo>
                  <a:cubicBezTo>
                    <a:pt x="43180" y="219710"/>
                    <a:pt x="24130" y="207010"/>
                    <a:pt x="13970" y="193040"/>
                  </a:cubicBezTo>
                  <a:cubicBezTo>
                    <a:pt x="3810" y="179070"/>
                    <a:pt x="0" y="140970"/>
                    <a:pt x="0" y="140970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37" name="Group 37"/>
          <p:cNvGrpSpPr/>
          <p:nvPr/>
        </p:nvGrpSpPr>
        <p:grpSpPr>
          <a:xfrm>
            <a:off x="10495598" y="8495348"/>
            <a:ext cx="192405" cy="197167"/>
            <a:chOff x="0" y="0"/>
            <a:chExt cx="256540" cy="262890"/>
          </a:xfrm>
        </p:grpSpPr>
        <p:sp>
          <p:nvSpPr>
            <p:cNvPr id="38" name="Freeform 38"/>
            <p:cNvSpPr/>
            <p:nvPr/>
          </p:nvSpPr>
          <p:spPr>
            <a:xfrm>
              <a:off x="49530" y="46990"/>
              <a:ext cx="161290" cy="166370"/>
            </a:xfrm>
            <a:custGeom>
              <a:avLst/>
              <a:gdLst/>
              <a:ahLst/>
              <a:cxnLst/>
              <a:rect l="l" t="t" r="r" b="b"/>
              <a:pathLst>
                <a:path w="161290" h="166370">
                  <a:moveTo>
                    <a:pt x="147320" y="123190"/>
                  </a:moveTo>
                  <a:cubicBezTo>
                    <a:pt x="93980" y="165100"/>
                    <a:pt x="58420" y="165100"/>
                    <a:pt x="40640" y="154940"/>
                  </a:cubicBezTo>
                  <a:cubicBezTo>
                    <a:pt x="21590" y="144780"/>
                    <a:pt x="3810" y="115570"/>
                    <a:pt x="1270" y="93980"/>
                  </a:cubicBezTo>
                  <a:cubicBezTo>
                    <a:pt x="0" y="73660"/>
                    <a:pt x="13970" y="41910"/>
                    <a:pt x="30480" y="27940"/>
                  </a:cubicBezTo>
                  <a:cubicBezTo>
                    <a:pt x="46990" y="15240"/>
                    <a:pt x="81280" y="8890"/>
                    <a:pt x="100330" y="15240"/>
                  </a:cubicBezTo>
                  <a:cubicBezTo>
                    <a:pt x="120650" y="21590"/>
                    <a:pt x="146050" y="45720"/>
                    <a:pt x="151130" y="66040"/>
                  </a:cubicBezTo>
                  <a:cubicBezTo>
                    <a:pt x="157480" y="86360"/>
                    <a:pt x="151130" y="120650"/>
                    <a:pt x="137160" y="137160"/>
                  </a:cubicBezTo>
                  <a:cubicBezTo>
                    <a:pt x="124460" y="153670"/>
                    <a:pt x="92710" y="166370"/>
                    <a:pt x="71120" y="165100"/>
                  </a:cubicBezTo>
                  <a:cubicBezTo>
                    <a:pt x="50800" y="162560"/>
                    <a:pt x="22860" y="142240"/>
                    <a:pt x="11430" y="125730"/>
                  </a:cubicBezTo>
                  <a:cubicBezTo>
                    <a:pt x="2540" y="111760"/>
                    <a:pt x="1270" y="92710"/>
                    <a:pt x="2540" y="77470"/>
                  </a:cubicBezTo>
                  <a:cubicBezTo>
                    <a:pt x="3810" y="63500"/>
                    <a:pt x="8890" y="49530"/>
                    <a:pt x="17780" y="36830"/>
                  </a:cubicBezTo>
                  <a:cubicBezTo>
                    <a:pt x="27940" y="24130"/>
                    <a:pt x="45720" y="8890"/>
                    <a:pt x="60960" y="3810"/>
                  </a:cubicBezTo>
                  <a:cubicBezTo>
                    <a:pt x="77470" y="0"/>
                    <a:pt x="100330" y="1270"/>
                    <a:pt x="116840" y="8890"/>
                  </a:cubicBezTo>
                  <a:cubicBezTo>
                    <a:pt x="132080" y="16510"/>
                    <a:pt x="147320" y="33020"/>
                    <a:pt x="154940" y="48260"/>
                  </a:cubicBezTo>
                  <a:cubicBezTo>
                    <a:pt x="161290" y="64770"/>
                    <a:pt x="156210" y="102870"/>
                    <a:pt x="156210" y="102870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39" name="Group 39"/>
          <p:cNvGrpSpPr/>
          <p:nvPr/>
        </p:nvGrpSpPr>
        <p:grpSpPr>
          <a:xfrm>
            <a:off x="10514648" y="8509635"/>
            <a:ext cx="188595" cy="184785"/>
            <a:chOff x="0" y="0"/>
            <a:chExt cx="251460" cy="246380"/>
          </a:xfrm>
        </p:grpSpPr>
        <p:sp>
          <p:nvSpPr>
            <p:cNvPr id="40" name="Freeform 40"/>
            <p:cNvSpPr/>
            <p:nvPr/>
          </p:nvSpPr>
          <p:spPr>
            <a:xfrm>
              <a:off x="49530" y="49530"/>
              <a:ext cx="149860" cy="151130"/>
            </a:xfrm>
            <a:custGeom>
              <a:avLst/>
              <a:gdLst/>
              <a:ahLst/>
              <a:cxnLst/>
              <a:rect l="l" t="t" r="r" b="b"/>
              <a:pathLst>
                <a:path w="149860" h="151130">
                  <a:moveTo>
                    <a:pt x="149860" y="53340"/>
                  </a:moveTo>
                  <a:cubicBezTo>
                    <a:pt x="129540" y="134620"/>
                    <a:pt x="120650" y="142240"/>
                    <a:pt x="107950" y="146050"/>
                  </a:cubicBezTo>
                  <a:cubicBezTo>
                    <a:pt x="90170" y="151130"/>
                    <a:pt x="54610" y="149860"/>
                    <a:pt x="38100" y="142240"/>
                  </a:cubicBezTo>
                  <a:cubicBezTo>
                    <a:pt x="25400" y="135890"/>
                    <a:pt x="17780" y="125730"/>
                    <a:pt x="11430" y="115570"/>
                  </a:cubicBezTo>
                  <a:cubicBezTo>
                    <a:pt x="5080" y="105410"/>
                    <a:pt x="0" y="93980"/>
                    <a:pt x="1270" y="81280"/>
                  </a:cubicBezTo>
                  <a:cubicBezTo>
                    <a:pt x="2540" y="62230"/>
                    <a:pt x="16510" y="29210"/>
                    <a:pt x="30480" y="16510"/>
                  </a:cubicBezTo>
                  <a:cubicBezTo>
                    <a:pt x="39370" y="7620"/>
                    <a:pt x="49530" y="2540"/>
                    <a:pt x="63500" y="1270"/>
                  </a:cubicBezTo>
                  <a:cubicBezTo>
                    <a:pt x="81280" y="0"/>
                    <a:pt x="130810" y="22860"/>
                    <a:pt x="130810" y="22860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  <p:grpSp>
        <p:nvGrpSpPr>
          <p:cNvPr id="41" name="Group 41"/>
          <p:cNvGrpSpPr/>
          <p:nvPr/>
        </p:nvGrpSpPr>
        <p:grpSpPr>
          <a:xfrm>
            <a:off x="10513695" y="8507730"/>
            <a:ext cx="191452" cy="199072"/>
            <a:chOff x="0" y="0"/>
            <a:chExt cx="255270" cy="265430"/>
          </a:xfrm>
        </p:grpSpPr>
        <p:sp>
          <p:nvSpPr>
            <p:cNvPr id="42" name="Freeform 42"/>
            <p:cNvSpPr/>
            <p:nvPr/>
          </p:nvSpPr>
          <p:spPr>
            <a:xfrm>
              <a:off x="48260" y="50800"/>
              <a:ext cx="158750" cy="166370"/>
            </a:xfrm>
            <a:custGeom>
              <a:avLst/>
              <a:gdLst/>
              <a:ahLst/>
              <a:cxnLst/>
              <a:rect l="l" t="t" r="r" b="b"/>
              <a:pathLst>
                <a:path w="158750" h="166370">
                  <a:moveTo>
                    <a:pt x="156210" y="87630"/>
                  </a:moveTo>
                  <a:cubicBezTo>
                    <a:pt x="127000" y="148590"/>
                    <a:pt x="96520" y="165100"/>
                    <a:pt x="74930" y="163830"/>
                  </a:cubicBezTo>
                  <a:cubicBezTo>
                    <a:pt x="54610" y="162560"/>
                    <a:pt x="24130" y="144780"/>
                    <a:pt x="13970" y="127000"/>
                  </a:cubicBezTo>
                  <a:cubicBezTo>
                    <a:pt x="2540" y="109220"/>
                    <a:pt x="1270" y="74930"/>
                    <a:pt x="10160" y="54610"/>
                  </a:cubicBezTo>
                  <a:cubicBezTo>
                    <a:pt x="19050" y="35560"/>
                    <a:pt x="45720" y="15240"/>
                    <a:pt x="67310" y="11430"/>
                  </a:cubicBezTo>
                  <a:cubicBezTo>
                    <a:pt x="87630" y="8890"/>
                    <a:pt x="120650" y="19050"/>
                    <a:pt x="134620" y="34290"/>
                  </a:cubicBezTo>
                  <a:cubicBezTo>
                    <a:pt x="149860" y="49530"/>
                    <a:pt x="158750" y="83820"/>
                    <a:pt x="154940" y="104140"/>
                  </a:cubicBezTo>
                  <a:cubicBezTo>
                    <a:pt x="149860" y="124460"/>
                    <a:pt x="127000" y="151130"/>
                    <a:pt x="107950" y="158750"/>
                  </a:cubicBezTo>
                  <a:cubicBezTo>
                    <a:pt x="87630" y="166370"/>
                    <a:pt x="53340" y="160020"/>
                    <a:pt x="36830" y="151130"/>
                  </a:cubicBezTo>
                  <a:cubicBezTo>
                    <a:pt x="21590" y="142240"/>
                    <a:pt x="12700" y="125730"/>
                    <a:pt x="6350" y="111760"/>
                  </a:cubicBezTo>
                  <a:cubicBezTo>
                    <a:pt x="1270" y="99060"/>
                    <a:pt x="0" y="82550"/>
                    <a:pt x="2540" y="68580"/>
                  </a:cubicBezTo>
                  <a:cubicBezTo>
                    <a:pt x="6350" y="52070"/>
                    <a:pt x="15240" y="31750"/>
                    <a:pt x="27940" y="20320"/>
                  </a:cubicBezTo>
                  <a:cubicBezTo>
                    <a:pt x="40640" y="8890"/>
                    <a:pt x="62230" y="0"/>
                    <a:pt x="78740" y="0"/>
                  </a:cubicBezTo>
                  <a:cubicBezTo>
                    <a:pt x="96520" y="0"/>
                    <a:pt x="118110" y="8890"/>
                    <a:pt x="130810" y="20320"/>
                  </a:cubicBezTo>
                  <a:cubicBezTo>
                    <a:pt x="143510" y="30480"/>
                    <a:pt x="156210" y="68580"/>
                    <a:pt x="156210" y="68580"/>
                  </a:cubicBezTo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</p:grp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4029962">
            <a:off x="6719065" y="2438407"/>
            <a:ext cx="16195854" cy="9681870"/>
            <a:chOff x="0" y="0"/>
            <a:chExt cx="4265575" cy="254995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65575" cy="2549958"/>
            </a:xfrm>
            <a:custGeom>
              <a:avLst/>
              <a:gdLst/>
              <a:ahLst/>
              <a:cxnLst/>
              <a:rect l="l" t="t" r="r" b="b"/>
              <a:pathLst>
                <a:path w="4265575" h="2549958">
                  <a:moveTo>
                    <a:pt x="0" y="0"/>
                  </a:moveTo>
                  <a:lnTo>
                    <a:pt x="4265575" y="0"/>
                  </a:lnTo>
                  <a:lnTo>
                    <a:pt x="4265575" y="2549958"/>
                  </a:lnTo>
                  <a:lnTo>
                    <a:pt x="0" y="2549958"/>
                  </a:lnTo>
                  <a:close/>
                </a:path>
              </a:pathLst>
            </a:custGeom>
            <a:solidFill>
              <a:srgbClr val="0B132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265575" cy="25975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-4007976" flipH="1" flipV="1">
            <a:off x="16347748" y="7417823"/>
            <a:ext cx="4754343" cy="7494363"/>
          </a:xfrm>
          <a:custGeom>
            <a:avLst/>
            <a:gdLst/>
            <a:ahLst/>
            <a:cxnLst/>
            <a:rect l="l" t="t" r="r" b="b"/>
            <a:pathLst>
              <a:path w="4754343" h="7494363">
                <a:moveTo>
                  <a:pt x="4754344" y="7494363"/>
                </a:moveTo>
                <a:lnTo>
                  <a:pt x="0" y="7494363"/>
                </a:lnTo>
                <a:lnTo>
                  <a:pt x="0" y="0"/>
                </a:lnTo>
                <a:lnTo>
                  <a:pt x="4754344" y="0"/>
                </a:lnTo>
                <a:lnTo>
                  <a:pt x="4754344" y="7494363"/>
                </a:lnTo>
                <a:close/>
              </a:path>
            </a:pathLst>
          </a:custGeom>
          <a:blipFill>
            <a:blip r:embed="rId2">
              <a:alphaModFix amt="6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r="-61881"/>
            </a:stretch>
          </a:blipFill>
        </p:spPr>
      </p:sp>
      <p:grpSp>
        <p:nvGrpSpPr>
          <p:cNvPr id="6" name="Group 6"/>
          <p:cNvGrpSpPr/>
          <p:nvPr/>
        </p:nvGrpSpPr>
        <p:grpSpPr>
          <a:xfrm>
            <a:off x="10731563" y="382794"/>
            <a:ext cx="7225434" cy="3205309"/>
            <a:chOff x="0" y="0"/>
            <a:chExt cx="9633912" cy="4273746"/>
          </a:xfrm>
        </p:grpSpPr>
        <p:sp>
          <p:nvSpPr>
            <p:cNvPr id="7" name="Freeform 7"/>
            <p:cNvSpPr/>
            <p:nvPr/>
          </p:nvSpPr>
          <p:spPr>
            <a:xfrm>
              <a:off x="0" y="516788"/>
              <a:ext cx="9633912" cy="3756958"/>
            </a:xfrm>
            <a:custGeom>
              <a:avLst/>
              <a:gdLst/>
              <a:ahLst/>
              <a:cxnLst/>
              <a:rect l="l" t="t" r="r" b="b"/>
              <a:pathLst>
                <a:path w="9633912" h="3756958">
                  <a:moveTo>
                    <a:pt x="0" y="0"/>
                  </a:moveTo>
                  <a:lnTo>
                    <a:pt x="9633912" y="0"/>
                  </a:lnTo>
                  <a:lnTo>
                    <a:pt x="9633912" y="3756958"/>
                  </a:lnTo>
                  <a:lnTo>
                    <a:pt x="0" y="375695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0" y="0"/>
              <a:ext cx="9633912" cy="507048"/>
            </a:xfrm>
            <a:custGeom>
              <a:avLst/>
              <a:gdLst/>
              <a:ahLst/>
              <a:cxnLst/>
              <a:rect l="l" t="t" r="r" b="b"/>
              <a:pathLst>
                <a:path w="9633912" h="507048">
                  <a:moveTo>
                    <a:pt x="0" y="0"/>
                  </a:moveTo>
                  <a:lnTo>
                    <a:pt x="9633912" y="0"/>
                  </a:lnTo>
                  <a:lnTo>
                    <a:pt x="9633912" y="507048"/>
                  </a:lnTo>
                  <a:lnTo>
                    <a:pt x="0" y="5070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sp>
        <p:nvSpPr>
          <p:cNvPr id="9" name="Freeform 9"/>
          <p:cNvSpPr/>
          <p:nvPr/>
        </p:nvSpPr>
        <p:spPr>
          <a:xfrm>
            <a:off x="207009" y="3855773"/>
            <a:ext cx="7208509" cy="5406382"/>
          </a:xfrm>
          <a:custGeom>
            <a:avLst/>
            <a:gdLst/>
            <a:ahLst/>
            <a:cxnLst/>
            <a:rect l="l" t="t" r="r" b="b"/>
            <a:pathLst>
              <a:path w="7208509" h="5406382">
                <a:moveTo>
                  <a:pt x="0" y="0"/>
                </a:moveTo>
                <a:lnTo>
                  <a:pt x="7208509" y="0"/>
                </a:lnTo>
                <a:lnTo>
                  <a:pt x="7208509" y="5406382"/>
                </a:lnTo>
                <a:lnTo>
                  <a:pt x="0" y="540638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8573048" y="3855773"/>
            <a:ext cx="7208509" cy="5406382"/>
          </a:xfrm>
          <a:custGeom>
            <a:avLst/>
            <a:gdLst/>
            <a:ahLst/>
            <a:cxnLst/>
            <a:rect l="l" t="t" r="r" b="b"/>
            <a:pathLst>
              <a:path w="7208509" h="5406382">
                <a:moveTo>
                  <a:pt x="0" y="0"/>
                </a:moveTo>
                <a:lnTo>
                  <a:pt x="7208509" y="0"/>
                </a:lnTo>
                <a:lnTo>
                  <a:pt x="7208509" y="5406382"/>
                </a:lnTo>
                <a:lnTo>
                  <a:pt x="0" y="540638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95829" y="425284"/>
            <a:ext cx="10987128" cy="10521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8000" b="1">
                <a:solidFill>
                  <a:srgbClr val="0B132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PID Tuning Results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95829" y="1758118"/>
            <a:ext cx="10401867" cy="530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3999" b="1">
                <a:solidFill>
                  <a:srgbClr val="0B132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Using CSA (Clonal Selection Algorithm)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310089" y="2843490"/>
            <a:ext cx="7745683" cy="366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42"/>
              </a:lnSpc>
            </a:pPr>
            <a:r>
              <a:rPr lang="en-US" sz="2900" b="1">
                <a:solidFill>
                  <a:srgbClr val="0B132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Step response with Tuned PID controller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024858" y="9629775"/>
            <a:ext cx="3572811" cy="327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49"/>
              </a:lnSpc>
            </a:pPr>
            <a:r>
              <a:rPr lang="en-US" sz="2499" b="1">
                <a:solidFill>
                  <a:srgbClr val="0B132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Allowing undershoot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105264" y="9477375"/>
            <a:ext cx="4144077" cy="631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49"/>
              </a:lnSpc>
            </a:pPr>
            <a:r>
              <a:rPr lang="en-US" sz="2499" b="1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Penalized Undershoot with cost function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4007976" flipH="1" flipV="1">
            <a:off x="16347748" y="7417823"/>
            <a:ext cx="4754343" cy="7494363"/>
          </a:xfrm>
          <a:custGeom>
            <a:avLst/>
            <a:gdLst/>
            <a:ahLst/>
            <a:cxnLst/>
            <a:rect l="l" t="t" r="r" b="b"/>
            <a:pathLst>
              <a:path w="4754343" h="7494363">
                <a:moveTo>
                  <a:pt x="4754344" y="7494363"/>
                </a:moveTo>
                <a:lnTo>
                  <a:pt x="0" y="7494363"/>
                </a:lnTo>
                <a:lnTo>
                  <a:pt x="0" y="0"/>
                </a:lnTo>
                <a:lnTo>
                  <a:pt x="4754344" y="0"/>
                </a:lnTo>
                <a:lnTo>
                  <a:pt x="4754344" y="7494363"/>
                </a:lnTo>
                <a:close/>
              </a:path>
            </a:pathLst>
          </a:custGeom>
          <a:blipFill>
            <a:blip r:embed="rId2">
              <a:alphaModFix amt="6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r="-61881"/>
            </a:stretch>
          </a:blipFill>
        </p:spPr>
      </p:sp>
      <p:grpSp>
        <p:nvGrpSpPr>
          <p:cNvPr id="3" name="Group 3"/>
          <p:cNvGrpSpPr/>
          <p:nvPr/>
        </p:nvGrpSpPr>
        <p:grpSpPr>
          <a:xfrm rot="-4029962">
            <a:off x="6678172" y="2483427"/>
            <a:ext cx="16195854" cy="9681870"/>
            <a:chOff x="0" y="0"/>
            <a:chExt cx="4265575" cy="254995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265575" cy="2549958"/>
            </a:xfrm>
            <a:custGeom>
              <a:avLst/>
              <a:gdLst/>
              <a:ahLst/>
              <a:cxnLst/>
              <a:rect l="l" t="t" r="r" b="b"/>
              <a:pathLst>
                <a:path w="4265575" h="2549958">
                  <a:moveTo>
                    <a:pt x="0" y="0"/>
                  </a:moveTo>
                  <a:lnTo>
                    <a:pt x="4265575" y="0"/>
                  </a:lnTo>
                  <a:lnTo>
                    <a:pt x="4265575" y="2549958"/>
                  </a:lnTo>
                  <a:lnTo>
                    <a:pt x="0" y="2549958"/>
                  </a:lnTo>
                  <a:close/>
                </a:path>
              </a:pathLst>
            </a:custGeom>
            <a:solidFill>
              <a:srgbClr val="0B1320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265575" cy="25975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2272381" y="1932206"/>
            <a:ext cx="5677296" cy="2768434"/>
          </a:xfrm>
          <a:custGeom>
            <a:avLst/>
            <a:gdLst/>
            <a:ahLst/>
            <a:cxnLst/>
            <a:rect l="l" t="t" r="r" b="b"/>
            <a:pathLst>
              <a:path w="5677296" h="2768434">
                <a:moveTo>
                  <a:pt x="0" y="0"/>
                </a:moveTo>
                <a:lnTo>
                  <a:pt x="5677296" y="0"/>
                </a:lnTo>
                <a:lnTo>
                  <a:pt x="5677296" y="2768434"/>
                </a:lnTo>
                <a:lnTo>
                  <a:pt x="0" y="27684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3360551" y="482792"/>
            <a:ext cx="3736824" cy="1262787"/>
            <a:chOff x="0" y="0"/>
            <a:chExt cx="4982432" cy="1683716"/>
          </a:xfrm>
        </p:grpSpPr>
        <p:grpSp>
          <p:nvGrpSpPr>
            <p:cNvPr id="8" name="Group 8"/>
            <p:cNvGrpSpPr/>
            <p:nvPr/>
          </p:nvGrpSpPr>
          <p:grpSpPr>
            <a:xfrm>
              <a:off x="0" y="0"/>
              <a:ext cx="4514441" cy="1683716"/>
              <a:chOff x="0" y="0"/>
              <a:chExt cx="891741" cy="332586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0" y="0"/>
                <a:ext cx="891741" cy="332586"/>
              </a:xfrm>
              <a:custGeom>
                <a:avLst/>
                <a:gdLst/>
                <a:ahLst/>
                <a:cxnLst/>
                <a:rect l="l" t="t" r="r" b="b"/>
                <a:pathLst>
                  <a:path w="891741" h="332586">
                    <a:moveTo>
                      <a:pt x="116615" y="0"/>
                    </a:moveTo>
                    <a:lnTo>
                      <a:pt x="775127" y="0"/>
                    </a:lnTo>
                    <a:cubicBezTo>
                      <a:pt x="806055" y="0"/>
                      <a:pt x="835716" y="12286"/>
                      <a:pt x="857586" y="34156"/>
                    </a:cubicBezTo>
                    <a:cubicBezTo>
                      <a:pt x="879455" y="56025"/>
                      <a:pt x="891741" y="85687"/>
                      <a:pt x="891741" y="116615"/>
                    </a:cubicBezTo>
                    <a:lnTo>
                      <a:pt x="891741" y="215971"/>
                    </a:lnTo>
                    <a:cubicBezTo>
                      <a:pt x="891741" y="246899"/>
                      <a:pt x="879455" y="276561"/>
                      <a:pt x="857586" y="298430"/>
                    </a:cubicBezTo>
                    <a:cubicBezTo>
                      <a:pt x="835716" y="320300"/>
                      <a:pt x="806055" y="332586"/>
                      <a:pt x="775127" y="332586"/>
                    </a:cubicBezTo>
                    <a:lnTo>
                      <a:pt x="116615" y="332586"/>
                    </a:lnTo>
                    <a:cubicBezTo>
                      <a:pt x="85687" y="332586"/>
                      <a:pt x="56025" y="320300"/>
                      <a:pt x="34156" y="298430"/>
                    </a:cubicBezTo>
                    <a:cubicBezTo>
                      <a:pt x="12286" y="276561"/>
                      <a:pt x="0" y="246899"/>
                      <a:pt x="0" y="215971"/>
                    </a:cubicBezTo>
                    <a:lnTo>
                      <a:pt x="0" y="116615"/>
                    </a:lnTo>
                    <a:cubicBezTo>
                      <a:pt x="0" y="85687"/>
                      <a:pt x="12286" y="56025"/>
                      <a:pt x="34156" y="34156"/>
                    </a:cubicBezTo>
                    <a:cubicBezTo>
                      <a:pt x="56025" y="12286"/>
                      <a:pt x="85687" y="0"/>
                      <a:pt x="116615" y="0"/>
                    </a:cubicBezTo>
                    <a:close/>
                  </a:path>
                </a:pathLst>
              </a:custGeom>
              <a:solidFill>
                <a:srgbClr val="FFFFFF"/>
              </a:solidFill>
            </p:spPr>
          </p:sp>
          <p:sp>
            <p:nvSpPr>
              <p:cNvPr id="10" name="TextBox 10"/>
              <p:cNvSpPr txBox="1"/>
              <p:nvPr/>
            </p:nvSpPr>
            <p:spPr>
              <a:xfrm>
                <a:off x="0" y="-47625"/>
                <a:ext cx="891741" cy="38021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  <p:sp>
          <p:nvSpPr>
            <p:cNvPr id="11" name="TextBox 11"/>
            <p:cNvSpPr txBox="1"/>
            <p:nvPr/>
          </p:nvSpPr>
          <p:spPr>
            <a:xfrm>
              <a:off x="149549" y="347828"/>
              <a:ext cx="4832883" cy="104521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3000" b="1">
                  <a:solidFill>
                    <a:srgbClr val="0B132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Parameters and Values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3210553" y="4875352"/>
            <a:ext cx="3228260" cy="1082707"/>
            <a:chOff x="0" y="0"/>
            <a:chExt cx="850241" cy="285157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50241" cy="285157"/>
            </a:xfrm>
            <a:custGeom>
              <a:avLst/>
              <a:gdLst/>
              <a:ahLst/>
              <a:cxnLst/>
              <a:rect l="l" t="t" r="r" b="b"/>
              <a:pathLst>
                <a:path w="850241" h="285157">
                  <a:moveTo>
                    <a:pt x="122307" y="0"/>
                  </a:moveTo>
                  <a:lnTo>
                    <a:pt x="727935" y="0"/>
                  </a:lnTo>
                  <a:cubicBezTo>
                    <a:pt x="760372" y="0"/>
                    <a:pt x="791482" y="12886"/>
                    <a:pt x="814419" y="35823"/>
                  </a:cubicBezTo>
                  <a:cubicBezTo>
                    <a:pt x="837356" y="58760"/>
                    <a:pt x="850241" y="89869"/>
                    <a:pt x="850241" y="122307"/>
                  </a:cubicBezTo>
                  <a:lnTo>
                    <a:pt x="850241" y="162851"/>
                  </a:lnTo>
                  <a:cubicBezTo>
                    <a:pt x="850241" y="195288"/>
                    <a:pt x="837356" y="226398"/>
                    <a:pt x="814419" y="249334"/>
                  </a:cubicBezTo>
                  <a:cubicBezTo>
                    <a:pt x="791482" y="272271"/>
                    <a:pt x="760372" y="285157"/>
                    <a:pt x="727935" y="285157"/>
                  </a:cubicBezTo>
                  <a:lnTo>
                    <a:pt x="122307" y="285157"/>
                  </a:lnTo>
                  <a:cubicBezTo>
                    <a:pt x="54759" y="285157"/>
                    <a:pt x="0" y="230399"/>
                    <a:pt x="0" y="162851"/>
                  </a:cubicBezTo>
                  <a:lnTo>
                    <a:pt x="0" y="122307"/>
                  </a:lnTo>
                  <a:cubicBezTo>
                    <a:pt x="0" y="89869"/>
                    <a:pt x="12886" y="58760"/>
                    <a:pt x="35823" y="35823"/>
                  </a:cubicBezTo>
                  <a:cubicBezTo>
                    <a:pt x="58760" y="12886"/>
                    <a:pt x="89869" y="0"/>
                    <a:pt x="12230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47625"/>
              <a:ext cx="850241" cy="3327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15" name="Freeform 15"/>
          <p:cNvSpPr/>
          <p:nvPr/>
        </p:nvSpPr>
        <p:spPr>
          <a:xfrm>
            <a:off x="13457133" y="6655180"/>
            <a:ext cx="2735099" cy="831107"/>
          </a:xfrm>
          <a:custGeom>
            <a:avLst/>
            <a:gdLst/>
            <a:ahLst/>
            <a:cxnLst/>
            <a:rect l="l" t="t" r="r" b="b"/>
            <a:pathLst>
              <a:path w="2735099" h="831107">
                <a:moveTo>
                  <a:pt x="0" y="0"/>
                </a:moveTo>
                <a:lnTo>
                  <a:pt x="2735100" y="0"/>
                </a:lnTo>
                <a:lnTo>
                  <a:pt x="2735100" y="831107"/>
                </a:lnTo>
                <a:lnTo>
                  <a:pt x="0" y="83110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2272381" y="6156208"/>
            <a:ext cx="5192455" cy="300822"/>
          </a:xfrm>
          <a:custGeom>
            <a:avLst/>
            <a:gdLst/>
            <a:ahLst/>
            <a:cxnLst/>
            <a:rect l="l" t="t" r="r" b="b"/>
            <a:pathLst>
              <a:path w="5192455" h="300822">
                <a:moveTo>
                  <a:pt x="0" y="0"/>
                </a:moveTo>
                <a:lnTo>
                  <a:pt x="5192454" y="0"/>
                </a:lnTo>
                <a:lnTo>
                  <a:pt x="5192454" y="300822"/>
                </a:lnTo>
                <a:lnTo>
                  <a:pt x="0" y="30082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7" name="Freeform 17"/>
          <p:cNvSpPr/>
          <p:nvPr/>
        </p:nvSpPr>
        <p:spPr>
          <a:xfrm>
            <a:off x="3000350" y="1612520"/>
            <a:ext cx="5495113" cy="8247825"/>
          </a:xfrm>
          <a:custGeom>
            <a:avLst/>
            <a:gdLst/>
            <a:ahLst/>
            <a:cxnLst/>
            <a:rect l="l" t="t" r="r" b="b"/>
            <a:pathLst>
              <a:path w="5495113" h="8247825">
                <a:moveTo>
                  <a:pt x="0" y="0"/>
                </a:moveTo>
                <a:lnTo>
                  <a:pt x="5495114" y="0"/>
                </a:lnTo>
                <a:lnTo>
                  <a:pt x="5495114" y="8247825"/>
                </a:lnTo>
                <a:lnTo>
                  <a:pt x="0" y="82478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grpSp>
        <p:nvGrpSpPr>
          <p:cNvPr id="18" name="Group 18"/>
          <p:cNvGrpSpPr/>
          <p:nvPr/>
        </p:nvGrpSpPr>
        <p:grpSpPr>
          <a:xfrm>
            <a:off x="2540088" y="5814078"/>
            <a:ext cx="1031184" cy="3020567"/>
            <a:chOff x="0" y="0"/>
            <a:chExt cx="1374912" cy="4027423"/>
          </a:xfrm>
        </p:grpSpPr>
        <p:sp>
          <p:nvSpPr>
            <p:cNvPr id="19" name="AutoShape 19"/>
            <p:cNvSpPr/>
            <p:nvPr/>
          </p:nvSpPr>
          <p:spPr>
            <a:xfrm flipH="1" flipV="1">
              <a:off x="57144" y="823"/>
              <a:ext cx="57144" cy="3969450"/>
            </a:xfrm>
            <a:prstGeom prst="line">
              <a:avLst/>
            </a:prstGeom>
            <a:ln w="1143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0" name="AutoShape 20"/>
            <p:cNvSpPr/>
            <p:nvPr/>
          </p:nvSpPr>
          <p:spPr>
            <a:xfrm flipH="1">
              <a:off x="114288" y="3970273"/>
              <a:ext cx="1260624" cy="0"/>
            </a:xfrm>
            <a:prstGeom prst="line">
              <a:avLst/>
            </a:prstGeom>
            <a:ln w="1143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21" name="AutoShape 21"/>
            <p:cNvSpPr/>
            <p:nvPr/>
          </p:nvSpPr>
          <p:spPr>
            <a:xfrm flipH="1">
              <a:off x="114288" y="99914"/>
              <a:ext cx="1260624" cy="0"/>
            </a:xfrm>
            <a:prstGeom prst="line">
              <a:avLst/>
            </a:prstGeom>
            <a:ln w="1143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</p:sp>
      </p:grpSp>
      <p:grpSp>
        <p:nvGrpSpPr>
          <p:cNvPr id="22" name="Group 22"/>
          <p:cNvGrpSpPr/>
          <p:nvPr/>
        </p:nvGrpSpPr>
        <p:grpSpPr>
          <a:xfrm>
            <a:off x="3055680" y="5723751"/>
            <a:ext cx="637008" cy="318504"/>
            <a:chOff x="0" y="0"/>
            <a:chExt cx="812800" cy="4064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812800" cy="406400"/>
            </a:xfrm>
            <a:custGeom>
              <a:avLst/>
              <a:gdLst/>
              <a:ahLst/>
              <a:cxnLst/>
              <a:rect l="l" t="t" r="r" b="b"/>
              <a:pathLst>
                <a:path w="812800" h="406400">
                  <a:moveTo>
                    <a:pt x="0" y="0"/>
                  </a:moveTo>
                  <a:lnTo>
                    <a:pt x="609600" y="0"/>
                  </a:lnTo>
                  <a:lnTo>
                    <a:pt x="812800" y="203200"/>
                  </a:lnTo>
                  <a:lnTo>
                    <a:pt x="609600" y="406400"/>
                  </a:lnTo>
                  <a:lnTo>
                    <a:pt x="0" y="406400"/>
                  </a:lnTo>
                  <a:lnTo>
                    <a:pt x="203200" y="2032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id="24" name="TextBox 24"/>
            <p:cNvSpPr txBox="1"/>
            <p:nvPr/>
          </p:nvSpPr>
          <p:spPr>
            <a:xfrm>
              <a:off x="177800" y="-47625"/>
              <a:ext cx="558800" cy="454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465949" y="371511"/>
            <a:ext cx="10152574" cy="10057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546"/>
              </a:lnSpc>
            </a:pPr>
            <a:r>
              <a:rPr lang="en-US" sz="7700" b="1">
                <a:solidFill>
                  <a:srgbClr val="0B132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Genetic Algorithm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13472712" y="5246208"/>
            <a:ext cx="2791791" cy="3981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3000" b="1">
                <a:solidFill>
                  <a:srgbClr val="0B132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Cost Function</a:t>
            </a:r>
          </a:p>
        </p:txBody>
      </p:sp>
      <p:sp>
        <p:nvSpPr>
          <p:cNvPr id="27" name="Freeform 27"/>
          <p:cNvSpPr/>
          <p:nvPr/>
        </p:nvSpPr>
        <p:spPr>
          <a:xfrm rot="-4007976" flipH="1" flipV="1">
            <a:off x="16198149" y="7578422"/>
            <a:ext cx="4754343" cy="7494363"/>
          </a:xfrm>
          <a:custGeom>
            <a:avLst/>
            <a:gdLst/>
            <a:ahLst/>
            <a:cxnLst/>
            <a:rect l="l" t="t" r="r" b="b"/>
            <a:pathLst>
              <a:path w="4754343" h="7494363">
                <a:moveTo>
                  <a:pt x="4754343" y="7494362"/>
                </a:moveTo>
                <a:lnTo>
                  <a:pt x="0" y="7494362"/>
                </a:lnTo>
                <a:lnTo>
                  <a:pt x="0" y="0"/>
                </a:lnTo>
                <a:lnTo>
                  <a:pt x="4754343" y="0"/>
                </a:lnTo>
                <a:lnTo>
                  <a:pt x="4754343" y="7494362"/>
                </a:lnTo>
                <a:close/>
              </a:path>
            </a:pathLst>
          </a:custGeom>
          <a:blipFill>
            <a:blip r:embed="rId2">
              <a:alphaModFix amt="6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r="-61881"/>
            </a:stretch>
          </a:blipFill>
        </p:spPr>
      </p:sp>
      <p:grpSp>
        <p:nvGrpSpPr>
          <p:cNvPr id="28" name="Group 28"/>
          <p:cNvGrpSpPr/>
          <p:nvPr/>
        </p:nvGrpSpPr>
        <p:grpSpPr>
          <a:xfrm>
            <a:off x="11910695" y="8773842"/>
            <a:ext cx="6267462" cy="1513158"/>
            <a:chOff x="0" y="0"/>
            <a:chExt cx="8356616" cy="2017545"/>
          </a:xfrm>
        </p:grpSpPr>
        <p:sp>
          <p:nvSpPr>
            <p:cNvPr id="29" name="Freeform 29"/>
            <p:cNvSpPr/>
            <p:nvPr/>
          </p:nvSpPr>
          <p:spPr>
            <a:xfrm>
              <a:off x="6339071" y="0"/>
              <a:ext cx="2017545" cy="2017545"/>
            </a:xfrm>
            <a:custGeom>
              <a:avLst/>
              <a:gdLst/>
              <a:ahLst/>
              <a:cxnLst/>
              <a:rect l="l" t="t" r="r" b="b"/>
              <a:pathLst>
                <a:path w="2017545" h="2017545">
                  <a:moveTo>
                    <a:pt x="0" y="0"/>
                  </a:moveTo>
                  <a:lnTo>
                    <a:pt x="2017545" y="0"/>
                  </a:lnTo>
                  <a:lnTo>
                    <a:pt x="2017545" y="2017545"/>
                  </a:lnTo>
                  <a:lnTo>
                    <a:pt x="0" y="20175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</p:sp>
        <p:sp>
          <p:nvSpPr>
            <p:cNvPr id="30" name="TextBox 30"/>
            <p:cNvSpPr txBox="1"/>
            <p:nvPr/>
          </p:nvSpPr>
          <p:spPr>
            <a:xfrm>
              <a:off x="0" y="281698"/>
              <a:ext cx="6339071" cy="138747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3000">
                  <a:solidFill>
                    <a:srgbClr val="FFFFFF"/>
                  </a:solidFill>
                  <a:latin typeface="Kollektif"/>
                  <a:ea typeface="Kollektif"/>
                  <a:cs typeface="Kollektif"/>
                  <a:sym typeface="Kollektif"/>
                </a:rPr>
                <a:t>Bangladesh University of Engineering and Technology</a:t>
              </a:r>
            </a:p>
          </p:txBody>
        </p:sp>
      </p:grp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4007976" flipH="1" flipV="1">
            <a:off x="16347748" y="7417823"/>
            <a:ext cx="4754343" cy="7494363"/>
          </a:xfrm>
          <a:custGeom>
            <a:avLst/>
            <a:gdLst/>
            <a:ahLst/>
            <a:cxnLst/>
            <a:rect l="l" t="t" r="r" b="b"/>
            <a:pathLst>
              <a:path w="4754343" h="7494363">
                <a:moveTo>
                  <a:pt x="4754344" y="7494363"/>
                </a:moveTo>
                <a:lnTo>
                  <a:pt x="0" y="7494363"/>
                </a:lnTo>
                <a:lnTo>
                  <a:pt x="0" y="0"/>
                </a:lnTo>
                <a:lnTo>
                  <a:pt x="4754344" y="0"/>
                </a:lnTo>
                <a:lnTo>
                  <a:pt x="4754344" y="7494363"/>
                </a:lnTo>
                <a:close/>
              </a:path>
            </a:pathLst>
          </a:custGeom>
          <a:blipFill>
            <a:blip r:embed="rId2">
              <a:alphaModFix amt="6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r="-61881"/>
            </a:stretch>
          </a:blipFill>
        </p:spPr>
      </p:sp>
      <p:grpSp>
        <p:nvGrpSpPr>
          <p:cNvPr id="3" name="Group 3"/>
          <p:cNvGrpSpPr/>
          <p:nvPr/>
        </p:nvGrpSpPr>
        <p:grpSpPr>
          <a:xfrm rot="-4029962">
            <a:off x="6520601" y="2483427"/>
            <a:ext cx="16195854" cy="9681870"/>
            <a:chOff x="0" y="0"/>
            <a:chExt cx="4265575" cy="2549958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265575" cy="2549958"/>
            </a:xfrm>
            <a:custGeom>
              <a:avLst/>
              <a:gdLst/>
              <a:ahLst/>
              <a:cxnLst/>
              <a:rect l="l" t="t" r="r" b="b"/>
              <a:pathLst>
                <a:path w="4265575" h="2549958">
                  <a:moveTo>
                    <a:pt x="0" y="0"/>
                  </a:moveTo>
                  <a:lnTo>
                    <a:pt x="4265575" y="0"/>
                  </a:lnTo>
                  <a:lnTo>
                    <a:pt x="4265575" y="2549958"/>
                  </a:lnTo>
                  <a:lnTo>
                    <a:pt x="0" y="2549958"/>
                  </a:lnTo>
                  <a:close/>
                </a:path>
              </a:pathLst>
            </a:custGeom>
            <a:solidFill>
              <a:srgbClr val="0B1320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4265575" cy="25975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1367963" y="212427"/>
            <a:ext cx="6302472" cy="3803828"/>
            <a:chOff x="0" y="0"/>
            <a:chExt cx="8403296" cy="5071771"/>
          </a:xfrm>
        </p:grpSpPr>
        <p:sp>
          <p:nvSpPr>
            <p:cNvPr id="7" name="Freeform 7"/>
            <p:cNvSpPr/>
            <p:nvPr/>
          </p:nvSpPr>
          <p:spPr>
            <a:xfrm>
              <a:off x="0" y="575131"/>
              <a:ext cx="8403296" cy="4496640"/>
            </a:xfrm>
            <a:custGeom>
              <a:avLst/>
              <a:gdLst/>
              <a:ahLst/>
              <a:cxnLst/>
              <a:rect l="l" t="t" r="r" b="b"/>
              <a:pathLst>
                <a:path w="8403296" h="4496640">
                  <a:moveTo>
                    <a:pt x="0" y="0"/>
                  </a:moveTo>
                  <a:lnTo>
                    <a:pt x="8403296" y="0"/>
                  </a:lnTo>
                  <a:lnTo>
                    <a:pt x="8403296" y="4496640"/>
                  </a:lnTo>
                  <a:lnTo>
                    <a:pt x="0" y="4496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  <p:sp>
          <p:nvSpPr>
            <p:cNvPr id="8" name="Freeform 8"/>
            <p:cNvSpPr/>
            <p:nvPr/>
          </p:nvSpPr>
          <p:spPr>
            <a:xfrm>
              <a:off x="0" y="0"/>
              <a:ext cx="8403296" cy="575131"/>
            </a:xfrm>
            <a:custGeom>
              <a:avLst/>
              <a:gdLst/>
              <a:ahLst/>
              <a:cxnLst/>
              <a:rect l="l" t="t" r="r" b="b"/>
              <a:pathLst>
                <a:path w="8403296" h="575131">
                  <a:moveTo>
                    <a:pt x="0" y="0"/>
                  </a:moveTo>
                  <a:lnTo>
                    <a:pt x="8403296" y="0"/>
                  </a:lnTo>
                  <a:lnTo>
                    <a:pt x="8403296" y="575131"/>
                  </a:lnTo>
                  <a:lnTo>
                    <a:pt x="0" y="57513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sp>
        <p:nvSpPr>
          <p:cNvPr id="9" name="Freeform 9"/>
          <p:cNvSpPr/>
          <p:nvPr/>
        </p:nvSpPr>
        <p:spPr>
          <a:xfrm>
            <a:off x="330889" y="4072648"/>
            <a:ext cx="7141764" cy="5356323"/>
          </a:xfrm>
          <a:custGeom>
            <a:avLst/>
            <a:gdLst/>
            <a:ahLst/>
            <a:cxnLst/>
            <a:rect l="l" t="t" r="r" b="b"/>
            <a:pathLst>
              <a:path w="7141764" h="5356323">
                <a:moveTo>
                  <a:pt x="0" y="0"/>
                </a:moveTo>
                <a:lnTo>
                  <a:pt x="7141764" y="0"/>
                </a:lnTo>
                <a:lnTo>
                  <a:pt x="7141764" y="5356323"/>
                </a:lnTo>
                <a:lnTo>
                  <a:pt x="0" y="535632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7771907" y="4140878"/>
            <a:ext cx="7192112" cy="5160340"/>
          </a:xfrm>
          <a:custGeom>
            <a:avLst/>
            <a:gdLst/>
            <a:ahLst/>
            <a:cxnLst/>
            <a:rect l="l" t="t" r="r" b="b"/>
            <a:pathLst>
              <a:path w="7192112" h="5160340">
                <a:moveTo>
                  <a:pt x="0" y="0"/>
                </a:moveTo>
                <a:lnTo>
                  <a:pt x="7192112" y="0"/>
                </a:lnTo>
                <a:lnTo>
                  <a:pt x="7192112" y="5160341"/>
                </a:lnTo>
                <a:lnTo>
                  <a:pt x="0" y="516034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330889" y="418130"/>
            <a:ext cx="10152574" cy="1089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33"/>
              </a:lnSpc>
            </a:pPr>
            <a:r>
              <a:rPr lang="en-US" sz="8299" b="1">
                <a:solidFill>
                  <a:srgbClr val="0B132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PID Tuning Results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30889" y="1583481"/>
            <a:ext cx="8398474" cy="530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3999" b="1">
                <a:solidFill>
                  <a:srgbClr val="0B132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Using GA (Genetic Algorithm)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557700" y="2711885"/>
            <a:ext cx="7745683" cy="366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42"/>
              </a:lnSpc>
            </a:pPr>
            <a:r>
              <a:rPr lang="en-US" sz="2900" b="1">
                <a:solidFill>
                  <a:srgbClr val="0B132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Step response with Tuned PID controller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2019923" y="9782175"/>
            <a:ext cx="3572811" cy="327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49"/>
              </a:lnSpc>
            </a:pPr>
            <a:r>
              <a:rPr lang="en-US" sz="2499" b="1">
                <a:solidFill>
                  <a:srgbClr val="0B132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Allowing undershoot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567999" y="9477375"/>
            <a:ext cx="4144077" cy="6318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49"/>
              </a:lnSpc>
            </a:pPr>
            <a:r>
              <a:rPr lang="en-US" sz="2499" b="1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Penalized Undershoot with cost function</a:t>
            </a:r>
          </a:p>
        </p:txBody>
      </p:sp>
      <p:sp>
        <p:nvSpPr>
          <p:cNvPr id="16" name="Freeform 16"/>
          <p:cNvSpPr/>
          <p:nvPr/>
        </p:nvSpPr>
        <p:spPr>
          <a:xfrm rot="-4007976" flipH="1" flipV="1">
            <a:off x="16198149" y="7578422"/>
            <a:ext cx="4754343" cy="7494363"/>
          </a:xfrm>
          <a:custGeom>
            <a:avLst/>
            <a:gdLst/>
            <a:ahLst/>
            <a:cxnLst/>
            <a:rect l="l" t="t" r="r" b="b"/>
            <a:pathLst>
              <a:path w="4754343" h="7494363">
                <a:moveTo>
                  <a:pt x="4754343" y="7494362"/>
                </a:moveTo>
                <a:lnTo>
                  <a:pt x="0" y="7494362"/>
                </a:lnTo>
                <a:lnTo>
                  <a:pt x="0" y="0"/>
                </a:lnTo>
                <a:lnTo>
                  <a:pt x="4754343" y="0"/>
                </a:lnTo>
                <a:lnTo>
                  <a:pt x="4754343" y="7494362"/>
                </a:lnTo>
                <a:close/>
              </a:path>
            </a:pathLst>
          </a:custGeom>
          <a:blipFill>
            <a:blip r:embed="rId2">
              <a:alphaModFix amt="6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r="-61881"/>
            </a:stretch>
          </a:blipFill>
        </p:spPr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4029962">
            <a:off x="6660696" y="2101792"/>
            <a:ext cx="16195854" cy="10199318"/>
            <a:chOff x="0" y="0"/>
            <a:chExt cx="4265575" cy="26862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65575" cy="2686240"/>
            </a:xfrm>
            <a:custGeom>
              <a:avLst/>
              <a:gdLst/>
              <a:ahLst/>
              <a:cxnLst/>
              <a:rect l="l" t="t" r="r" b="b"/>
              <a:pathLst>
                <a:path w="4265575" h="2686240">
                  <a:moveTo>
                    <a:pt x="0" y="0"/>
                  </a:moveTo>
                  <a:lnTo>
                    <a:pt x="4265575" y="0"/>
                  </a:lnTo>
                  <a:lnTo>
                    <a:pt x="4265575" y="2686240"/>
                  </a:lnTo>
                  <a:lnTo>
                    <a:pt x="0" y="2686240"/>
                  </a:lnTo>
                  <a:close/>
                </a:path>
              </a:pathLst>
            </a:custGeom>
            <a:solidFill>
              <a:srgbClr val="0B132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265575" cy="27338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 rot="-4007976" flipH="1" flipV="1">
            <a:off x="16198149" y="7578422"/>
            <a:ext cx="4754343" cy="7494363"/>
          </a:xfrm>
          <a:custGeom>
            <a:avLst/>
            <a:gdLst/>
            <a:ahLst/>
            <a:cxnLst/>
            <a:rect l="l" t="t" r="r" b="b"/>
            <a:pathLst>
              <a:path w="4754343" h="7494363">
                <a:moveTo>
                  <a:pt x="4754343" y="7494362"/>
                </a:moveTo>
                <a:lnTo>
                  <a:pt x="0" y="7494362"/>
                </a:lnTo>
                <a:lnTo>
                  <a:pt x="0" y="0"/>
                </a:lnTo>
                <a:lnTo>
                  <a:pt x="4754343" y="0"/>
                </a:lnTo>
                <a:lnTo>
                  <a:pt x="4754343" y="7494362"/>
                </a:lnTo>
                <a:close/>
              </a:path>
            </a:pathLst>
          </a:custGeom>
          <a:blipFill>
            <a:blip r:embed="rId2">
              <a:alphaModFix amt="6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r="-61881"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688294" y="2392273"/>
            <a:ext cx="9301631" cy="6976223"/>
          </a:xfrm>
          <a:custGeom>
            <a:avLst/>
            <a:gdLst/>
            <a:ahLst/>
            <a:cxnLst/>
            <a:rect l="l" t="t" r="r" b="b"/>
            <a:pathLst>
              <a:path w="9301631" h="6976223">
                <a:moveTo>
                  <a:pt x="0" y="0"/>
                </a:moveTo>
                <a:lnTo>
                  <a:pt x="9301631" y="0"/>
                </a:lnTo>
                <a:lnTo>
                  <a:pt x="9301631" y="6976223"/>
                </a:lnTo>
                <a:lnTo>
                  <a:pt x="0" y="697622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grpSp>
        <p:nvGrpSpPr>
          <p:cNvPr id="7" name="Group 7"/>
          <p:cNvGrpSpPr/>
          <p:nvPr/>
        </p:nvGrpSpPr>
        <p:grpSpPr>
          <a:xfrm>
            <a:off x="11910695" y="8773842"/>
            <a:ext cx="6267462" cy="1513158"/>
            <a:chOff x="0" y="0"/>
            <a:chExt cx="8356616" cy="2017545"/>
          </a:xfrm>
        </p:grpSpPr>
        <p:sp>
          <p:nvSpPr>
            <p:cNvPr id="8" name="Freeform 8"/>
            <p:cNvSpPr/>
            <p:nvPr/>
          </p:nvSpPr>
          <p:spPr>
            <a:xfrm>
              <a:off x="6339071" y="0"/>
              <a:ext cx="2017545" cy="2017545"/>
            </a:xfrm>
            <a:custGeom>
              <a:avLst/>
              <a:gdLst/>
              <a:ahLst/>
              <a:cxnLst/>
              <a:rect l="l" t="t" r="r" b="b"/>
              <a:pathLst>
                <a:path w="2017545" h="2017545">
                  <a:moveTo>
                    <a:pt x="0" y="0"/>
                  </a:moveTo>
                  <a:lnTo>
                    <a:pt x="2017545" y="0"/>
                  </a:lnTo>
                  <a:lnTo>
                    <a:pt x="2017545" y="2017545"/>
                  </a:lnTo>
                  <a:lnTo>
                    <a:pt x="0" y="201754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  <p:sp>
          <p:nvSpPr>
            <p:cNvPr id="9" name="TextBox 9"/>
            <p:cNvSpPr txBox="1"/>
            <p:nvPr/>
          </p:nvSpPr>
          <p:spPr>
            <a:xfrm>
              <a:off x="0" y="281698"/>
              <a:ext cx="6339071" cy="138747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4200"/>
                </a:lnSpc>
              </a:pPr>
              <a:r>
                <a:rPr lang="en-US" sz="3000">
                  <a:solidFill>
                    <a:srgbClr val="FFFFFF"/>
                  </a:solidFill>
                  <a:latin typeface="Kollektif"/>
                  <a:ea typeface="Kollektif"/>
                  <a:cs typeface="Kollektif"/>
                  <a:sym typeface="Kollektif"/>
                </a:rPr>
                <a:t>Bangladesh University of Engineering and Technology</a:t>
              </a:r>
            </a:p>
          </p:txBody>
        </p:sp>
      </p:grpSp>
      <p:sp>
        <p:nvSpPr>
          <p:cNvPr id="10" name="Freeform 10"/>
          <p:cNvSpPr/>
          <p:nvPr/>
        </p:nvSpPr>
        <p:spPr>
          <a:xfrm>
            <a:off x="10458319" y="2898639"/>
            <a:ext cx="7472723" cy="4489722"/>
          </a:xfrm>
          <a:custGeom>
            <a:avLst/>
            <a:gdLst/>
            <a:ahLst/>
            <a:cxnLst/>
            <a:rect l="l" t="t" r="r" b="b"/>
            <a:pathLst>
              <a:path w="7472723" h="4489722">
                <a:moveTo>
                  <a:pt x="0" y="0"/>
                </a:moveTo>
                <a:lnTo>
                  <a:pt x="7472724" y="0"/>
                </a:lnTo>
                <a:lnTo>
                  <a:pt x="7472724" y="4489722"/>
                </a:lnTo>
                <a:lnTo>
                  <a:pt x="0" y="448972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73319" y="266320"/>
            <a:ext cx="10987128" cy="108915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33"/>
              </a:lnSpc>
            </a:pPr>
            <a:r>
              <a:rPr lang="en-US" sz="8299" b="1">
                <a:solidFill>
                  <a:srgbClr val="0B132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PID Tuning Results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73319" y="1431670"/>
            <a:ext cx="9816606" cy="530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3999" b="1">
                <a:solidFill>
                  <a:srgbClr val="0B132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Using MATLAB Auto-Tuner Software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4029962">
            <a:off x="10728391" y="3761729"/>
            <a:ext cx="15424018" cy="8073552"/>
            <a:chOff x="0" y="0"/>
            <a:chExt cx="4062293" cy="212636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062293" cy="2126368"/>
            </a:xfrm>
            <a:custGeom>
              <a:avLst/>
              <a:gdLst/>
              <a:ahLst/>
              <a:cxnLst/>
              <a:rect l="l" t="t" r="r" b="b"/>
              <a:pathLst>
                <a:path w="4062293" h="2126368">
                  <a:moveTo>
                    <a:pt x="0" y="0"/>
                  </a:moveTo>
                  <a:lnTo>
                    <a:pt x="4062293" y="0"/>
                  </a:lnTo>
                  <a:lnTo>
                    <a:pt x="4062293" y="2126368"/>
                  </a:lnTo>
                  <a:lnTo>
                    <a:pt x="0" y="2126368"/>
                  </a:lnTo>
                  <a:close/>
                </a:path>
              </a:pathLst>
            </a:custGeom>
            <a:solidFill>
              <a:srgbClr val="0B132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062293" cy="21739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4029962">
            <a:off x="10575991" y="3609329"/>
            <a:ext cx="15424018" cy="8073552"/>
            <a:chOff x="0" y="0"/>
            <a:chExt cx="4062293" cy="212636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062293" cy="2126368"/>
            </a:xfrm>
            <a:custGeom>
              <a:avLst/>
              <a:gdLst/>
              <a:ahLst/>
              <a:cxnLst/>
              <a:rect l="l" t="t" r="r" b="b"/>
              <a:pathLst>
                <a:path w="4062293" h="2126368">
                  <a:moveTo>
                    <a:pt x="0" y="0"/>
                  </a:moveTo>
                  <a:lnTo>
                    <a:pt x="4062293" y="0"/>
                  </a:lnTo>
                  <a:lnTo>
                    <a:pt x="4062293" y="2126368"/>
                  </a:lnTo>
                  <a:lnTo>
                    <a:pt x="0" y="2126368"/>
                  </a:lnTo>
                  <a:close/>
                </a:path>
              </a:pathLst>
            </a:custGeom>
            <a:solidFill>
              <a:srgbClr val="0B13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4062293" cy="21739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 rot="-4007976" flipH="1" flipV="1">
            <a:off x="16198149" y="7578422"/>
            <a:ext cx="4754343" cy="7494363"/>
          </a:xfrm>
          <a:custGeom>
            <a:avLst/>
            <a:gdLst/>
            <a:ahLst/>
            <a:cxnLst/>
            <a:rect l="l" t="t" r="r" b="b"/>
            <a:pathLst>
              <a:path w="4754343" h="7494363">
                <a:moveTo>
                  <a:pt x="4754343" y="7494362"/>
                </a:moveTo>
                <a:lnTo>
                  <a:pt x="0" y="7494362"/>
                </a:lnTo>
                <a:lnTo>
                  <a:pt x="0" y="0"/>
                </a:lnTo>
                <a:lnTo>
                  <a:pt x="4754343" y="0"/>
                </a:lnTo>
                <a:lnTo>
                  <a:pt x="4754343" y="7494362"/>
                </a:lnTo>
                <a:close/>
              </a:path>
            </a:pathLst>
          </a:custGeom>
          <a:blipFill>
            <a:blip r:embed="rId2">
              <a:alphaModFix amt="6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r="-61881"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9392332" y="4097958"/>
            <a:ext cx="8787980" cy="3548147"/>
          </a:xfrm>
          <a:custGeom>
            <a:avLst/>
            <a:gdLst/>
            <a:ahLst/>
            <a:cxnLst/>
            <a:rect l="l" t="t" r="r" b="b"/>
            <a:pathLst>
              <a:path w="8787980" h="3548147">
                <a:moveTo>
                  <a:pt x="0" y="0"/>
                </a:moveTo>
                <a:lnTo>
                  <a:pt x="8787980" y="0"/>
                </a:lnTo>
                <a:lnTo>
                  <a:pt x="8787980" y="3548147"/>
                </a:lnTo>
                <a:lnTo>
                  <a:pt x="0" y="35481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364524" y="2934683"/>
            <a:ext cx="8779476" cy="7048027"/>
          </a:xfrm>
          <a:custGeom>
            <a:avLst/>
            <a:gdLst/>
            <a:ahLst/>
            <a:cxnLst/>
            <a:rect l="l" t="t" r="r" b="b"/>
            <a:pathLst>
              <a:path w="8779476" h="7048027">
                <a:moveTo>
                  <a:pt x="0" y="0"/>
                </a:moveTo>
                <a:lnTo>
                  <a:pt x="8779476" y="0"/>
                </a:lnTo>
                <a:lnTo>
                  <a:pt x="8779476" y="7048027"/>
                </a:lnTo>
                <a:lnTo>
                  <a:pt x="0" y="7048027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5633" t="-3688" r="-5302" b="-2889"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364524" y="152400"/>
            <a:ext cx="7678153" cy="18394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056"/>
              </a:lnSpc>
            </a:pPr>
            <a:r>
              <a:rPr lang="en-US" sz="7200" b="1">
                <a:solidFill>
                  <a:srgbClr val="0B132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Comparison of Controllers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10839" y="2068072"/>
            <a:ext cx="9816606" cy="530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3999" b="1">
                <a:solidFill>
                  <a:srgbClr val="0B132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Without Undershoot Penalization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4029962">
            <a:off x="10575991" y="3609329"/>
            <a:ext cx="15424018" cy="8073552"/>
            <a:chOff x="0" y="0"/>
            <a:chExt cx="4062293" cy="212636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062293" cy="2126368"/>
            </a:xfrm>
            <a:custGeom>
              <a:avLst/>
              <a:gdLst/>
              <a:ahLst/>
              <a:cxnLst/>
              <a:rect l="l" t="t" r="r" b="b"/>
              <a:pathLst>
                <a:path w="4062293" h="2126368">
                  <a:moveTo>
                    <a:pt x="0" y="0"/>
                  </a:moveTo>
                  <a:lnTo>
                    <a:pt x="4062293" y="0"/>
                  </a:lnTo>
                  <a:lnTo>
                    <a:pt x="4062293" y="2126368"/>
                  </a:lnTo>
                  <a:lnTo>
                    <a:pt x="0" y="2126368"/>
                  </a:lnTo>
                  <a:close/>
                </a:path>
              </a:pathLst>
            </a:custGeom>
            <a:solidFill>
              <a:srgbClr val="0B1320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4062293" cy="21739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467589" y="319495"/>
            <a:ext cx="7678153" cy="20427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40"/>
              </a:lnSpc>
            </a:pPr>
            <a:r>
              <a:rPr lang="en-US" sz="8000" b="1">
                <a:solidFill>
                  <a:srgbClr val="0B132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Comparison of Controllers</a:t>
            </a:r>
          </a:p>
        </p:txBody>
      </p:sp>
      <p:grpSp>
        <p:nvGrpSpPr>
          <p:cNvPr id="6" name="Group 6"/>
          <p:cNvGrpSpPr/>
          <p:nvPr/>
        </p:nvGrpSpPr>
        <p:grpSpPr>
          <a:xfrm rot="-4029962">
            <a:off x="10728391" y="3761729"/>
            <a:ext cx="15424018" cy="8073552"/>
            <a:chOff x="0" y="0"/>
            <a:chExt cx="4062293" cy="2126368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062293" cy="2126368"/>
            </a:xfrm>
            <a:custGeom>
              <a:avLst/>
              <a:gdLst/>
              <a:ahLst/>
              <a:cxnLst/>
              <a:rect l="l" t="t" r="r" b="b"/>
              <a:pathLst>
                <a:path w="4062293" h="2126368">
                  <a:moveTo>
                    <a:pt x="0" y="0"/>
                  </a:moveTo>
                  <a:lnTo>
                    <a:pt x="4062293" y="0"/>
                  </a:lnTo>
                  <a:lnTo>
                    <a:pt x="4062293" y="2126368"/>
                  </a:lnTo>
                  <a:lnTo>
                    <a:pt x="0" y="2126368"/>
                  </a:lnTo>
                  <a:close/>
                </a:path>
              </a:pathLst>
            </a:custGeom>
            <a:solidFill>
              <a:srgbClr val="0B1320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4062293" cy="21739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>
            <a:off x="251974" y="3139866"/>
            <a:ext cx="9222956" cy="6853952"/>
          </a:xfrm>
          <a:custGeom>
            <a:avLst/>
            <a:gdLst/>
            <a:ahLst/>
            <a:cxnLst/>
            <a:rect l="l" t="t" r="r" b="b"/>
            <a:pathLst>
              <a:path w="9222956" h="6853952">
                <a:moveTo>
                  <a:pt x="0" y="0"/>
                </a:moveTo>
                <a:lnTo>
                  <a:pt x="9222956" y="0"/>
                </a:lnTo>
                <a:lnTo>
                  <a:pt x="9222956" y="6853952"/>
                </a:lnTo>
                <a:lnTo>
                  <a:pt x="0" y="68539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224" t="-2894" r="-5839" b="-413"/>
            </a:stretch>
          </a:blipFill>
        </p:spPr>
      </p:sp>
      <p:sp>
        <p:nvSpPr>
          <p:cNvPr id="10" name="Freeform 10"/>
          <p:cNvSpPr/>
          <p:nvPr/>
        </p:nvSpPr>
        <p:spPr>
          <a:xfrm rot="-4007976" flipH="1" flipV="1">
            <a:off x="16198149" y="7578422"/>
            <a:ext cx="4754343" cy="7494363"/>
          </a:xfrm>
          <a:custGeom>
            <a:avLst/>
            <a:gdLst/>
            <a:ahLst/>
            <a:cxnLst/>
            <a:rect l="l" t="t" r="r" b="b"/>
            <a:pathLst>
              <a:path w="4754343" h="7494363">
                <a:moveTo>
                  <a:pt x="4754343" y="7494362"/>
                </a:moveTo>
                <a:lnTo>
                  <a:pt x="0" y="7494362"/>
                </a:lnTo>
                <a:lnTo>
                  <a:pt x="0" y="0"/>
                </a:lnTo>
                <a:lnTo>
                  <a:pt x="4754343" y="0"/>
                </a:lnTo>
                <a:lnTo>
                  <a:pt x="4754343" y="7494362"/>
                </a:lnTo>
                <a:close/>
              </a:path>
            </a:pathLst>
          </a:custGeom>
          <a:blipFill>
            <a:blip r:embed="rId3">
              <a:alphaModFix amt="6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r="-61881"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10113275" y="3446727"/>
            <a:ext cx="7681603" cy="5034194"/>
          </a:xfrm>
          <a:custGeom>
            <a:avLst/>
            <a:gdLst/>
            <a:ahLst/>
            <a:cxnLst/>
            <a:rect l="l" t="t" r="r" b="b"/>
            <a:pathLst>
              <a:path w="7681603" h="5034194">
                <a:moveTo>
                  <a:pt x="0" y="0"/>
                </a:moveTo>
                <a:lnTo>
                  <a:pt x="7681604" y="0"/>
                </a:lnTo>
                <a:lnTo>
                  <a:pt x="7681604" y="5034193"/>
                </a:lnTo>
                <a:lnTo>
                  <a:pt x="0" y="503419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2" name="TextBox 12"/>
          <p:cNvSpPr txBox="1"/>
          <p:nvPr/>
        </p:nvSpPr>
        <p:spPr>
          <a:xfrm>
            <a:off x="533355" y="2438491"/>
            <a:ext cx="8610645" cy="53086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3999" b="1">
                <a:solidFill>
                  <a:srgbClr val="0B132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With Undershoot Penalization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3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5134293">
            <a:off x="2675256" y="4507620"/>
            <a:ext cx="4160046" cy="12620541"/>
            <a:chOff x="0" y="0"/>
            <a:chExt cx="1095650" cy="332392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095650" cy="3323929"/>
            </a:xfrm>
            <a:custGeom>
              <a:avLst/>
              <a:gdLst/>
              <a:ahLst/>
              <a:cxnLst/>
              <a:rect l="l" t="t" r="r" b="b"/>
              <a:pathLst>
                <a:path w="1095650" h="3323929">
                  <a:moveTo>
                    <a:pt x="0" y="0"/>
                  </a:moveTo>
                  <a:lnTo>
                    <a:pt x="1095650" y="0"/>
                  </a:lnTo>
                  <a:lnTo>
                    <a:pt x="1095650" y="3323929"/>
                  </a:lnTo>
                  <a:lnTo>
                    <a:pt x="0" y="3323929"/>
                  </a:lnTo>
                  <a:close/>
                </a:path>
              </a:pathLst>
            </a:custGeom>
            <a:solidFill>
              <a:srgbClr val="497183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1095650" cy="337155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1710493">
            <a:off x="10901152" y="5079301"/>
            <a:ext cx="15424018" cy="8073552"/>
            <a:chOff x="0" y="0"/>
            <a:chExt cx="4062293" cy="2126368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4062293" cy="2126368"/>
            </a:xfrm>
            <a:custGeom>
              <a:avLst/>
              <a:gdLst/>
              <a:ahLst/>
              <a:cxnLst/>
              <a:rect l="l" t="t" r="r" b="b"/>
              <a:pathLst>
                <a:path w="4062293" h="2126368">
                  <a:moveTo>
                    <a:pt x="0" y="0"/>
                  </a:moveTo>
                  <a:lnTo>
                    <a:pt x="4062293" y="0"/>
                  </a:lnTo>
                  <a:lnTo>
                    <a:pt x="4062293" y="2126368"/>
                  </a:lnTo>
                  <a:lnTo>
                    <a:pt x="0" y="2126368"/>
                  </a:lnTo>
                  <a:close/>
                </a:path>
              </a:pathLst>
            </a:custGeom>
            <a:solidFill>
              <a:srgbClr val="F3F6FA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4062293" cy="21739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14173200" y="6199437"/>
            <a:ext cx="4114800" cy="4114800"/>
          </a:xfrm>
          <a:custGeom>
            <a:avLst/>
            <a:gdLst/>
            <a:ahLst/>
            <a:cxnLst/>
            <a:rect l="l" t="t" r="r" b="b"/>
            <a:pathLst>
              <a:path w="4114800" h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885159" y="798922"/>
            <a:ext cx="6535341" cy="1089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133"/>
              </a:lnSpc>
            </a:pPr>
            <a:r>
              <a:rPr lang="en-US" sz="8299" b="1">
                <a:solidFill>
                  <a:srgbClr val="F3F6FA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Conclusion</a:t>
            </a:r>
          </a:p>
        </p:txBody>
      </p:sp>
      <p:sp>
        <p:nvSpPr>
          <p:cNvPr id="10" name="Freeform 10"/>
          <p:cNvSpPr/>
          <p:nvPr/>
        </p:nvSpPr>
        <p:spPr>
          <a:xfrm rot="-3004931" flipH="1" flipV="1">
            <a:off x="8039505" y="7452484"/>
            <a:ext cx="4379678" cy="6903771"/>
          </a:xfrm>
          <a:custGeom>
            <a:avLst/>
            <a:gdLst/>
            <a:ahLst/>
            <a:cxnLst/>
            <a:rect l="l" t="t" r="r" b="b"/>
            <a:pathLst>
              <a:path w="4379678" h="6903771">
                <a:moveTo>
                  <a:pt x="4379679" y="6903771"/>
                </a:moveTo>
                <a:lnTo>
                  <a:pt x="0" y="6903771"/>
                </a:lnTo>
                <a:lnTo>
                  <a:pt x="0" y="0"/>
                </a:lnTo>
                <a:lnTo>
                  <a:pt x="4379679" y="0"/>
                </a:lnTo>
                <a:lnTo>
                  <a:pt x="4379679" y="6903771"/>
                </a:lnTo>
                <a:close/>
              </a:path>
            </a:pathLst>
          </a:custGeom>
          <a:blipFill>
            <a:blip r:embed="rId4">
              <a:alphaModFix amt="64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r="-61881"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028700" y="2027299"/>
            <a:ext cx="16735429" cy="37788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69283" lvl="1" indent="-334641" algn="just">
              <a:lnSpc>
                <a:spcPts val="4339"/>
              </a:lnSpc>
              <a:buAutoNum type="arabicPeriod"/>
            </a:pPr>
            <a:r>
              <a:rPr lang="en-US" sz="3099">
                <a:solidFill>
                  <a:srgbClr val="F3F6FA"/>
                </a:solidFill>
                <a:latin typeface="Flatory Sans"/>
                <a:ea typeface="Flatory Sans"/>
                <a:cs typeface="Flatory Sans"/>
                <a:sym typeface="Flatory Sans"/>
              </a:rPr>
              <a:t>PID controllers offered the best overall performance</a:t>
            </a:r>
          </a:p>
          <a:p>
            <a:pPr marL="669283" lvl="1" indent="-334641" algn="just">
              <a:lnSpc>
                <a:spcPts val="4339"/>
              </a:lnSpc>
              <a:buAutoNum type="arabicPeriod"/>
            </a:pPr>
            <a:r>
              <a:rPr lang="en-US" sz="3099">
                <a:solidFill>
                  <a:srgbClr val="F3F6FA"/>
                </a:solidFill>
                <a:latin typeface="Flatory Sans"/>
                <a:ea typeface="Flatory Sans"/>
                <a:cs typeface="Flatory Sans"/>
                <a:sym typeface="Flatory Sans"/>
              </a:rPr>
              <a:t>Ziegler Nichols tuning produced fast responses but resulted in large overshoot and undershoot</a:t>
            </a:r>
          </a:p>
          <a:p>
            <a:pPr marL="669283" lvl="1" indent="-334641" algn="just">
              <a:lnSpc>
                <a:spcPts val="4339"/>
              </a:lnSpc>
              <a:buAutoNum type="arabicPeriod"/>
            </a:pPr>
            <a:r>
              <a:rPr lang="en-US" sz="3099">
                <a:solidFill>
                  <a:srgbClr val="F3F6FA"/>
                </a:solidFill>
                <a:latin typeface="Flatory Sans"/>
                <a:ea typeface="Flatory Sans"/>
                <a:cs typeface="Flatory Sans"/>
                <a:sym typeface="Flatory Sans"/>
              </a:rPr>
              <a:t>MATLAB’s auto tuner provided acceptable PI and PID responses but lacked fine tuning capabilities</a:t>
            </a:r>
          </a:p>
          <a:p>
            <a:pPr marL="669283" lvl="1" indent="-334641" algn="just">
              <a:lnSpc>
                <a:spcPts val="4339"/>
              </a:lnSpc>
              <a:spcBef>
                <a:spcPct val="0"/>
              </a:spcBef>
              <a:buAutoNum type="arabicPeriod"/>
            </a:pPr>
            <a:r>
              <a:rPr lang="en-US" sz="3099">
                <a:solidFill>
                  <a:srgbClr val="F3F6FA"/>
                </a:solidFill>
                <a:latin typeface="Flatory Sans"/>
                <a:ea typeface="Flatory Sans"/>
                <a:cs typeface="Flatory Sans"/>
                <a:sym typeface="Flatory Sans"/>
              </a:rPr>
              <a:t>Metaheuristic tuning with GA and CSA enabled precise control, with undershoot penalization improving stability and accuracy.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298820" y="5925992"/>
            <a:ext cx="13253316" cy="10838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24"/>
              </a:lnSpc>
              <a:spcBef>
                <a:spcPct val="0"/>
              </a:spcBef>
            </a:pPr>
            <a:r>
              <a:rPr lang="en-US" sz="3160">
                <a:solidFill>
                  <a:srgbClr val="F3F6FA"/>
                </a:solidFill>
                <a:latin typeface="Flatory Sans"/>
                <a:ea typeface="Flatory Sans"/>
                <a:cs typeface="Flatory Sans"/>
                <a:sym typeface="Flatory Sans"/>
              </a:rPr>
              <a:t>5.Genetic Algorithm achieved the best penalized result with lowest undershoot and faster settling, outperforming CSA.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9261838">
            <a:off x="17571518" y="-1328775"/>
            <a:ext cx="3580560" cy="10320476"/>
            <a:chOff x="0" y="0"/>
            <a:chExt cx="943028" cy="271815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943028" cy="2718150"/>
            </a:xfrm>
            <a:custGeom>
              <a:avLst/>
              <a:gdLst/>
              <a:ahLst/>
              <a:cxnLst/>
              <a:rect l="l" t="t" r="r" b="b"/>
              <a:pathLst>
                <a:path w="943028" h="2718150">
                  <a:moveTo>
                    <a:pt x="0" y="0"/>
                  </a:moveTo>
                  <a:lnTo>
                    <a:pt x="943028" y="0"/>
                  </a:lnTo>
                  <a:lnTo>
                    <a:pt x="943028" y="2718150"/>
                  </a:lnTo>
                  <a:lnTo>
                    <a:pt x="0" y="2718150"/>
                  </a:lnTo>
                  <a:close/>
                </a:path>
              </a:pathLst>
            </a:custGeom>
            <a:solidFill>
              <a:srgbClr val="497183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47625"/>
              <a:ext cx="943028" cy="276577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 rot="-8914360">
            <a:off x="13508083" y="-3803338"/>
            <a:ext cx="8093176" cy="5501063"/>
            <a:chOff x="0" y="0"/>
            <a:chExt cx="2131536" cy="144884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2131536" cy="1448840"/>
            </a:xfrm>
            <a:custGeom>
              <a:avLst/>
              <a:gdLst/>
              <a:ahLst/>
              <a:cxnLst/>
              <a:rect l="l" t="t" r="r" b="b"/>
              <a:pathLst>
                <a:path w="2131536" h="1448840">
                  <a:moveTo>
                    <a:pt x="0" y="0"/>
                  </a:moveTo>
                  <a:lnTo>
                    <a:pt x="2131536" y="0"/>
                  </a:lnTo>
                  <a:lnTo>
                    <a:pt x="2131536" y="1448840"/>
                  </a:lnTo>
                  <a:lnTo>
                    <a:pt x="0" y="1448840"/>
                  </a:lnTo>
                  <a:close/>
                </a:path>
              </a:pathLst>
            </a:custGeom>
            <a:solidFill>
              <a:srgbClr val="0B1320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47625"/>
              <a:ext cx="2131536" cy="149646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 rot="-2880474" flipH="1" flipV="1">
            <a:off x="16414104" y="-2981986"/>
            <a:ext cx="4379678" cy="6903771"/>
          </a:xfrm>
          <a:custGeom>
            <a:avLst/>
            <a:gdLst/>
            <a:ahLst/>
            <a:cxnLst/>
            <a:rect l="l" t="t" r="r" b="b"/>
            <a:pathLst>
              <a:path w="4379678" h="6903771">
                <a:moveTo>
                  <a:pt x="4379678" y="6903772"/>
                </a:moveTo>
                <a:lnTo>
                  <a:pt x="0" y="6903772"/>
                </a:lnTo>
                <a:lnTo>
                  <a:pt x="0" y="0"/>
                </a:lnTo>
                <a:lnTo>
                  <a:pt x="4379678" y="0"/>
                </a:lnTo>
                <a:lnTo>
                  <a:pt x="4379678" y="6903772"/>
                </a:lnTo>
                <a:close/>
              </a:path>
            </a:pathLst>
          </a:custGeom>
          <a:blipFill>
            <a:blip r:embed="rId2">
              <a:alphaModFix amt="64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r="-61881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270471" y="325755"/>
            <a:ext cx="12106302" cy="786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6000" b="1">
                <a:solidFill>
                  <a:srgbClr val="0B132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Reference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270471" y="1074420"/>
            <a:ext cx="17771932" cy="85491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85"/>
              </a:lnSpc>
            </a:pPr>
            <a:r>
              <a:rPr lang="en-US" sz="2418">
                <a:solidFill>
                  <a:srgbClr val="0B1320"/>
                </a:solidFill>
                <a:latin typeface="Canva Sans"/>
                <a:ea typeface="Canva Sans"/>
                <a:cs typeface="Canva Sans"/>
                <a:sym typeface="Canva Sans"/>
              </a:rPr>
              <a:t>[1] B. Mahler, J. Haase, Balancing an inverted pendulum on a mobile robot, in: 2013 19th International </a:t>
            </a:r>
          </a:p>
          <a:p>
            <a:pPr algn="l">
              <a:lnSpc>
                <a:spcPts val="3385"/>
              </a:lnSpc>
            </a:pPr>
            <a:r>
              <a:rPr lang="en-US" sz="2418">
                <a:solidFill>
                  <a:srgbClr val="0B1320"/>
                </a:solidFill>
                <a:latin typeface="Canva Sans"/>
                <a:ea typeface="Canva Sans"/>
                <a:cs typeface="Canva Sans"/>
                <a:sym typeface="Canva Sans"/>
              </a:rPr>
              <a:t>Conference on Automation and Computing (ICAC), IEEE, 2013, pp. 1–6. doi:10.1109/IConAC.2015.7313975.</a:t>
            </a:r>
          </a:p>
          <a:p>
            <a:pPr algn="l">
              <a:lnSpc>
                <a:spcPts val="3385"/>
              </a:lnSpc>
            </a:pPr>
            <a:r>
              <a:rPr lang="en-US" sz="2418">
                <a:solidFill>
                  <a:srgbClr val="0B1320"/>
                </a:solidFill>
                <a:latin typeface="Canva Sans"/>
                <a:ea typeface="Canva Sans"/>
                <a:cs typeface="Canva Sans"/>
                <a:sym typeface="Canva Sans"/>
              </a:rPr>
              <a:t>[2] P. Frankovsk´y, L. Dominik, A. Gmiterko, I. Virgala, P. Kuryło, O. Perminova, Modeling oftwo-wheeled self-</a:t>
            </a:r>
          </a:p>
          <a:p>
            <a:pPr algn="l">
              <a:lnSpc>
                <a:spcPts val="3385"/>
              </a:lnSpc>
              <a:spcBef>
                <a:spcPct val="0"/>
              </a:spcBef>
            </a:pPr>
            <a:r>
              <a:rPr lang="en-US" sz="2418">
                <a:solidFill>
                  <a:srgbClr val="0B1320"/>
                </a:solidFill>
                <a:latin typeface="Canva Sans"/>
                <a:ea typeface="Canva Sans"/>
                <a:cs typeface="Canva Sans"/>
                <a:sym typeface="Canva Sans"/>
              </a:rPr>
              <a:t>balancing robot driven by dc gearmotors, International Journal of AppliedMechanics and Engineering </a:t>
            </a:r>
          </a:p>
          <a:p>
            <a:pPr algn="l">
              <a:lnSpc>
                <a:spcPts val="3385"/>
              </a:lnSpc>
              <a:spcBef>
                <a:spcPct val="0"/>
              </a:spcBef>
            </a:pPr>
            <a:r>
              <a:rPr lang="en-US" sz="2418">
                <a:solidFill>
                  <a:srgbClr val="0B1320"/>
                </a:solidFill>
                <a:latin typeface="Canva Sans"/>
                <a:ea typeface="Canva Sans"/>
                <a:cs typeface="Canva Sans"/>
                <a:sym typeface="Canva Sans"/>
              </a:rPr>
              <a:t>22 (3) (2017) 739–747. doi:10.1515/ijame-2017-0046.</a:t>
            </a:r>
          </a:p>
          <a:p>
            <a:pPr algn="l">
              <a:lnSpc>
                <a:spcPts val="3385"/>
              </a:lnSpc>
              <a:spcBef>
                <a:spcPct val="0"/>
              </a:spcBef>
            </a:pPr>
            <a:r>
              <a:rPr lang="en-US" sz="2418">
                <a:solidFill>
                  <a:srgbClr val="0B1320"/>
                </a:solidFill>
                <a:latin typeface="Canva Sans"/>
                <a:ea typeface="Canva Sans"/>
                <a:cs typeface="Canva Sans"/>
                <a:sym typeface="Canva Sans"/>
              </a:rPr>
              <a:t>[3] H. N. Le, M.-K. Pham, D.-H. Pham, T.-V.-A. Nguyen, Trajectory tracking and stabilization of two-wheeled balancing mobile</a:t>
            </a:r>
          </a:p>
          <a:p>
            <a:pPr algn="l">
              <a:lnSpc>
                <a:spcPts val="3385"/>
              </a:lnSpc>
              <a:spcBef>
                <a:spcPct val="0"/>
              </a:spcBef>
            </a:pPr>
            <a:r>
              <a:rPr lang="en-US" sz="2418">
                <a:solidFill>
                  <a:srgbClr val="0B1320"/>
                </a:solidFill>
                <a:latin typeface="Canva Sans"/>
                <a:ea typeface="Canva Sans"/>
                <a:cs typeface="Canva Sans"/>
                <a:sym typeface="Canva Sans"/>
              </a:rPr>
              <a:t> robot with hierarchical and sliding mode control, InternationalJournal of Dynamics and Control (2024). </a:t>
            </a:r>
          </a:p>
          <a:p>
            <a:pPr algn="l">
              <a:lnSpc>
                <a:spcPts val="3385"/>
              </a:lnSpc>
              <a:spcBef>
                <a:spcPct val="0"/>
              </a:spcBef>
            </a:pPr>
            <a:r>
              <a:rPr lang="en-US" sz="2418">
                <a:solidFill>
                  <a:srgbClr val="0B1320"/>
                </a:solidFill>
                <a:latin typeface="Canva Sans"/>
                <a:ea typeface="Canva Sans"/>
                <a:cs typeface="Canva Sans"/>
                <a:sym typeface="Canva Sans"/>
              </a:rPr>
              <a:t>doi:10.1007/s40435-024-01518-0.</a:t>
            </a:r>
          </a:p>
          <a:p>
            <a:pPr algn="l">
              <a:lnSpc>
                <a:spcPts val="3385"/>
              </a:lnSpc>
              <a:spcBef>
                <a:spcPct val="0"/>
              </a:spcBef>
            </a:pPr>
            <a:r>
              <a:rPr lang="en-US" sz="2418">
                <a:solidFill>
                  <a:srgbClr val="0B1320"/>
                </a:solidFill>
                <a:latin typeface="Canva Sans"/>
                <a:ea typeface="Canva Sans"/>
                <a:cs typeface="Canva Sans"/>
                <a:sym typeface="Canva Sans"/>
              </a:rPr>
              <a:t>[4] O. Halawa, et al., Mechatronics project: Two-wheeled self-balancing robot, unpublished technical report, Department of Mechatronics Engineering, Helwan University (2023).</a:t>
            </a:r>
          </a:p>
          <a:p>
            <a:pPr algn="l">
              <a:lnSpc>
                <a:spcPts val="3385"/>
              </a:lnSpc>
              <a:spcBef>
                <a:spcPct val="0"/>
              </a:spcBef>
            </a:pPr>
            <a:r>
              <a:rPr lang="en-US" sz="2418">
                <a:solidFill>
                  <a:srgbClr val="0B1320"/>
                </a:solidFill>
                <a:latin typeface="Canva Sans"/>
                <a:ea typeface="Canva Sans"/>
                <a:cs typeface="Canva Sans"/>
                <a:sym typeface="Canva Sans"/>
              </a:rPr>
              <a:t>[5] P. Kumar, O. N. Mehrotra, J. Mahto, Tuning of pid controller of inverted pendulum using genetic algorithm, International Journal of Research in Engineering and Technology (IJRET) 1 (3) (2012) 359–363.</a:t>
            </a:r>
          </a:p>
          <a:p>
            <a:pPr algn="l">
              <a:lnSpc>
                <a:spcPts val="3385"/>
              </a:lnSpc>
              <a:spcBef>
                <a:spcPct val="0"/>
              </a:spcBef>
            </a:pPr>
            <a:r>
              <a:rPr lang="en-US" sz="2418">
                <a:solidFill>
                  <a:srgbClr val="0B1320"/>
                </a:solidFill>
                <a:latin typeface="Canva Sans"/>
                <a:ea typeface="Canva Sans"/>
                <a:cs typeface="Canva Sans"/>
                <a:sym typeface="Canva Sans"/>
              </a:rPr>
              <a:t>[6] Y. Olmez, G. O. Koca, Z. H. Akpolat, Clonal selection algorithm-based control for two-wheeled self-balancing mobile robot, Simulation Modelling Practice and Theory 118 (2022) 102550. doi:10.1016/j.simpat.2022.102550.</a:t>
            </a:r>
          </a:p>
          <a:p>
            <a:pPr algn="l">
              <a:lnSpc>
                <a:spcPts val="3385"/>
              </a:lnSpc>
              <a:spcBef>
                <a:spcPct val="0"/>
              </a:spcBef>
            </a:pPr>
            <a:r>
              <a:rPr lang="en-US" sz="2418">
                <a:solidFill>
                  <a:srgbClr val="0B1320"/>
                </a:solidFill>
                <a:latin typeface="Canva Sans"/>
                <a:ea typeface="Canva Sans"/>
                <a:cs typeface="Canva Sans"/>
                <a:sym typeface="Canva Sans"/>
              </a:rPr>
              <a:t>[7] I. Hassanzadeh, S. Mobayen, Controller design for rotary inverted pendulum system using evolutionary algorithms, Mathematical Problems in Engineering 2011 (2011) Article ID 572424.doi:10.1155/2011/572424.</a:t>
            </a:r>
          </a:p>
          <a:p>
            <a:pPr algn="l">
              <a:lnSpc>
                <a:spcPts val="3385"/>
              </a:lnSpc>
              <a:spcBef>
                <a:spcPct val="0"/>
              </a:spcBef>
            </a:pPr>
            <a:r>
              <a:rPr lang="en-US" sz="2418">
                <a:solidFill>
                  <a:srgbClr val="0B1320"/>
                </a:solidFill>
                <a:latin typeface="Canva Sans"/>
                <a:ea typeface="Canva Sans"/>
                <a:cs typeface="Canva Sans"/>
                <a:sym typeface="Canva Sans"/>
              </a:rPr>
              <a:t>[8] B. Yetayew, D. Tesfaye, A comparative analysis of metaheuristic algorithms tuned super twist-</a:t>
            </a:r>
          </a:p>
          <a:p>
            <a:pPr algn="l">
              <a:lnSpc>
                <a:spcPts val="3385"/>
              </a:lnSpc>
              <a:spcBef>
                <a:spcPct val="0"/>
              </a:spcBef>
            </a:pPr>
            <a:r>
              <a:rPr lang="en-US" sz="2418">
                <a:solidFill>
                  <a:srgbClr val="0B1320"/>
                </a:solidFill>
                <a:latin typeface="Canva Sans"/>
                <a:ea typeface="Canva Sans"/>
                <a:cs typeface="Canva Sans"/>
                <a:sym typeface="Canva Sans"/>
              </a:rPr>
              <a:t>ing sliding mode control of a self-balancing segway, Engineering Science and Technology, an</a:t>
            </a:r>
          </a:p>
          <a:p>
            <a:pPr algn="l">
              <a:lnSpc>
                <a:spcPts val="3385"/>
              </a:lnSpc>
              <a:spcBef>
                <a:spcPct val="0"/>
              </a:spcBef>
            </a:pPr>
            <a:r>
              <a:rPr lang="en-US" sz="2418">
                <a:solidFill>
                  <a:srgbClr val="0B1320"/>
                </a:solidFill>
                <a:latin typeface="Canva Sans"/>
                <a:ea typeface="Canva Sans"/>
                <a:cs typeface="Canva Sans"/>
                <a:sym typeface="Canva Sans"/>
              </a:rPr>
              <a:t>International JournalAccepted/In press (2024).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3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 flipV="1">
            <a:off x="8996924" y="-1810932"/>
            <a:ext cx="11205779" cy="10911627"/>
          </a:xfrm>
          <a:custGeom>
            <a:avLst/>
            <a:gdLst/>
            <a:ahLst/>
            <a:cxnLst/>
            <a:rect l="l" t="t" r="r" b="b"/>
            <a:pathLst>
              <a:path w="11205779" h="10911627">
                <a:moveTo>
                  <a:pt x="0" y="10911627"/>
                </a:moveTo>
                <a:lnTo>
                  <a:pt x="11205779" y="10911627"/>
                </a:lnTo>
                <a:lnTo>
                  <a:pt x="11205779" y="0"/>
                </a:lnTo>
                <a:lnTo>
                  <a:pt x="0" y="0"/>
                </a:lnTo>
                <a:lnTo>
                  <a:pt x="0" y="10911627"/>
                </a:lnTo>
                <a:close/>
              </a:path>
            </a:pathLst>
          </a:custGeom>
          <a:blipFill>
            <a:blip r:embed="rId2">
              <a:alphaModFix amt="69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 rot="-1803481">
            <a:off x="-1558769" y="-2721739"/>
            <a:ext cx="7821074" cy="19539727"/>
            <a:chOff x="0" y="0"/>
            <a:chExt cx="2059871" cy="514626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059872" cy="5146266"/>
            </a:xfrm>
            <a:custGeom>
              <a:avLst/>
              <a:gdLst/>
              <a:ahLst/>
              <a:cxnLst/>
              <a:rect l="l" t="t" r="r" b="b"/>
              <a:pathLst>
                <a:path w="2059872" h="5146266">
                  <a:moveTo>
                    <a:pt x="0" y="0"/>
                  </a:moveTo>
                  <a:lnTo>
                    <a:pt x="2059872" y="0"/>
                  </a:lnTo>
                  <a:lnTo>
                    <a:pt x="2059872" y="5146266"/>
                  </a:lnTo>
                  <a:lnTo>
                    <a:pt x="0" y="5146266"/>
                  </a:lnTo>
                  <a:close/>
                </a:path>
              </a:pathLst>
            </a:custGeom>
            <a:solidFill>
              <a:srgbClr val="0B1320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47625"/>
              <a:ext cx="2059871" cy="5193891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6" name="Group 6"/>
          <p:cNvGrpSpPr/>
          <p:nvPr/>
        </p:nvGrpSpPr>
        <p:grpSpPr>
          <a:xfrm rot="425876">
            <a:off x="7248318" y="8786475"/>
            <a:ext cx="12022786" cy="2391367"/>
            <a:chOff x="0" y="0"/>
            <a:chExt cx="3166495" cy="62982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166495" cy="629825"/>
            </a:xfrm>
            <a:custGeom>
              <a:avLst/>
              <a:gdLst/>
              <a:ahLst/>
              <a:cxnLst/>
              <a:rect l="l" t="t" r="r" b="b"/>
              <a:pathLst>
                <a:path w="3166495" h="629825">
                  <a:moveTo>
                    <a:pt x="0" y="0"/>
                  </a:moveTo>
                  <a:lnTo>
                    <a:pt x="3166495" y="0"/>
                  </a:lnTo>
                  <a:lnTo>
                    <a:pt x="3166495" y="629825"/>
                  </a:lnTo>
                  <a:lnTo>
                    <a:pt x="0" y="629825"/>
                  </a:lnTo>
                  <a:close/>
                </a:path>
              </a:pathLst>
            </a:custGeom>
            <a:solidFill>
              <a:srgbClr val="497183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47625"/>
              <a:ext cx="3166495" cy="67745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9" name="Freeform 9"/>
          <p:cNvSpPr/>
          <p:nvPr/>
        </p:nvSpPr>
        <p:spPr>
          <a:xfrm rot="5289240" flipH="1">
            <a:off x="-2960106" y="-896765"/>
            <a:ext cx="6656198" cy="5258396"/>
          </a:xfrm>
          <a:custGeom>
            <a:avLst/>
            <a:gdLst/>
            <a:ahLst/>
            <a:cxnLst/>
            <a:rect l="l" t="t" r="r" b="b"/>
            <a:pathLst>
              <a:path w="6656198" h="5258396">
                <a:moveTo>
                  <a:pt x="6656198" y="0"/>
                </a:moveTo>
                <a:lnTo>
                  <a:pt x="0" y="0"/>
                </a:lnTo>
                <a:lnTo>
                  <a:pt x="0" y="5258397"/>
                </a:lnTo>
                <a:lnTo>
                  <a:pt x="6656198" y="5258397"/>
                </a:lnTo>
                <a:lnTo>
                  <a:pt x="6656198" y="0"/>
                </a:lnTo>
                <a:close/>
              </a:path>
            </a:pathLst>
          </a:custGeom>
          <a:blipFill>
            <a:blip r:embed="rId4">
              <a:alphaModFix amt="35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8728844" y="4133955"/>
            <a:ext cx="8530456" cy="18096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4706"/>
              </a:lnSpc>
            </a:pPr>
            <a:r>
              <a:rPr lang="en-US" sz="10504" b="1">
                <a:solidFill>
                  <a:srgbClr val="1C3F6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Thank You</a:t>
            </a:r>
          </a:p>
        </p:txBody>
      </p:sp>
      <p:sp>
        <p:nvSpPr>
          <p:cNvPr id="11" name="AutoShape 11"/>
          <p:cNvSpPr/>
          <p:nvPr/>
        </p:nvSpPr>
        <p:spPr>
          <a:xfrm rot="-2168403">
            <a:off x="2758997" y="9336932"/>
            <a:ext cx="5768425" cy="0"/>
          </a:xfrm>
          <a:prstGeom prst="line">
            <a:avLst/>
          </a:prstGeom>
          <a:ln w="38100" cap="flat">
            <a:solidFill>
              <a:srgbClr val="F3F6F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Freeform 12"/>
          <p:cNvSpPr/>
          <p:nvPr/>
        </p:nvSpPr>
        <p:spPr>
          <a:xfrm>
            <a:off x="15951014" y="955921"/>
            <a:ext cx="2049904" cy="2049904"/>
          </a:xfrm>
          <a:custGeom>
            <a:avLst/>
            <a:gdLst/>
            <a:ahLst/>
            <a:cxnLst/>
            <a:rect l="l" t="t" r="r" b="b"/>
            <a:pathLst>
              <a:path w="2049904" h="2049904">
                <a:moveTo>
                  <a:pt x="0" y="0"/>
                </a:moveTo>
                <a:lnTo>
                  <a:pt x="2049904" y="0"/>
                </a:lnTo>
                <a:lnTo>
                  <a:pt x="2049904" y="2049904"/>
                </a:lnTo>
                <a:lnTo>
                  <a:pt x="0" y="204990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9510271" y="1224156"/>
            <a:ext cx="6440743" cy="14277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689"/>
              </a:lnSpc>
            </a:pPr>
            <a:r>
              <a:rPr lang="en-US" sz="4064">
                <a:solidFill>
                  <a:srgbClr val="000000"/>
                </a:solidFill>
                <a:latin typeface="Kollektif"/>
                <a:ea typeface="Kollektif"/>
                <a:cs typeface="Kollektif"/>
                <a:sym typeface="Kollektif"/>
              </a:rPr>
              <a:t>Bangladesh University of Engineering and Technology</a:t>
            </a:r>
          </a:p>
        </p:txBody>
      </p:sp>
      <p:grpSp>
        <p:nvGrpSpPr>
          <p:cNvPr id="14" name="Group 14"/>
          <p:cNvGrpSpPr/>
          <p:nvPr/>
        </p:nvGrpSpPr>
        <p:grpSpPr>
          <a:xfrm>
            <a:off x="550231" y="5881810"/>
            <a:ext cx="6949850" cy="3076202"/>
            <a:chOff x="0" y="0"/>
            <a:chExt cx="9266466" cy="4101603"/>
          </a:xfrm>
        </p:grpSpPr>
        <p:sp>
          <p:nvSpPr>
            <p:cNvPr id="15" name="TextBox 15"/>
            <p:cNvSpPr txBox="1"/>
            <p:nvPr/>
          </p:nvSpPr>
          <p:spPr>
            <a:xfrm>
              <a:off x="0" y="-152400"/>
              <a:ext cx="7402282" cy="152243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9514"/>
                </a:lnSpc>
              </a:pPr>
              <a:r>
                <a:rPr lang="en-US" sz="6796">
                  <a:solidFill>
                    <a:srgbClr val="F3F6FA"/>
                  </a:solidFill>
                  <a:latin typeface="Kollektif"/>
                  <a:ea typeface="Kollektif"/>
                  <a:cs typeface="Kollektif"/>
                  <a:sym typeface="Kollektif"/>
                </a:rPr>
                <a:t>ME 461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1294593"/>
              <a:ext cx="9266466" cy="280700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5630"/>
                </a:lnSpc>
              </a:pPr>
              <a:r>
                <a:rPr lang="en-US" sz="4022">
                  <a:solidFill>
                    <a:srgbClr val="F3F6FA"/>
                  </a:solidFill>
                  <a:latin typeface="Kollektif"/>
                  <a:ea typeface="Kollektif"/>
                  <a:cs typeface="Kollektif"/>
                  <a:sym typeface="Kollektif"/>
                </a:rPr>
                <a:t>Control Engineering</a:t>
              </a:r>
            </a:p>
            <a:p>
              <a:pPr algn="l">
                <a:lnSpc>
                  <a:spcPts val="5630"/>
                </a:lnSpc>
              </a:pPr>
              <a:endParaRPr lang="en-US" sz="4022">
                <a:solidFill>
                  <a:srgbClr val="F3F6FA"/>
                </a:solidFill>
                <a:latin typeface="Kollektif"/>
                <a:ea typeface="Kollektif"/>
                <a:cs typeface="Kollektif"/>
                <a:sym typeface="Kollektif"/>
              </a:endParaRPr>
            </a:p>
            <a:p>
              <a:pPr algn="l">
                <a:lnSpc>
                  <a:spcPts val="5630"/>
                </a:lnSpc>
              </a:pPr>
              <a:r>
                <a:rPr lang="en-US" sz="4022">
                  <a:solidFill>
                    <a:srgbClr val="F3F6FA"/>
                  </a:solidFill>
                  <a:latin typeface="Kollektif"/>
                  <a:ea typeface="Kollektif"/>
                  <a:cs typeface="Kollektif"/>
                  <a:sym typeface="Kollektif"/>
                </a:rPr>
                <a:t>27 July 2025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1816</Words>
  <Application>Microsoft Office PowerPoint</Application>
  <PresentationFormat>Custom</PresentationFormat>
  <Paragraphs>307</Paragraphs>
  <Slides>43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5" baseType="lpstr">
      <vt:lpstr>League Spartan</vt:lpstr>
      <vt:lpstr>Flatory Sans</vt:lpstr>
      <vt:lpstr>Kollektif</vt:lpstr>
      <vt:lpstr>Calibri</vt:lpstr>
      <vt:lpstr>Canva Sans</vt:lpstr>
      <vt:lpstr>Cooper BT Light</vt:lpstr>
      <vt:lpstr>Bernoru</vt:lpstr>
      <vt:lpstr>Canva Sans Bold</vt:lpstr>
      <vt:lpstr>Cooper BT Bold</vt:lpstr>
      <vt:lpstr>Arial</vt:lpstr>
      <vt:lpstr>Kollektif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 461 Assignment</dc:title>
  <cp:lastModifiedBy>2010155 - Md. Arman Hassan</cp:lastModifiedBy>
  <cp:revision>4</cp:revision>
  <dcterms:created xsi:type="dcterms:W3CDTF">2006-08-16T00:00:00Z</dcterms:created>
  <dcterms:modified xsi:type="dcterms:W3CDTF">2025-07-27T01:36:34Z</dcterms:modified>
  <dc:identifier>DAGtsdgvRDM</dc:identifier>
</cp:coreProperties>
</file>